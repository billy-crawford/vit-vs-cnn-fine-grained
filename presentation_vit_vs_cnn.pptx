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Bonjour Monsieur le professeur. Nous vous présentons aujourd'hui notre projet annuel comparant les Vision Transformers (ViT) et les réseaux convolutifs (CNN, ResNet-50) sur une tâche de classification fine-grained d'oiseaux sur le dataset CUB-200-2011. Nous avons mené une étude d'ablation rigoureuse et développé une application web complète dockerisée pour mettre en démonstration nos modèles.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classification fine-grained sur CUB-200 est très différente d'un ImageNet classique. Les classes sont très proches (par exemple 10 espèces de moineaux distinctes). Le CNN a un biais inductif de localité. Le ViT voit l'image comme des patchs et n'a pas cet a priori. Notre objectif est de quantifier expérimentalement ce comportement data-hungry.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rôle A a structuré l'ensemble du dataset. Nous avons créé un split train/val/test rigoureux et stratifié pour que les 200 classes soient présentes même dans le sous-ensemble à 10%. Nous avons mis en place deux pipelines d'augmentation (faible et forte) et vérifié la distribution des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rôle B a codé les 3 modèles. Le ViT scratch a été implémenté de zéro (patch embedding, multi-head attention, positional embedding). Nous avons harmonisé l'optimiseur (AdamW lr 1e-4) et suivi l'ensemble des 12 expériences avec MLflow pour une traçabilité irréprochable.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Voici le tableau récapitulatif testé sur les 5 794 images de test. ResNet-50 pré-entraîné atteint 71.87% en Top-1 et 93.58% en Top-5. Le ViT pré-entraîné patch 32 monte à 53.85% (83.50% top-5). Le ViT scratch reste bloqué à ~1-2% en 3 époques.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slide est le cœur théorique de notre soutenance. La courbe illustre parfaitement la différence fondamentale : le CNN apprend de manière monotone et solide même à 10% de données. Le ViT from scratch, dépourvu d'a priori inductif, est incapable de converger sur 5 000 images sans pré-entraînement.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pré-entraînement fait passer le ViT de 1% à 53.85%. Concernant la taille de patch : le patch 32 performe mieux en 3 époques car il a 49 tokens au lieu de 196, rendant l'attention beaucoup plus rapide à adapter lors d'un fine-tuning court.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rôle C a conçu l'application de démonstration. Nous avons développé une extraction réelle des cartes d'attention du ViT : on intercepte les poids d'auto-attention du token CLS vers les patchs de l'image pour afficher exactement sur quelle zone anatomique l'attention s'est focalisée.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Nous avons testé la robustesse du système sur des données hors-distribution. En injectant un oiseau absent de CUB-200, les modèles divergent et la confiance s'effondre, ce qui constitue un excellent garde-fou pour un déploiement réel.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Pour garantir la portabilité et la reproductibilité totale, nous avons dockerisé l'ensemble du projet. Le backend tourne sur un PyTorch CPU optimisé, le frontend est compilé en multi-stage standalone, et Docker Compose gère la synchronisation avec des healthchecks.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conclusion critique, la principale limite est le budget de 3 époques. Nous avons déjà implémenté dans le code du projet les outils pour aller plus loin : scheduler, AMP, early stopping. Une perspective prometteuse serait d'utiliser la distillation (DeiT) pour compenser le manque de données du ViT.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Merci Monsieur le professeur. Nous sommes maintenant disponibles pour répondre à toutes vos questions et vous faire une démonstration en direct sur l'application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EA5E9"/>
                </a:solidFill>
                <a:latin typeface="Arial"/>
              </a:defRPr>
            </a:pPr>
            <a:r>
              <a:t>MASTER 1 INTELLIGENCE ARTIFICIELLE — PROJET ANNUEL</a:t>
            </a:r>
          </a:p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Vision Transformer vs CNN</a:t>
            </a:r>
          </a:p>
          <a:p>
            <a:pPr>
              <a:spcBef>
                <a:spcPts val="800"/>
              </a:spcBef>
              <a:spcAft>
                <a:spcPts val="2400"/>
              </a:spcAft>
              <a:defRPr sz="2000">
                <a:solidFill>
                  <a:srgbClr val="CBD5E1"/>
                </a:solidFill>
                <a:latin typeface="Arial"/>
              </a:defRPr>
            </a:pPr>
            <a:r>
              <a:t>Étude comparative sur la classification fine-grained d'images (CUB-200-2011)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297680"/>
            <a:ext cx="10362895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434840"/>
            <a:ext cx="9784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A5E9"/>
                </a:solidFill>
              </a:defRPr>
            </a:pPr>
            <a:r>
              <a:t>RÉPARTITION DU TRAVAIL &amp; MEMBRES DE L'ÉQUIPE :</a:t>
            </a:r>
          </a:p>
          <a:p>
            <a:pPr>
              <a:defRPr sz="1300">
                <a:solidFill>
                  <a:srgbClr val="FFFFFF"/>
                </a:solidFill>
                <a:latin typeface="Arial"/>
              </a:defRPr>
            </a:pPr>
            <a:r>
              <a:t>• Rôle A — Data / Experiment Engineer : SONHOUIN Abdoul-raouf</a:t>
            </a:r>
            <a:br/>
            <a:r>
              <a:t>• Rôle B — Model / Research Engineer : Ingénieur Modélisation</a:t>
            </a:r>
            <a:br/>
            <a:r>
              <a:t>• Rôle C — Reporting / Backend Developer : Développeur Déploiement &amp; Fullstack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PROJET M1 IA — CLASSIFICATION FINE-GRAINED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1. Contexte &amp; Problématique Scientifique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ViT vs CNN — CUB-200-2011 | Master 1 IA | Soutenance finale                                                             Slide 2/12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2841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</a:defRPr>
            </a:pPr>
            <a:r>
              <a:t>🔍 Défi Fine-Grained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Différences inter-classes minimes :</a:t>
            </a:r>
            <a:br/>
            <a:r>
              <a:t>  Subtiles variations de plumage, couleur de bec, motifs de queue.</a:t>
            </a:r>
            <a:br/>
            <a:br/>
            <a:r>
              <a:t>• Forte variabilité intra-classe :</a:t>
            </a:r>
            <a:br/>
            <a:r>
              <a:t>  Poses, éclairages, saisons, angles de vue.</a:t>
            </a:r>
            <a:br/>
            <a:br/>
            <a:r>
              <a:t>• Objectif :</a:t>
            </a:r>
            <a:br/>
            <a:r>
              <a:t>  Extraire et amplifier des indices visuels locaux très subtils.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54480"/>
            <a:ext cx="332841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</a:defRPr>
            </a:pPr>
            <a:r>
              <a:t>🧠 Deux Paradigmes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CNN (ResNet-50) :</a:t>
            </a:r>
            <a:br/>
            <a:r>
              <a:t>  Biais inductif fort : localité spatiale et invariance par translation.</a:t>
            </a:r>
            <a:br/>
            <a:r>
              <a:t>  Très efficace sur datasets restreints.</a:t>
            </a:r>
            <a:br/>
            <a:br/>
            <a:r>
              <a:t>• ViT (Vision Transformer) :</a:t>
            </a:r>
            <a:br/>
            <a:r>
              <a:t>  Séquence de patchs + Self-Attention globale sans a priori de localité.</a:t>
            </a:r>
            <a:br/>
            <a:r>
              <a:t>  Flexibilité maximale mais absence de biais inductif.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54480"/>
            <a:ext cx="332841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</a:defRPr>
            </a:pPr>
            <a:r>
              <a:t>🎯 Questions Clés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1. Le ViT peut-il rivaliser avec le CNN sur petit dataset sans pré-entraînement ?</a:t>
            </a:r>
            <a:br/>
            <a:br/>
            <a:r>
              <a:t>2. Quel est l'impact de la taille des patchs (16 vs 32) sur les détails fins ?</a:t>
            </a:r>
            <a:br/>
            <a:br/>
            <a:r>
              <a:t>3. Quelle est la courbe de sensibilité à la quantité de données (10% à 100%)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RÔLE A — DATA / EXPERIMENT ENGINEER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2. Pipeline de Données &amp; EDA (Rôle A)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ViT vs CNN — CUB-200-2011 | Master 1 IA | Soutenance finale                                                             Slide 3/12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Dataset CUB-200-2011 &amp; Préparation</a:t>
            </a:r>
          </a:p>
          <a:p>
            <a:pPr>
              <a:defRPr sz="1250">
                <a:solidFill>
                  <a:srgbClr val="0F172A"/>
                </a:solidFill>
              </a:defRPr>
            </a:pPr>
            <a:r>
              <a:t>• 11 788 images réparties sur 200 espèces d'oiseaux.</a:t>
            </a:r>
            <a:br/>
            <a:r>
              <a:t>• Split stratifié &amp; reproductible (seed=42) :</a:t>
            </a:r>
            <a:br/>
            <a:r>
              <a:t>   - Train : 5 094 images (100%)</a:t>
            </a:r>
            <a:br/>
            <a:r>
              <a:t>   - Validation : 900 images</a:t>
            </a:r>
            <a:br/>
            <a:r>
              <a:t>   - Test : 5 794 images (split officiel)</a:t>
            </a:r>
            <a:br/>
            <a:r>
              <a:t>• Sous-splits data-hungry créés : 10%, 25%, 50%, 100% du train.</a:t>
            </a:r>
            <a:br/>
            <a:r>
              <a:t>• Prétraitement : Redimensionnement 224×224 + Normalisation ImageNet.</a:t>
            </a:r>
            <a:br/>
            <a:r>
              <a:t>• Augmentations PyTorch :</a:t>
            </a:r>
            <a:br/>
            <a:r>
              <a:t>   - Faible : RandomHorizontalFlip, RandomResizedCrop</a:t>
            </a:r>
            <a:br/>
            <a:r>
              <a:t>   - Forte : ColorJitter, RandomRotation, RandomErasing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3035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da_similar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9164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RÔLE B — MODEL / RESEARCH ENGINEER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3. Modélisation &amp; Protocole Expérimental (Rôle B)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ViT vs CNN — CUB-200-2011 | Master 1 IA | Soutenance finale                                                             Slide 4/12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Architectures Comparées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1. ResNet-50 (Pré-entraîné ImageNet)</a:t>
            </a:r>
            <a:br/>
            <a:r>
              <a:t>   • Backbone convolutif torchvision (23.9M params)</a:t>
            </a:r>
            <a:br/>
            <a:r>
              <a:t>   • Tête FC adaptée à 200 classes</a:t>
            </a:r>
            <a:br/>
            <a:br/>
            <a:r>
              <a:t>2. ViT Pré-entraîné (timm vit_small_patch16/32_224)</a:t>
            </a:r>
            <a:br/>
            <a:r>
              <a:t>   • Backbone pré-entraîné ImageNet-1k (21.7M - 22.6M params)</a:t>
            </a:r>
            <a:br/>
            <a:r>
              <a:t>   • Fine-tuning avec tête linéaire 200 sorties</a:t>
            </a:r>
            <a:br/>
            <a:br/>
            <a:r>
              <a:t>3. ViT from Scratch (Implémentation Custom)</a:t>
            </a:r>
            <a:br/>
            <a:r>
              <a:t>   • Patch embedding (patch 16 / 32) + [CLS] token</a:t>
            </a:r>
            <a:br/>
            <a:r>
              <a:t>   • Positional embeddings appris</a:t>
            </a:r>
            <a:br/>
            <a:r>
              <a:t>   • 6 Blocs Transformer (384 dim, 6 heads, MLP ratio 4)</a:t>
            </a:r>
            <a:br/>
            <a:r>
              <a:t>   • 11.1M paramètres — aucun poids pré-entraîné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3035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916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Protocole d'Entraînement &amp; Tracking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Optimiseur : AdamW (lr = 1e-4, weight decay = 0.01)</a:t>
            </a:r>
            <a:br/>
            <a:r>
              <a:t>• Fonction de perte : Cross-Entropy Loss</a:t>
            </a:r>
            <a:br/>
            <a:r>
              <a:t>• Batch size : 32 | Résolution : 224×224</a:t>
            </a:r>
            <a:br/>
            <a:r>
              <a:t>• Durée : 3 époques (contrainte de temps de calcul)</a:t>
            </a:r>
            <a:br/>
            <a:r>
              <a:t>• Checkpointing automatique : meilleur modèle sauvé sur Val Acc</a:t>
            </a:r>
            <a:br/>
            <a:r>
              <a:t>• Seed fixe : 42 sur l'ensemble des runs</a:t>
            </a:r>
            <a:br/>
            <a:br/>
            <a:r>
              <a:t>🔬 Suivi &amp; Traçabilité MLflow :</a:t>
            </a:r>
            <a:br/>
            <a:r>
              <a:t>• 12 configurations enregistrées dans mlflow.db</a:t>
            </a:r>
            <a:br/>
            <a:r>
              <a:t>• Sauvegarde des hyperparamètres, loss, top-1, top-5</a:t>
            </a:r>
            <a:br/>
            <a:r>
              <a:t>• Modèles complets packagés et visualisables sur MLflow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RÉSULTATS EXPÉRIMENTAUX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4. Résultats Globaux des 12 Configurations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ViT vs CNN — CUB-200-2011 | Master 1 IA | Soutenance finale                                                             Slide 5/12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645920"/>
                <a:gridCol w="1645920"/>
                <a:gridCol w="1645920"/>
                <a:gridCol w="1858975"/>
              </a:tblGrid>
              <a:tr h="56007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Configuration / Modèle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Top-1 Acc.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Top-5 Acc.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Test Loss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Paramètres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Arial"/>
                        </a:defRPr>
                      </a:pPr>
                      <a:r>
                        <a:t>ResNet-50 (Pré-entraîné — 100% data)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71.87 %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93.58 %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1.05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23.9 M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>
                          <a:latin typeface="Arial"/>
                        </a:defRPr>
                      </a:pPr>
                      <a:r>
                        <a:t>ResNet-50 (Pré-entraîné — 50% data)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48.74 %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81.12 %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2.09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23.9 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>
                          <a:latin typeface="Arial"/>
                        </a:defRPr>
                      </a:pPr>
                      <a:r>
                        <a:t>ResNet-50 (Pré-entraîné — 25% data)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23.47 %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48.88 %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3.65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23.9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>
                          <a:latin typeface="Arial"/>
                        </a:defRPr>
                      </a:pPr>
                      <a:r>
                        <a:t>ResNet-50 (Pré-entraîné — 10% data)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5.11 %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13.95 %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5.13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23.9 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Arial"/>
                        </a:defRPr>
                      </a:pPr>
                      <a:r>
                        <a:t>ViT Pré-entraîné (Patch 32 — 100% data)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53.85 %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83.50 %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1.81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22.6 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>
                          <a:latin typeface="Arial"/>
                        </a:defRPr>
                      </a:pPr>
                      <a:r>
                        <a:t>ViT Pré-entraîné (Patch 16 — 100% data)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9.94 %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25.37 %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4.65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21.7 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>
                          <a:latin typeface="Arial"/>
                        </a:defRPr>
                      </a:pPr>
                      <a:r>
                        <a:t>ViT from Scratch (100% data — Patch 16/32)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1.07 % - 2.00 %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4.75 % - 8.46 %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~5.15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11.1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ÉTUDE D'ABLATION &amp; ANALYSES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5. Étude d'Ablation : Comportement « Data-Hungry 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ViT vs CNN — CUB-200-2011 | Master 1 IA | Soutenance finale                                                             Slide 6/12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Impact de la quantité de données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📈 Progression de ResNet-50 :</a:t>
            </a:r>
            <a:br/>
            <a:r>
              <a:t>• 10% des données (509 imgs) : 5.11 % Top-1</a:t>
            </a:r>
            <a:br/>
            <a:r>
              <a:t>• 25% des données (1 273 imgs) : 23.47 % Top-1</a:t>
            </a:r>
            <a:br/>
            <a:r>
              <a:t>• 50% des données (2 547 imgs) : 48.74 % Top-1</a:t>
            </a:r>
            <a:br/>
            <a:r>
              <a:t>• 100% des données (5 094 imgs) : 71.87 % Top-1</a:t>
            </a:r>
            <a:br/>
            <a:r>
              <a:t>→ Croissance strictement monotone grâce au biais inductif de convolution.</a:t>
            </a:r>
            <a:br/>
            <a:br/>
            <a:r>
              <a:t>📉 Stagnation du ViT from Scratch :</a:t>
            </a:r>
            <a:br/>
            <a:r>
              <a:t>• Reste bloqué à ~1% - 2% de 10% à 100% de données.</a:t>
            </a:r>
            <a:br/>
            <a:r>
              <a:t>→ Confirme la théorie de Dosovitskiy et al. : sans pré-entraînement massif, le Transformer n'a pas assez de données pour structurer son attention spatiale sur 5 094 images.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3035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ta_hungr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9164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ÉTUDE D'ABLATION &amp; ANALYSES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6. Étude d'Ablation : Pré-entraînement &amp; Taille de Patch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ViT vs CNN — CUB-200-2011 | Master 1 IA | Soutenance finale                                                             Slide 7/12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Observations Clés sur le ViT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1. Le pré-entraînement est un prérequis absolu pour le ViT :</a:t>
            </a:r>
            <a:br/>
            <a:r>
              <a:t>• ViT Scratch : 1.07 % Top-1</a:t>
            </a:r>
            <a:br/>
            <a:r>
              <a:t>• ViT Pré-entraîné Patch 32 : 53.85 % Top-1 (+52.78 points)</a:t>
            </a:r>
            <a:br/>
            <a:br/>
            <a:r>
              <a:t>2. Comparaison Taille de Patch (16 vs 32) :</a:t>
            </a:r>
            <a:br/>
            <a:r>
              <a:t>• Théorie : Patch 16 (196 patchs) = granularité plus fine idéale pour le fine-grained.</a:t>
            </a:r>
            <a:br/>
            <a:r>
              <a:t>• Résultats empiriques :</a:t>
            </a:r>
            <a:br/>
            <a:r>
              <a:t>   - Patch 32 : 53.85 % Top-1 | 83.50 % Top-5</a:t>
            </a:r>
            <a:br/>
            <a:r>
              <a:t>   - Patch 16 : 9.94 % Top-1 | 25.37 % Top-5</a:t>
            </a:r>
            <a:br/>
            <a:r>
              <a:t>• Analyse : Patch 16 engendre une séquence 4× plus longue (196 vs 49 tokens), nécessitant un learning rate adapté et plus d'époques pour converger.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3035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nal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9164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RÔLE C — BACKEND &amp; APPLICATION FULLSTACK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7. Application de Démonstration &amp; Interprétabilité (Rôle C)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ViT vs CNN — CUB-200-2011 | Master 1 IA | Soutenance finale                                                             Slide 8/12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Architecture Fullstack &amp; Attention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Backend FastAPI (Python 3.11) :</a:t>
            </a:r>
            <a:br/>
            <a:r>
              <a:t>   - /predict : Inférence simultanée ViT &amp; ResNet-50 (Top-3 + probabilités)</a:t>
            </a:r>
            <a:br/>
            <a:r>
              <a:t>   - /attention : Heatmap d'attention réelle du ViT</a:t>
            </a:r>
            <a:br/>
            <a:r>
              <a:t>   - /classes : Mapping des 200 espèces CUB</a:t>
            </a:r>
            <a:br/>
            <a:br/>
            <a:r>
              <a:t>• Frontend Next.js 14 (React) :</a:t>
            </a:r>
            <a:br/>
            <a:r>
              <a:t>   - Interface interactive avec drag &amp; drop d'image</a:t>
            </a:r>
            <a:br/>
            <a:r>
              <a:t>   - Visualisation comparative côte-à-côte</a:t>
            </a:r>
            <a:br/>
            <a:r>
              <a:t>   - Indicateur d'accord / désaccord entre modèles</a:t>
            </a:r>
            <a:br/>
            <a:br/>
            <a:r>
              <a:t>• Extraction de l'attention réelle :</a:t>
            </a:r>
            <a:br/>
            <a:r>
              <a:t>   - Hook PyTorch interceptant attn_drop sur le dernier bloc ViT</a:t>
            </a:r>
            <a:br/>
            <a:r>
              <a:t>   - Ligne du token [CLS] moyennée sur les têtes et projetée en grille 2D.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3035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no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9164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DÉPLOIEMENT &amp; VALIDATION QUALITATIVE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8. Robustesse &amp; Détection Hors-Distribution (OOD)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ViT vs CNN — CUB-200-2011 | Master 1 IA | Soutenance finale                                                             Slide 9/12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Comportement face à l'inconnu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✅ Cas Nominal (Image de Test CUB) :</a:t>
            </a:r>
            <a:br/>
            <a:r>
              <a:t>• Espèce : Gray-crowned Rosy Finch</a:t>
            </a:r>
            <a:br/>
            <a:r>
              <a:t>• Résultat : Accord total entre ViT et ResNet-50.</a:t>
            </a:r>
            <a:br/>
            <a:r>
              <a:t>• Confiance élevée (ResNet: 83.4%, ViT: 26.5%).</a:t>
            </a:r>
            <a:br/>
            <a:br/>
            <a:r>
              <a:t>⚠️ Cas Hors-Distribution (OOD) :</a:t>
            </a:r>
            <a:br/>
            <a:r>
              <a:t>• Test avec une espèce absente du dataset (Rouge-gorge européen).</a:t>
            </a:r>
            <a:br/>
            <a:r>
              <a:t>• Résultat : Confiance très faible et désaccord entre les deux modèles.</a:t>
            </a:r>
            <a:br/>
            <a:r>
              <a:t>• Bénéfice : Signal clair d'incertitude plutôt qu'une erreur silencieuse à haute confiance.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3035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9164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INGÉNIERIE LOGICIELLE &amp; DÉPLOIEMENT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9. Déploiement &amp; Dockerisation Reproductible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ViT vs CNN — CUB-200-2011 | Master 1 IA | Soutenance finale                                                             Slide 10/12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2841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</a:defRPr>
            </a:pPr>
            <a:r>
              <a:t>🐳 Backend Docker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Python 3.11-slim optimisé CPU</a:t>
            </a:r>
            <a:br/>
            <a:r>
              <a:t>• PyTorch CPU sans surcoût CUDA (images légères)</a:t>
            </a:r>
            <a:br/>
            <a:r>
              <a:t>• Utilisateur non-root sécurisé</a:t>
            </a:r>
            <a:br/>
            <a:r>
              <a:t>• Healthcheck HTTP sur /health</a:t>
            </a:r>
            <a:br/>
            <a:r>
              <a:t>• Inférence rapide sur CPU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54480"/>
            <a:ext cx="332841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</a:defRPr>
            </a:pPr>
            <a:r>
              <a:t>⚡ Frontend Multi-Stage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Build multi-stage Node 20 Alpine</a:t>
            </a:r>
            <a:br/>
            <a:r>
              <a:t>• Mode output: 'standalone'</a:t>
            </a:r>
            <a:br/>
            <a:r>
              <a:t>• Dépendances de build isolées</a:t>
            </a:r>
            <a:br/>
            <a:r>
              <a:t>• Serveur Node ultra-léger</a:t>
            </a:r>
            <a:br/>
            <a:r>
              <a:t>• Injection dynamique d'API URL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54480"/>
            <a:ext cx="332841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</a:defRPr>
            </a:pPr>
            <a:r>
              <a:t>🚀 Orchestration Compose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Lancement 1-clic : docker compose up -d</a:t>
            </a:r>
            <a:br/>
            <a:r>
              <a:t>• Synchronisation : frontend attend healthcheck backend</a:t>
            </a:r>
            <a:br/>
            <a:r>
              <a:t>• Profil MLflow UI optionnel</a:t>
            </a:r>
            <a:br/>
            <a:r>
              <a:t>• Garantie zéro conflit d'OS (Windows, macOS, Linux)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ANALYSE CRITIQUE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10. Discussion, Limites &amp; 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ViT vs CNN — CUB-200-2011 | Master 1 IA | Soutenance finale                                                             Slide 11/12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9E0B"/>
                </a:solidFill>
              </a:defRPr>
            </a:pPr>
            <a:r>
              <a:t>⚠️ Limites Identifiées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Nombre d'époques restreint (3 époques) :</a:t>
            </a:r>
            <a:br/>
            <a:r>
              <a:t>   Contrainte de calcul qui pénalise fortement le ViT scratch (sous-entraînement).</a:t>
            </a:r>
            <a:br/>
            <a:br/>
            <a:r>
              <a:t>• Taille du modèle ViT scratch :</a:t>
            </a:r>
            <a:br/>
            <a:r>
              <a:t>   6 blocs et 384 dim (11.1M params), plus petit qu'un ViT-Base standard.</a:t>
            </a:r>
            <a:br/>
            <a:br/>
            <a:r>
              <a:t>• Écart Patch 16 vs Patch 32 :</a:t>
            </a:r>
            <a:br/>
            <a:r>
              <a:t>   Convergence plus lente du patch 16 sur 3 époques méritant un tuning d'hyperparamètres dédié.</a:t>
            </a:r>
            <a:br/>
            <a:br/>
            <a:r>
              <a:t>• Absence d'évaluation de variance :</a:t>
            </a:r>
            <a:br/>
            <a:r>
              <a:t>   Un seul seed d'entraînement (seed=42) par configuration.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3035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916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💡 Perspectives &amp; Outils Développés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Pipeline d'entraînement avancé déjà codé :</a:t>
            </a:r>
            <a:br/>
            <a:r>
              <a:t>   - Scheduler Cosine Annealing avec Warmup</a:t>
            </a:r>
            <a:br/>
            <a:r>
              <a:t>   - Précision mixte automatique (AMP fp16)</a:t>
            </a:r>
            <a:br/>
            <a:r>
              <a:t>   - Mécanisme d'Early Stopping</a:t>
            </a:r>
            <a:br/>
            <a:br/>
            <a:r>
              <a:t>• Évolutions futures :</a:t>
            </a:r>
            <a:br/>
            <a:r>
              <a:t>   - Entraînement long sur GPU (50 à 100 époques)</a:t>
            </a:r>
            <a:br/>
            <a:r>
              <a:t>   - Distillation de connaissances (DeiT)</a:t>
            </a:r>
            <a:br/>
            <a:r>
              <a:t>   - Intégration de parties de l'oiseau (Part-based attention) pour guider le Transformer sur les zones critiques (bec, ailes).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400" b="1">
                <a:solidFill>
                  <a:srgbClr val="0EA5E9"/>
                </a:solidFill>
              </a:defRPr>
            </a:pPr>
            <a:r>
              <a:t>SYNTHÈSE DU PROJET</a:t>
            </a:r>
          </a:p>
          <a:p>
            <a:pPr algn="ctr">
              <a:spcAft>
                <a:spcPts val="2000"/>
              </a:spcAft>
              <a:defRPr sz="3800" b="1">
                <a:solidFill>
                  <a:srgbClr val="FFFFFF"/>
                </a:solidFill>
              </a:defRPr>
            </a:pPr>
            <a:r>
              <a:t>Merci pour votre attention !</a:t>
            </a:r>
          </a:p>
          <a:p>
            <a:pPr algn="ctr">
              <a:spcAft>
                <a:spcPts val="2400"/>
              </a:spcAft>
              <a:defRPr sz="1500">
                <a:solidFill>
                  <a:srgbClr val="E2E8F0"/>
                </a:solidFill>
              </a:defRPr>
            </a:pPr>
            <a:r>
              <a:t>Points Clés à Retenir :</a:t>
            </a:r>
            <a:br/>
            <a:r>
              <a:t>1. ResNet-50 domine sur petit jeu de données (71.9% Top-1) grâce à son biais inductif.</a:t>
            </a:r>
            <a:br/>
            <a:r>
              <a:t>2. Le ViT nécessite impérativement un pré-entraînement pour la classification fine-grained (53.9% vs 1.1%).</a:t>
            </a:r>
            <a:br/>
            <a:r>
              <a:t>3. Solution complète livrée : pipeline data, modèles PyTorch, MLflow, API FastAPI, Frontend Next.js et Docker.</a:t>
            </a:r>
          </a:p>
          <a:p>
            <a:pPr algn="ctr">
              <a:defRPr sz="1800" b="1">
                <a:solidFill>
                  <a:srgbClr val="0EA5E9"/>
                </a:solidFill>
              </a:defRPr>
            </a:pPr>
            <a:r>
              <a:t>Place aux questions &amp; démonstration en direct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