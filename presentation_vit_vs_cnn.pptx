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1151" autoAdjust="0"/>
  </p:normalViewPr>
  <p:slideViewPr>
    <p:cSldViewPr snapToGrid="0" snapToObjects="1">
      <p:cViewPr varScale="1">
        <p:scale>
          <a:sx n="49" d="100"/>
          <a:sy n="49" d="100"/>
        </p:scale>
        <p:origin x="131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7742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Bonjour Monsieur le Professeur, bonjour aux membres du jury. Nous vous présentons notre projet annuel de Master 1 IA : 'Vision Transformer vs CNN : une étude comparative sur la classification fine-grained d'oiseaux'. Notre équipe est composée d'Abdoul-raouf (Rôle A, Data), Billy (Rôle B, Modèles &amp; MLflow) et Koffi (Rôle C, Backend, Frontend &amp; Docker). Nous avons entraîné et évalué 12 configurations expérimentales complètes sur CUB-200-2011 et livré une application web dockerisée.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Pour vous présenter notre travail, nous avons structuré notre soutenance en 6 grandes étapes : le contexte et la théorie, l'architecture globale du système, le pipeline data, la modélisation et les résultats expérimentaux, les études d'ablation approfondies, et enfin l'application web, la dockerisation et nos perspectives critiques.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La classification fine-grained consiste à distinguer 200 espèces d'oiseaux très proches. La variabilité inter-classe est minime (nuances subtiles de plumage ou de bec) et la variabilité intra-classe est forte (poses, éclairages). Le benchmark CUB-200-2011 compte 11 788 images, ce qui représente un volume modeste pour le Deep Learning.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Le benchmark CUB-200 est notre terrain d'expérimentation standardisé avec 200 classes et 5 794 images de test. Nos objectifs de recherche sont triples : comparer objectivement CNN et ViT, valider empiriquement la sensibilité au volume de données (Data-Hungry), et fournir une application web explicable en temps réel.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Deux paradigmes s'opposent : le CNN (ResNet-50) possède un biais inductif de localité spatiale qui le rend très efficace sur petit dataset. Le Vision Transformer (ViT) découpe l'image en patchs et utilise la Self-Attention globale sans a priori spatial. L'hypothèse théorique est que le ViT est data-hungry. Je passe la parole à Billy pour l'architecture et les modèles.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Merci Abdoul-raouf. Voici la vue d'ensemble de notre chaîne end-to-end : du pipeline de données stratifié à l'entraînement PyTorch, au tracking centralisé dans MLflow, jusqu'au déploiement dans l'API FastAPI et l'interface Next.js conteneurisées sous Docker.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Le codebase est strictement modulaire : /src/data pour le dataset et les transforms d'Abdoul-raouf, /src/models et /src/train pour les réseaux et la boucle d'entraînement, /app pour l'API et le frontend de Koffi, et /results pour les 12 checkpoints .pth et métriques évaluées.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Pour le rôle A, j'ai extrait un split de validation stratifié de 15% (900 images) avec un seed fixe (42). J'ai ensuite créé quatre sous-échantillons d'entraînement : 10% (509 imgs), 25% (1273 imgs), 50% (2547 imgs) et 100% (5094 imgs). La stratification garantit que les 200 espèces restent toutes représentées même à 10%.</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[ABDOUL-RAOUF — RÔLE A]</a:t>
            </a:r>
          </a:p>
          <a:p>
            <a:r>
              <a:t>L'analyse exploratoire a montré des résolutions très variables, d'où un resize à 224x224 normalisé ImageNet. La figure montre la ressemblance extrême entre moineaux. J'ai mis en place deux pipelines d'augmentation : un faible (défaut) et un fort avec ColorJitter, rotations et RandomErasing. Billy va vous présenter les modèles.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Nous avons conçu 3 architectures adaptées aux 200 classes : ResNet-50 pré-entraîné (23.9M params), ViT pré-entraîné timm small patch 16 et 32 (21.7M - 22.6M params), et un ViT custom codé from scratch (11.1M params) avec 6 blocs Transformer, dimension 384 et 6 têtes d'attention, sans aucun pré-entraînement.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Le protocole est harmonisé : optimiseur AdamW (lr 1e-4, weight decay 0.01), Cross-Entropy, batch de 32 sur 3 époques. Le meilleur modèle est sauvé sur la validation accuracy. Toutes les 12 configurations ont été loggées dans MLflow pour tracer les courbes, métriques et artefacts.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Sur les 5 794 images de test : ResNet-50 pré-entraîné 100% réalise 71.87% en Top-1 et 93.58% en Top-5. Le ViT pré-entraîné patch 32 atteint 53.85% (83.50% top-5). Le ViT from scratch reste bloqué entre 1.07% et 2.00% (proche du hasard à 0.5%).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Voici la matrice complète de nos 12 expérimentations. Vous pouvez constater la cohérence mathématique : la précision de ResNet-50 s'élève de manière strictement monotone avec la volumétrie de données.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C'est le résultat central : ResNet-50 progresse de façon strictement monotone (5.11% à 10%, 23.47% à 25%, 48.74% à 50% et 71.87% à 100%). Le ViT scratch reste plat à ~1%. Sans biais inductif, le ViT ne peut pas apprendre de représentations sur 5 000 images.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[BILLY — RÔLE B]</a:t>
            </a:r>
          </a:p>
          <a:p>
            <a:r>
              <a:t>Deux conclusions : le pré-entraînement ImageNet fait bondir le ViT de +52.78 points. Sur 3 époques, le patch 32 (53.85%) surpasse le patch 16 (9.94%) car sa séquence de 49 tokens s'adapte beaucoup plus vite que les 196 tokens du patch 16. Je passe la parole à Koffi pour l'application et le déploiement.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Merci Billy. Pour le rôle C, j'ai développé l'application fullstack : un frontend réactif Next.js 14 en React 18 avec upload drag &amp; drop et comparaison côte-à-côte, un backend FastAPI asynchrone (/predict, /attention, /classes), et un moteur PyTorch avec modèles pré-chargés en mémoire vive au démarrage.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Pour l'interprétabilité, nous avons développé un hook PyTorch sur attn_drop du dernier bloc Transformer. On extrait les poids d'attention du token CLS vers les patchs, moyennés sur les têtes, reshapés en grille 2D et superposés en heatmap. L'attention se focalise précisément sur la tête, le bec et les ailes de l'oiseau.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En test hors-distribution avec un Rouge-gorge européen (absent de CUB), les confiances s'effondrent sous les 10% et les deux modèles sont en désaccord. C'est un comportement très sain : le système émet un signal explicite d'incertitude plutôt qu'une fausse certitude.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Le projet est 100% dockerisé : backend python:3.11-slim optimisé PyTorch CPU sans surcoût CUDA, frontend multi-stage standalone Node 20 Alpine, et Docker Compose avec healthchecks synchronisés. Tout démarre en une seule commande : docker compose up -d.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En recul critique : le budget de 3 époques pénalise le ViT scratch (sous-entraînement), le patch 16 a besoin d'un learning rate adapté et d'un temps plus long, et notre ViT custom (11.1M) est plus petit que ViT-Base. Néanmoins, les tendances corroborent parfaitement la littérature scientifique.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a:t>
            </a:r>
          </a:p>
          <a:p>
            <a:r>
              <a:t>Nous avons déjà codé dans le repo : le Scheduler Cosine avec Warmup, la Précision Mixte AMP fp16, et l'Early Stopping. Les perspectives futures sont un entraînement long sur GPU (50-100 époques), la distillation de connaissances DeiT, et l'attention guidée par parties anatomiques.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[KOFFI — RÔLE C &amp; TOUTE L'ÉQUIPE]</a:t>
            </a:r>
          </a:p>
          <a:p>
            <a:r>
              <a:t>En conclusion : ResNet-50 domine sur petit dataset (71.87% Top-1), le ViT exige un pré-entraînement (+52.78 pts), et nous livrons un projet complet, reproductible et dockerisé. Monsieur le Professeur, nous vous remercions pour votre écoute et nous sommes prêts pour vos questions et la démonstration en direct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589520" y="0"/>
            <a:ext cx="460217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43800" y="0"/>
            <a:ext cx="18288" cy="68580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188720"/>
            <a:ext cx="6400800" cy="2560320"/>
          </a:xfrm>
          <a:prstGeom prst="rect">
            <a:avLst/>
          </a:prstGeom>
          <a:noFill/>
        </p:spPr>
        <p:txBody>
          <a:bodyPr wrap="square">
            <a:spAutoFit/>
          </a:bodyPr>
          <a:lstStyle/>
          <a:p>
            <a:pPr>
              <a:lnSpc>
                <a:spcPct val="150000"/>
              </a:lnSpc>
              <a:defRPr sz="3600" b="1">
                <a:solidFill>
                  <a:srgbClr val="0F172A"/>
                </a:solidFill>
              </a:defRPr>
            </a:pPr>
            <a:r>
              <a:rPr dirty="0"/>
              <a:t>Vision Transformer</a:t>
            </a:r>
          </a:p>
          <a:p>
            <a:pPr>
              <a:lnSpc>
                <a:spcPct val="150000"/>
              </a:lnSpc>
              <a:defRPr sz="3600" b="1">
                <a:solidFill>
                  <a:srgbClr val="2563EB"/>
                </a:solidFill>
              </a:defRPr>
            </a:pPr>
            <a:r>
              <a:rPr dirty="0"/>
              <a:t>vs  CNN (ResNet-50)</a:t>
            </a:r>
          </a:p>
          <a:p>
            <a:pPr>
              <a:lnSpc>
                <a:spcPct val="150000"/>
              </a:lnSpc>
              <a:spcBef>
                <a:spcPts val="800"/>
              </a:spcBef>
              <a:defRPr sz="1600">
                <a:solidFill>
                  <a:srgbClr val="0F172A"/>
                </a:solidFill>
              </a:defRPr>
            </a:pPr>
            <a:r>
              <a:rPr dirty="0"/>
              <a:t>Étude comparative sur la classification fine-grained </a:t>
            </a:r>
            <a:r>
              <a:rPr dirty="0" err="1"/>
              <a:t>d'oiseaux</a:t>
            </a:r>
            <a:endParaRPr dirty="0"/>
          </a:p>
          <a:p>
            <a:pPr>
              <a:lnSpc>
                <a:spcPct val="150000"/>
              </a:lnSpc>
              <a:spcBef>
                <a:spcPts val="400"/>
              </a:spcBef>
              <a:defRPr sz="1200">
                <a:solidFill>
                  <a:srgbClr val="64748B"/>
                </a:solidFill>
              </a:defRPr>
            </a:pPr>
            <a:r>
              <a:rPr dirty="0"/>
              <a:t>Dataset CUB-200-2011  ·  200 </a:t>
            </a:r>
            <a:r>
              <a:rPr dirty="0" err="1"/>
              <a:t>espèces</a:t>
            </a:r>
            <a:r>
              <a:rPr dirty="0"/>
              <a:t>  ·  11 788 images</a:t>
            </a:r>
          </a:p>
        </p:txBody>
      </p:sp>
      <p:sp>
        <p:nvSpPr>
          <p:cNvPr id="7" name="Rounded Rectangle 6"/>
          <p:cNvSpPr/>
          <p:nvPr/>
        </p:nvSpPr>
        <p:spPr>
          <a:xfrm>
            <a:off x="822960" y="4114800"/>
            <a:ext cx="640080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4251960"/>
            <a:ext cx="6035040" cy="1457579"/>
          </a:xfrm>
          <a:prstGeom prst="rect">
            <a:avLst/>
          </a:prstGeom>
          <a:noFill/>
        </p:spPr>
        <p:txBody>
          <a:bodyPr wrap="square">
            <a:spAutoFit/>
          </a:bodyPr>
          <a:lstStyle/>
          <a:p>
            <a:pPr>
              <a:lnSpc>
                <a:spcPct val="150000"/>
              </a:lnSpc>
              <a:spcAft>
                <a:spcPts val="600"/>
              </a:spcAft>
              <a:defRPr sz="1100" b="1">
                <a:solidFill>
                  <a:srgbClr val="2563EB"/>
                </a:solidFill>
              </a:defRPr>
            </a:pPr>
            <a:r>
              <a:rPr dirty="0"/>
              <a:t>POINTS FORTS DU PROJET</a:t>
            </a:r>
          </a:p>
          <a:p>
            <a:pPr>
              <a:lnSpc>
                <a:spcPct val="150000"/>
              </a:lnSpc>
              <a:defRPr sz="1150">
                <a:solidFill>
                  <a:srgbClr val="0F172A"/>
                </a:solidFill>
              </a:defRPr>
            </a:pPr>
            <a:r>
              <a:rPr dirty="0"/>
              <a:t>• 12 configurations </a:t>
            </a:r>
            <a:r>
              <a:rPr dirty="0" err="1"/>
              <a:t>expérimentales</a:t>
            </a:r>
            <a:r>
              <a:rPr dirty="0"/>
              <a:t> </a:t>
            </a:r>
            <a:r>
              <a:rPr dirty="0" err="1"/>
              <a:t>complètes</a:t>
            </a:r>
            <a:r>
              <a:rPr dirty="0"/>
              <a:t> </a:t>
            </a:r>
            <a:r>
              <a:rPr dirty="0" err="1"/>
              <a:t>entraînées</a:t>
            </a:r>
            <a:r>
              <a:rPr dirty="0"/>
              <a:t> et </a:t>
            </a:r>
            <a:r>
              <a:rPr dirty="0" err="1"/>
              <a:t>évaluées</a:t>
            </a:r>
            <a:r>
              <a:rPr dirty="0"/>
              <a:t>.</a:t>
            </a:r>
            <a:br>
              <a:rPr dirty="0"/>
            </a:br>
            <a:r>
              <a:rPr dirty="0"/>
              <a:t>• Étude </a:t>
            </a:r>
            <a:r>
              <a:rPr dirty="0" err="1"/>
              <a:t>d'ablation</a:t>
            </a:r>
            <a:r>
              <a:rPr dirty="0"/>
              <a:t> </a:t>
            </a:r>
            <a:r>
              <a:rPr dirty="0" err="1"/>
              <a:t>rigoureuse</a:t>
            </a:r>
            <a:r>
              <a:rPr dirty="0"/>
              <a:t> (taille de patch, </a:t>
            </a:r>
            <a:r>
              <a:rPr dirty="0" err="1"/>
              <a:t>pré-entraînement</a:t>
            </a:r>
            <a:r>
              <a:rPr dirty="0"/>
              <a:t>, volume de données).</a:t>
            </a:r>
            <a:br>
              <a:rPr dirty="0"/>
            </a:br>
            <a:r>
              <a:rPr dirty="0"/>
              <a:t>• Application web interactive avec extraction </a:t>
            </a:r>
            <a:r>
              <a:rPr dirty="0" err="1"/>
              <a:t>réelle</a:t>
            </a:r>
            <a:r>
              <a:rPr dirty="0"/>
              <a:t> de carte </a:t>
            </a:r>
            <a:r>
              <a:rPr dirty="0" err="1"/>
              <a:t>d'attention</a:t>
            </a:r>
            <a:r>
              <a:rPr dirty="0"/>
              <a:t> </a:t>
            </a:r>
            <a:r>
              <a:rPr dirty="0" err="1"/>
              <a:t>ViT</a:t>
            </a:r>
            <a:r>
              <a:rPr dirty="0"/>
              <a:t>.</a:t>
            </a:r>
            <a:br>
              <a:rPr dirty="0"/>
            </a:br>
            <a:r>
              <a:rPr dirty="0"/>
              <a:t>• </a:t>
            </a:r>
            <a:r>
              <a:rPr dirty="0" err="1"/>
              <a:t>Déploiement</a:t>
            </a:r>
            <a:r>
              <a:rPr dirty="0"/>
              <a:t> multi-</a:t>
            </a:r>
            <a:r>
              <a:rPr dirty="0" err="1"/>
              <a:t>plateforme</a:t>
            </a:r>
            <a:r>
              <a:rPr dirty="0"/>
              <a:t> 100% </a:t>
            </a:r>
            <a:r>
              <a:rPr dirty="0" err="1"/>
              <a:t>dockerisé</a:t>
            </a:r>
            <a:r>
              <a:rPr dirty="0"/>
              <a:t> (</a:t>
            </a:r>
            <a:r>
              <a:rPr dirty="0" err="1"/>
              <a:t>FastAPI</a:t>
            </a:r>
            <a:r>
              <a:rPr dirty="0"/>
              <a:t> + Next.js).</a:t>
            </a:r>
          </a:p>
        </p:txBody>
      </p:sp>
      <p:sp>
        <p:nvSpPr>
          <p:cNvPr id="9" name="TextBox 8"/>
          <p:cNvSpPr txBox="1"/>
          <p:nvPr/>
        </p:nvSpPr>
        <p:spPr>
          <a:xfrm>
            <a:off x="7863840" y="731520"/>
            <a:ext cx="4023360" cy="365760"/>
          </a:xfrm>
          <a:prstGeom prst="rect">
            <a:avLst/>
          </a:prstGeom>
          <a:noFill/>
        </p:spPr>
        <p:txBody>
          <a:bodyPr wrap="none">
            <a:spAutoFit/>
          </a:bodyPr>
          <a:lstStyle/>
          <a:p>
            <a:pPr>
              <a:defRPr sz="1300" b="1">
                <a:solidFill>
                  <a:srgbClr val="0F172A"/>
                </a:solidFill>
              </a:defRPr>
            </a:pPr>
            <a:r>
              <a:t>MEMBRES DE L'ÉQUIPE</a:t>
            </a:r>
          </a:p>
        </p:txBody>
      </p:sp>
      <p:sp>
        <p:nvSpPr>
          <p:cNvPr id="10" name="Rounded Rectangle 9"/>
          <p:cNvSpPr/>
          <p:nvPr/>
        </p:nvSpPr>
        <p:spPr>
          <a:xfrm>
            <a:off x="7863840" y="128016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92440" y="1389888"/>
            <a:ext cx="3657600" cy="1075166"/>
          </a:xfrm>
          <a:prstGeom prst="rect">
            <a:avLst/>
          </a:prstGeom>
          <a:noFill/>
        </p:spPr>
        <p:txBody>
          <a:bodyPr wrap="square">
            <a:spAutoFit/>
          </a:bodyPr>
          <a:lstStyle/>
          <a:p>
            <a:pPr>
              <a:lnSpc>
                <a:spcPct val="150000"/>
              </a:lnSpc>
              <a:defRPr sz="950" b="1">
                <a:solidFill>
                  <a:srgbClr val="2563EB"/>
                </a:solidFill>
              </a:defRPr>
            </a:pPr>
            <a:r>
              <a:rPr dirty="0"/>
              <a:t>RÔLE A — DATA / EXPERIMENT</a:t>
            </a:r>
          </a:p>
          <a:p>
            <a:pPr>
              <a:lnSpc>
                <a:spcPct val="150000"/>
              </a:lnSpc>
              <a:spcAft>
                <a:spcPts val="200"/>
              </a:spcAft>
              <a:defRPr sz="1300" b="1">
                <a:solidFill>
                  <a:srgbClr val="0F172A"/>
                </a:solidFill>
              </a:defRPr>
            </a:pPr>
            <a:r>
              <a:rPr dirty="0"/>
              <a:t>SONHOUIN Abdoul-raouf</a:t>
            </a:r>
          </a:p>
          <a:p>
            <a:pPr>
              <a:lnSpc>
                <a:spcPct val="150000"/>
              </a:lnSpc>
              <a:defRPr sz="1000">
                <a:solidFill>
                  <a:srgbClr val="64748B"/>
                </a:solidFill>
              </a:defRPr>
            </a:pPr>
            <a:r>
              <a:rPr dirty="0"/>
              <a:t>Pipeline data, EDA, splits </a:t>
            </a:r>
            <a:r>
              <a:rPr dirty="0" err="1"/>
              <a:t>stratifiés</a:t>
            </a:r>
            <a:r>
              <a:rPr dirty="0"/>
              <a:t>, augmentations </a:t>
            </a:r>
            <a:r>
              <a:rPr dirty="0" err="1"/>
              <a:t>PyTorch</a:t>
            </a:r>
            <a:r>
              <a:rPr dirty="0"/>
              <a:t>, </a:t>
            </a:r>
            <a:r>
              <a:rPr dirty="0" err="1"/>
              <a:t>préparation</a:t>
            </a:r>
            <a:r>
              <a:rPr dirty="0"/>
              <a:t> CUB.</a:t>
            </a:r>
          </a:p>
        </p:txBody>
      </p:sp>
      <p:sp>
        <p:nvSpPr>
          <p:cNvPr id="13" name="Rounded Rectangle 12"/>
          <p:cNvSpPr/>
          <p:nvPr/>
        </p:nvSpPr>
        <p:spPr>
          <a:xfrm>
            <a:off x="7863840" y="292608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92440" y="3035808"/>
            <a:ext cx="3657600" cy="1075166"/>
          </a:xfrm>
          <a:prstGeom prst="rect">
            <a:avLst/>
          </a:prstGeom>
          <a:noFill/>
        </p:spPr>
        <p:txBody>
          <a:bodyPr wrap="square">
            <a:spAutoFit/>
          </a:bodyPr>
          <a:lstStyle/>
          <a:p>
            <a:pPr>
              <a:lnSpc>
                <a:spcPct val="150000"/>
              </a:lnSpc>
              <a:defRPr sz="950" b="1">
                <a:solidFill>
                  <a:srgbClr val="2563EB"/>
                </a:solidFill>
              </a:defRPr>
            </a:pPr>
            <a:r>
              <a:rPr dirty="0"/>
              <a:t>RÔLE B — MODEL / RESEARCH</a:t>
            </a:r>
          </a:p>
          <a:p>
            <a:pPr>
              <a:lnSpc>
                <a:spcPct val="150000"/>
              </a:lnSpc>
              <a:spcAft>
                <a:spcPts val="200"/>
              </a:spcAft>
              <a:defRPr sz="1300" b="1">
                <a:solidFill>
                  <a:srgbClr val="0F172A"/>
                </a:solidFill>
              </a:defRPr>
            </a:pPr>
            <a:r>
              <a:rPr dirty="0"/>
              <a:t>NGARTOBAYE OUMAROU BILLY</a:t>
            </a:r>
          </a:p>
          <a:p>
            <a:pPr>
              <a:lnSpc>
                <a:spcPct val="150000"/>
              </a:lnSpc>
              <a:defRPr sz="1000">
                <a:solidFill>
                  <a:srgbClr val="64748B"/>
                </a:solidFill>
              </a:defRPr>
            </a:pPr>
            <a:r>
              <a:rPr dirty="0" err="1"/>
              <a:t>Implémentation</a:t>
            </a:r>
            <a:r>
              <a:rPr dirty="0"/>
              <a:t> </a:t>
            </a:r>
            <a:r>
              <a:rPr dirty="0" err="1"/>
              <a:t>ViT</a:t>
            </a:r>
            <a:r>
              <a:rPr dirty="0"/>
              <a:t> scratch, </a:t>
            </a:r>
            <a:r>
              <a:rPr dirty="0" err="1"/>
              <a:t>intégration</a:t>
            </a:r>
            <a:r>
              <a:rPr dirty="0"/>
              <a:t> </a:t>
            </a:r>
            <a:r>
              <a:rPr dirty="0" err="1"/>
              <a:t>timm</a:t>
            </a:r>
            <a:r>
              <a:rPr dirty="0"/>
              <a:t>/ResNet-50, 12 runs &amp; </a:t>
            </a:r>
            <a:r>
              <a:rPr dirty="0" err="1"/>
              <a:t>MLflow</a:t>
            </a:r>
            <a:r>
              <a:rPr dirty="0"/>
              <a:t>.</a:t>
            </a:r>
          </a:p>
        </p:txBody>
      </p:sp>
      <p:sp>
        <p:nvSpPr>
          <p:cNvPr id="16" name="Rounded Rectangle 15"/>
          <p:cNvSpPr/>
          <p:nvPr/>
        </p:nvSpPr>
        <p:spPr>
          <a:xfrm>
            <a:off x="7863840" y="457200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92440" y="4681728"/>
            <a:ext cx="3657600" cy="1075166"/>
          </a:xfrm>
          <a:prstGeom prst="rect">
            <a:avLst/>
          </a:prstGeom>
          <a:noFill/>
        </p:spPr>
        <p:txBody>
          <a:bodyPr wrap="square">
            <a:spAutoFit/>
          </a:bodyPr>
          <a:lstStyle/>
          <a:p>
            <a:pPr>
              <a:lnSpc>
                <a:spcPct val="150000"/>
              </a:lnSpc>
              <a:defRPr sz="950" b="1">
                <a:solidFill>
                  <a:srgbClr val="2563EB"/>
                </a:solidFill>
              </a:defRPr>
            </a:pPr>
            <a:r>
              <a:rPr dirty="0"/>
              <a:t>RÔLE C — REPORTING / BACKEND</a:t>
            </a:r>
          </a:p>
          <a:p>
            <a:pPr>
              <a:lnSpc>
                <a:spcPct val="150000"/>
              </a:lnSpc>
              <a:spcAft>
                <a:spcPts val="200"/>
              </a:spcAft>
              <a:defRPr sz="1300" b="1">
                <a:solidFill>
                  <a:srgbClr val="0F172A"/>
                </a:solidFill>
              </a:defRPr>
            </a:pPr>
            <a:r>
              <a:rPr dirty="0"/>
              <a:t>YEYE Koffi Gagnon</a:t>
            </a:r>
          </a:p>
          <a:p>
            <a:pPr>
              <a:lnSpc>
                <a:spcPct val="150000"/>
              </a:lnSpc>
              <a:defRPr sz="1000">
                <a:solidFill>
                  <a:srgbClr val="64748B"/>
                </a:solidFill>
              </a:defRPr>
            </a:pPr>
            <a:r>
              <a:rPr dirty="0"/>
              <a:t>Backend </a:t>
            </a:r>
            <a:r>
              <a:rPr dirty="0" err="1"/>
              <a:t>FastAPI</a:t>
            </a:r>
            <a:r>
              <a:rPr dirty="0"/>
              <a:t>, Frontend Next.js, extraction </a:t>
            </a:r>
            <a:r>
              <a:rPr dirty="0" err="1"/>
              <a:t>d'attention</a:t>
            </a:r>
            <a:r>
              <a:rPr dirty="0"/>
              <a:t> </a:t>
            </a:r>
            <a:r>
              <a:rPr dirty="0" err="1"/>
              <a:t>ViT</a:t>
            </a:r>
            <a:r>
              <a:rPr dirty="0"/>
              <a:t>, Docker &amp; rapport.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Plan de la Présentation</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2/22</a:t>
            </a:r>
          </a:p>
        </p:txBody>
      </p:sp>
      <p:sp>
        <p:nvSpPr>
          <p:cNvPr id="7" name="Rounded Rectangle 6"/>
          <p:cNvSpPr/>
          <p:nvPr/>
        </p:nvSpPr>
        <p:spPr>
          <a:xfrm>
            <a:off x="822960" y="146304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iamond 7"/>
          <p:cNvSpPr/>
          <p:nvPr/>
        </p:nvSpPr>
        <p:spPr>
          <a:xfrm>
            <a:off x="1005840" y="164592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01</a:t>
            </a:r>
          </a:p>
        </p:txBody>
      </p:sp>
      <p:sp>
        <p:nvSpPr>
          <p:cNvPr id="9" name="TextBox 8"/>
          <p:cNvSpPr txBox="1"/>
          <p:nvPr/>
        </p:nvSpPr>
        <p:spPr>
          <a:xfrm>
            <a:off x="1828800" y="1600200"/>
            <a:ext cx="3931920" cy="858440"/>
          </a:xfrm>
          <a:prstGeom prst="rect">
            <a:avLst/>
          </a:prstGeom>
          <a:noFill/>
        </p:spPr>
        <p:txBody>
          <a:bodyPr wrap="square">
            <a:spAutoFit/>
          </a:bodyPr>
          <a:lstStyle/>
          <a:p>
            <a:pPr>
              <a:lnSpc>
                <a:spcPct val="150000"/>
              </a:lnSpc>
              <a:spcAft>
                <a:spcPts val="400"/>
              </a:spcAft>
              <a:defRPr sz="1200" b="1">
                <a:solidFill>
                  <a:srgbClr val="0F172A"/>
                </a:solidFill>
              </a:defRPr>
            </a:pPr>
            <a:r>
              <a:rPr dirty="0" err="1"/>
              <a:t>Contexte</a:t>
            </a:r>
            <a:r>
              <a:rPr dirty="0"/>
              <a:t>, </a:t>
            </a:r>
            <a:r>
              <a:rPr dirty="0" err="1"/>
              <a:t>Problématique</a:t>
            </a:r>
            <a:r>
              <a:rPr dirty="0"/>
              <a:t> &amp; </a:t>
            </a:r>
            <a:r>
              <a:rPr dirty="0" err="1"/>
              <a:t>Fondements</a:t>
            </a:r>
            <a:r>
              <a:rPr dirty="0"/>
              <a:t> </a:t>
            </a:r>
            <a:r>
              <a:rPr dirty="0" err="1"/>
              <a:t>Théoriques</a:t>
            </a:r>
            <a:endParaRPr dirty="0"/>
          </a:p>
          <a:p>
            <a:pPr>
              <a:lnSpc>
                <a:spcPct val="150000"/>
              </a:lnSpc>
              <a:defRPr sz="1000">
                <a:solidFill>
                  <a:srgbClr val="64748B"/>
                </a:solidFill>
              </a:defRPr>
            </a:pPr>
            <a:r>
              <a:rPr dirty="0" err="1"/>
              <a:t>Défi</a:t>
            </a:r>
            <a:r>
              <a:rPr dirty="0"/>
              <a:t> fine-grained, dataset CUB-200 et </a:t>
            </a:r>
            <a:r>
              <a:rPr dirty="0" err="1"/>
              <a:t>comparaison</a:t>
            </a:r>
            <a:r>
              <a:rPr dirty="0"/>
              <a:t> CNN vs Vision Transformer</a:t>
            </a:r>
          </a:p>
        </p:txBody>
      </p:sp>
      <p:sp>
        <p:nvSpPr>
          <p:cNvPr id="10" name="Rounded Rectangle 9"/>
          <p:cNvSpPr/>
          <p:nvPr/>
        </p:nvSpPr>
        <p:spPr>
          <a:xfrm>
            <a:off x="6217920" y="146304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iamond 10"/>
          <p:cNvSpPr/>
          <p:nvPr/>
        </p:nvSpPr>
        <p:spPr>
          <a:xfrm>
            <a:off x="6400800" y="164592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02</a:t>
            </a:r>
          </a:p>
        </p:txBody>
      </p:sp>
      <p:sp>
        <p:nvSpPr>
          <p:cNvPr id="12" name="TextBox 11"/>
          <p:cNvSpPr txBox="1"/>
          <p:nvPr/>
        </p:nvSpPr>
        <p:spPr>
          <a:xfrm>
            <a:off x="7223760" y="1600200"/>
            <a:ext cx="3931920" cy="627608"/>
          </a:xfrm>
          <a:prstGeom prst="rect">
            <a:avLst/>
          </a:prstGeom>
          <a:noFill/>
        </p:spPr>
        <p:txBody>
          <a:bodyPr wrap="square">
            <a:spAutoFit/>
          </a:bodyPr>
          <a:lstStyle/>
          <a:p>
            <a:pPr>
              <a:lnSpc>
                <a:spcPct val="150000"/>
              </a:lnSpc>
              <a:spcAft>
                <a:spcPts val="400"/>
              </a:spcAft>
              <a:defRPr sz="1200" b="1">
                <a:solidFill>
                  <a:srgbClr val="0F172A"/>
                </a:solidFill>
              </a:defRPr>
            </a:pPr>
            <a:r>
              <a:rPr dirty="0"/>
              <a:t>Architecture </a:t>
            </a:r>
            <a:r>
              <a:rPr dirty="0" err="1"/>
              <a:t>Globale</a:t>
            </a:r>
            <a:r>
              <a:rPr dirty="0"/>
              <a:t> &amp; </a:t>
            </a:r>
            <a:r>
              <a:rPr dirty="0" err="1"/>
              <a:t>Organisation</a:t>
            </a:r>
            <a:r>
              <a:rPr dirty="0"/>
              <a:t> du Code</a:t>
            </a:r>
          </a:p>
          <a:p>
            <a:pPr>
              <a:lnSpc>
                <a:spcPct val="150000"/>
              </a:lnSpc>
              <a:defRPr sz="1000">
                <a:solidFill>
                  <a:srgbClr val="64748B"/>
                </a:solidFill>
              </a:defRPr>
            </a:pPr>
            <a:r>
              <a:rPr dirty="0"/>
              <a:t>Vue </a:t>
            </a:r>
            <a:r>
              <a:rPr dirty="0" err="1"/>
              <a:t>d'ensemble</a:t>
            </a:r>
            <a:r>
              <a:rPr dirty="0"/>
              <a:t> end-to-end et structure </a:t>
            </a:r>
            <a:r>
              <a:rPr dirty="0" err="1"/>
              <a:t>modulaire</a:t>
            </a:r>
            <a:r>
              <a:rPr dirty="0"/>
              <a:t> des </a:t>
            </a:r>
            <a:r>
              <a:rPr dirty="0" err="1"/>
              <a:t>répertoires</a:t>
            </a:r>
            <a:endParaRPr dirty="0"/>
          </a:p>
        </p:txBody>
      </p:sp>
      <p:sp>
        <p:nvSpPr>
          <p:cNvPr id="13" name="Rounded Rectangle 12"/>
          <p:cNvSpPr/>
          <p:nvPr/>
        </p:nvSpPr>
        <p:spPr>
          <a:xfrm>
            <a:off x="853440" y="301752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iamond 13"/>
          <p:cNvSpPr/>
          <p:nvPr/>
        </p:nvSpPr>
        <p:spPr>
          <a:xfrm>
            <a:off x="1005840" y="320040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03</a:t>
            </a:r>
          </a:p>
        </p:txBody>
      </p:sp>
      <p:sp>
        <p:nvSpPr>
          <p:cNvPr id="15" name="TextBox 14"/>
          <p:cNvSpPr txBox="1"/>
          <p:nvPr/>
        </p:nvSpPr>
        <p:spPr>
          <a:xfrm>
            <a:off x="1828800" y="3154680"/>
            <a:ext cx="3931920" cy="627608"/>
          </a:xfrm>
          <a:prstGeom prst="rect">
            <a:avLst/>
          </a:prstGeom>
          <a:noFill/>
        </p:spPr>
        <p:txBody>
          <a:bodyPr wrap="square">
            <a:spAutoFit/>
          </a:bodyPr>
          <a:lstStyle/>
          <a:p>
            <a:pPr>
              <a:lnSpc>
                <a:spcPct val="150000"/>
              </a:lnSpc>
              <a:spcAft>
                <a:spcPts val="400"/>
              </a:spcAft>
              <a:defRPr sz="1200" b="1">
                <a:solidFill>
                  <a:srgbClr val="0F172A"/>
                </a:solidFill>
              </a:defRPr>
            </a:pPr>
            <a:r>
              <a:rPr dirty="0"/>
              <a:t>Pipeline Données &amp; </a:t>
            </a:r>
            <a:r>
              <a:rPr dirty="0" err="1"/>
              <a:t>Analyse</a:t>
            </a:r>
            <a:r>
              <a:rPr dirty="0"/>
              <a:t> </a:t>
            </a:r>
            <a:r>
              <a:rPr dirty="0" err="1"/>
              <a:t>Exploratoire</a:t>
            </a:r>
            <a:r>
              <a:rPr dirty="0"/>
              <a:t> (</a:t>
            </a:r>
            <a:r>
              <a:rPr dirty="0" err="1"/>
              <a:t>Rôle</a:t>
            </a:r>
            <a:r>
              <a:rPr dirty="0"/>
              <a:t> A)</a:t>
            </a:r>
          </a:p>
          <a:p>
            <a:pPr>
              <a:lnSpc>
                <a:spcPct val="150000"/>
              </a:lnSpc>
              <a:defRPr sz="1000">
                <a:solidFill>
                  <a:srgbClr val="64748B"/>
                </a:solidFill>
              </a:defRPr>
            </a:pPr>
            <a:r>
              <a:rPr dirty="0"/>
              <a:t>Splits </a:t>
            </a:r>
            <a:r>
              <a:rPr dirty="0" err="1"/>
              <a:t>stratifiés</a:t>
            </a:r>
            <a:r>
              <a:rPr dirty="0"/>
              <a:t> (10% à 100%), </a:t>
            </a:r>
            <a:r>
              <a:rPr dirty="0" err="1"/>
              <a:t>résolutions</a:t>
            </a:r>
            <a:r>
              <a:rPr dirty="0"/>
              <a:t> </a:t>
            </a:r>
            <a:r>
              <a:rPr dirty="0" err="1"/>
              <a:t>hétérogènes</a:t>
            </a:r>
            <a:r>
              <a:rPr dirty="0"/>
              <a:t> &amp; augmentations</a:t>
            </a:r>
          </a:p>
        </p:txBody>
      </p:sp>
      <p:sp>
        <p:nvSpPr>
          <p:cNvPr id="16" name="Rounded Rectangle 15"/>
          <p:cNvSpPr/>
          <p:nvPr/>
        </p:nvSpPr>
        <p:spPr>
          <a:xfrm>
            <a:off x="6217920" y="301752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Diamond 16"/>
          <p:cNvSpPr/>
          <p:nvPr/>
        </p:nvSpPr>
        <p:spPr>
          <a:xfrm>
            <a:off x="6400800" y="320040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04</a:t>
            </a:r>
          </a:p>
        </p:txBody>
      </p:sp>
      <p:sp>
        <p:nvSpPr>
          <p:cNvPr id="18" name="TextBox 17"/>
          <p:cNvSpPr txBox="1"/>
          <p:nvPr/>
        </p:nvSpPr>
        <p:spPr>
          <a:xfrm>
            <a:off x="7223760" y="3154680"/>
            <a:ext cx="3931920" cy="627608"/>
          </a:xfrm>
          <a:prstGeom prst="rect">
            <a:avLst/>
          </a:prstGeom>
          <a:noFill/>
        </p:spPr>
        <p:txBody>
          <a:bodyPr wrap="square">
            <a:spAutoFit/>
          </a:bodyPr>
          <a:lstStyle/>
          <a:p>
            <a:pPr>
              <a:lnSpc>
                <a:spcPct val="150000"/>
              </a:lnSpc>
              <a:spcAft>
                <a:spcPts val="400"/>
              </a:spcAft>
              <a:defRPr sz="1200" b="1">
                <a:solidFill>
                  <a:srgbClr val="0F172A"/>
                </a:solidFill>
              </a:defRPr>
            </a:pPr>
            <a:r>
              <a:rPr dirty="0" err="1"/>
              <a:t>Modélisation</a:t>
            </a:r>
            <a:r>
              <a:rPr dirty="0"/>
              <a:t>, </a:t>
            </a:r>
            <a:r>
              <a:rPr dirty="0" err="1"/>
              <a:t>Protocole</a:t>
            </a:r>
            <a:r>
              <a:rPr dirty="0"/>
              <a:t> &amp; </a:t>
            </a:r>
            <a:r>
              <a:rPr dirty="0" err="1"/>
              <a:t>Suivi</a:t>
            </a:r>
            <a:r>
              <a:rPr dirty="0"/>
              <a:t> </a:t>
            </a:r>
            <a:r>
              <a:rPr dirty="0" err="1"/>
              <a:t>MLflow</a:t>
            </a:r>
            <a:r>
              <a:rPr dirty="0"/>
              <a:t> (</a:t>
            </a:r>
            <a:r>
              <a:rPr dirty="0" err="1"/>
              <a:t>Rôle</a:t>
            </a:r>
            <a:r>
              <a:rPr dirty="0"/>
              <a:t> B)</a:t>
            </a:r>
          </a:p>
          <a:p>
            <a:pPr>
              <a:lnSpc>
                <a:spcPct val="150000"/>
              </a:lnSpc>
              <a:defRPr sz="1000">
                <a:solidFill>
                  <a:srgbClr val="64748B"/>
                </a:solidFill>
              </a:defRPr>
            </a:pPr>
            <a:r>
              <a:rPr dirty="0"/>
              <a:t>ResNet-50, </a:t>
            </a:r>
            <a:r>
              <a:rPr dirty="0" err="1"/>
              <a:t>ViT</a:t>
            </a:r>
            <a:r>
              <a:rPr dirty="0"/>
              <a:t> </a:t>
            </a:r>
            <a:r>
              <a:rPr dirty="0" err="1"/>
              <a:t>timm</a:t>
            </a:r>
            <a:r>
              <a:rPr dirty="0"/>
              <a:t>, </a:t>
            </a:r>
            <a:r>
              <a:rPr dirty="0" err="1"/>
              <a:t>ViT</a:t>
            </a:r>
            <a:r>
              <a:rPr dirty="0"/>
              <a:t> custom scratch et </a:t>
            </a:r>
            <a:r>
              <a:rPr dirty="0" err="1"/>
              <a:t>traçabilité</a:t>
            </a:r>
            <a:r>
              <a:rPr dirty="0"/>
              <a:t> des 12 runs</a:t>
            </a:r>
          </a:p>
        </p:txBody>
      </p:sp>
      <p:sp>
        <p:nvSpPr>
          <p:cNvPr id="19" name="Rounded Rectangle 18"/>
          <p:cNvSpPr/>
          <p:nvPr/>
        </p:nvSpPr>
        <p:spPr>
          <a:xfrm>
            <a:off x="822960" y="457200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amond 19"/>
          <p:cNvSpPr/>
          <p:nvPr/>
        </p:nvSpPr>
        <p:spPr>
          <a:xfrm>
            <a:off x="1005840" y="475488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05</a:t>
            </a:r>
          </a:p>
        </p:txBody>
      </p:sp>
      <p:sp>
        <p:nvSpPr>
          <p:cNvPr id="21" name="TextBox 20"/>
          <p:cNvSpPr txBox="1"/>
          <p:nvPr/>
        </p:nvSpPr>
        <p:spPr>
          <a:xfrm>
            <a:off x="1828800" y="4709160"/>
            <a:ext cx="3931920" cy="858440"/>
          </a:xfrm>
          <a:prstGeom prst="rect">
            <a:avLst/>
          </a:prstGeom>
          <a:noFill/>
        </p:spPr>
        <p:txBody>
          <a:bodyPr wrap="square">
            <a:spAutoFit/>
          </a:bodyPr>
          <a:lstStyle/>
          <a:p>
            <a:pPr>
              <a:lnSpc>
                <a:spcPct val="150000"/>
              </a:lnSpc>
              <a:spcAft>
                <a:spcPts val="400"/>
              </a:spcAft>
              <a:defRPr sz="1200" b="1">
                <a:solidFill>
                  <a:srgbClr val="0F172A"/>
                </a:solidFill>
              </a:defRPr>
            </a:pPr>
            <a:r>
              <a:rPr dirty="0" err="1"/>
              <a:t>Résultats</a:t>
            </a:r>
            <a:r>
              <a:rPr dirty="0"/>
              <a:t> </a:t>
            </a:r>
            <a:r>
              <a:rPr dirty="0" err="1"/>
              <a:t>Expérimentaux</a:t>
            </a:r>
            <a:r>
              <a:rPr dirty="0"/>
              <a:t> &amp; Études </a:t>
            </a:r>
            <a:r>
              <a:rPr dirty="0" err="1"/>
              <a:t>d'Ablation</a:t>
            </a:r>
            <a:endParaRPr dirty="0"/>
          </a:p>
          <a:p>
            <a:pPr>
              <a:lnSpc>
                <a:spcPct val="150000"/>
              </a:lnSpc>
              <a:defRPr sz="1000">
                <a:solidFill>
                  <a:srgbClr val="64748B"/>
                </a:solidFill>
              </a:defRPr>
            </a:pPr>
            <a:r>
              <a:rPr dirty="0"/>
              <a:t>Matrice comparative, </a:t>
            </a:r>
            <a:r>
              <a:rPr dirty="0" err="1"/>
              <a:t>sensibilité</a:t>
            </a:r>
            <a:r>
              <a:rPr dirty="0"/>
              <a:t> Data-Hungry et impact du </a:t>
            </a:r>
            <a:r>
              <a:rPr dirty="0" err="1"/>
              <a:t>pré-entraînement</a:t>
            </a:r>
            <a:endParaRPr dirty="0"/>
          </a:p>
        </p:txBody>
      </p:sp>
      <p:sp>
        <p:nvSpPr>
          <p:cNvPr id="22" name="Rounded Rectangle 21"/>
          <p:cNvSpPr/>
          <p:nvPr/>
        </p:nvSpPr>
        <p:spPr>
          <a:xfrm>
            <a:off x="6217920" y="4572000"/>
            <a:ext cx="5120640" cy="1325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iamond 22"/>
          <p:cNvSpPr/>
          <p:nvPr/>
        </p:nvSpPr>
        <p:spPr>
          <a:xfrm>
            <a:off x="6400800" y="4754880"/>
            <a:ext cx="640080" cy="640080"/>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200" b="1">
                <a:solidFill>
                  <a:srgbClr val="FFFFFF"/>
                </a:solidFill>
                <a:latin typeface="Arial"/>
              </a:defRPr>
            </a:pPr>
            <a:r>
              <a:t>06</a:t>
            </a:r>
          </a:p>
        </p:txBody>
      </p:sp>
      <p:sp>
        <p:nvSpPr>
          <p:cNvPr id="24" name="TextBox 23"/>
          <p:cNvSpPr txBox="1"/>
          <p:nvPr/>
        </p:nvSpPr>
        <p:spPr>
          <a:xfrm>
            <a:off x="7223760" y="4709160"/>
            <a:ext cx="3931920" cy="858440"/>
          </a:xfrm>
          <a:prstGeom prst="rect">
            <a:avLst/>
          </a:prstGeom>
          <a:noFill/>
        </p:spPr>
        <p:txBody>
          <a:bodyPr wrap="square">
            <a:spAutoFit/>
          </a:bodyPr>
          <a:lstStyle/>
          <a:p>
            <a:pPr>
              <a:lnSpc>
                <a:spcPct val="150000"/>
              </a:lnSpc>
              <a:spcAft>
                <a:spcPts val="400"/>
              </a:spcAft>
              <a:defRPr sz="1200" b="1">
                <a:solidFill>
                  <a:srgbClr val="0F172A"/>
                </a:solidFill>
              </a:defRPr>
            </a:pPr>
            <a:r>
              <a:rPr dirty="0" err="1"/>
              <a:t>Déploiement</a:t>
            </a:r>
            <a:r>
              <a:rPr dirty="0"/>
              <a:t> </a:t>
            </a:r>
            <a:r>
              <a:rPr dirty="0" err="1"/>
              <a:t>Fullstack</a:t>
            </a:r>
            <a:r>
              <a:rPr dirty="0"/>
              <a:t>, Attention </a:t>
            </a:r>
            <a:r>
              <a:rPr dirty="0" err="1"/>
              <a:t>ViT</a:t>
            </a:r>
            <a:r>
              <a:rPr dirty="0"/>
              <a:t> &amp; Bilan (</a:t>
            </a:r>
            <a:r>
              <a:rPr dirty="0" err="1"/>
              <a:t>Rôle</a:t>
            </a:r>
            <a:r>
              <a:rPr dirty="0"/>
              <a:t> C)</a:t>
            </a:r>
          </a:p>
          <a:p>
            <a:pPr>
              <a:lnSpc>
                <a:spcPct val="150000"/>
              </a:lnSpc>
              <a:defRPr sz="1000">
                <a:solidFill>
                  <a:srgbClr val="64748B"/>
                </a:solidFill>
              </a:defRPr>
            </a:pPr>
            <a:r>
              <a:rPr dirty="0" err="1"/>
              <a:t>FastAPI</a:t>
            </a:r>
            <a:r>
              <a:rPr dirty="0"/>
              <a:t>, Next.js, hook </a:t>
            </a:r>
            <a:r>
              <a:rPr dirty="0" err="1"/>
              <a:t>d'attention</a:t>
            </a:r>
            <a:r>
              <a:rPr dirty="0"/>
              <a:t>, Docker Compose, </a:t>
            </a:r>
            <a:r>
              <a:rPr dirty="0" err="1"/>
              <a:t>limites</a:t>
            </a:r>
            <a:r>
              <a:rPr dirty="0"/>
              <a:t> &amp; perspectives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1. Contexte &amp; Défi de la Classification Fine-Grained</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3/22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1417320"/>
            <a:ext cx="5120640"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1481328"/>
            <a:ext cx="4846320" cy="365760"/>
          </a:xfrm>
          <a:prstGeom prst="rect">
            <a:avLst/>
          </a:prstGeom>
          <a:noFill/>
        </p:spPr>
        <p:txBody>
          <a:bodyPr wrap="none">
            <a:spAutoFit/>
          </a:bodyPr>
          <a:lstStyle/>
          <a:p>
            <a:pPr>
              <a:defRPr sz="1200" b="1">
                <a:solidFill>
                  <a:srgbClr val="FFFFFF"/>
                </a:solidFill>
              </a:defRPr>
            </a:pPr>
            <a:r>
              <a:t>Défi de la Classification Fine-Grained</a:t>
            </a:r>
          </a:p>
        </p:txBody>
      </p:sp>
      <p:sp>
        <p:nvSpPr>
          <p:cNvPr id="10" name="TextBox 9"/>
          <p:cNvSpPr txBox="1"/>
          <p:nvPr/>
        </p:nvSpPr>
        <p:spPr>
          <a:xfrm>
            <a:off x="1005840" y="2057400"/>
            <a:ext cx="4754880" cy="2898935"/>
          </a:xfrm>
          <a:prstGeom prst="rect">
            <a:avLst/>
          </a:prstGeom>
          <a:noFill/>
        </p:spPr>
        <p:txBody>
          <a:bodyPr wrap="square">
            <a:spAutoFit/>
          </a:bodyPr>
          <a:lstStyle/>
          <a:p>
            <a:pPr>
              <a:lnSpc>
                <a:spcPct val="150000"/>
              </a:lnSpc>
              <a:spcAft>
                <a:spcPts val="800"/>
              </a:spcAft>
            </a:pPr>
            <a:r>
              <a:rPr sz="1150" b="1" dirty="0" err="1">
                <a:solidFill>
                  <a:srgbClr val="0F172A"/>
                </a:solidFill>
              </a:rPr>
              <a:t>Variabilité</a:t>
            </a:r>
            <a:r>
              <a:rPr sz="1150" b="1" dirty="0">
                <a:solidFill>
                  <a:srgbClr val="0F172A"/>
                </a:solidFill>
              </a:rPr>
              <a:t> inter-</a:t>
            </a:r>
            <a:r>
              <a:rPr sz="1150" b="1" dirty="0" err="1">
                <a:solidFill>
                  <a:srgbClr val="0F172A"/>
                </a:solidFill>
              </a:rPr>
              <a:t>classe</a:t>
            </a:r>
            <a:r>
              <a:rPr sz="1150" b="1" dirty="0">
                <a:solidFill>
                  <a:srgbClr val="0F172A"/>
                </a:solidFill>
              </a:rPr>
              <a:t> </a:t>
            </a:r>
            <a:r>
              <a:rPr sz="1150" b="1" dirty="0" err="1">
                <a:solidFill>
                  <a:srgbClr val="0F172A"/>
                </a:solidFill>
              </a:rPr>
              <a:t>minime</a:t>
            </a:r>
            <a:r>
              <a:rPr sz="1150" b="1" dirty="0">
                <a:solidFill>
                  <a:srgbClr val="0F172A"/>
                </a:solidFill>
              </a:rPr>
              <a:t> :</a:t>
            </a:r>
            <a:r>
              <a:rPr sz="1100" b="0" dirty="0">
                <a:solidFill>
                  <a:srgbClr val="0F172A"/>
                </a:solidFill>
              </a:rPr>
              <a:t>
  Les </a:t>
            </a:r>
            <a:r>
              <a:rPr sz="1100" b="0" dirty="0" err="1">
                <a:solidFill>
                  <a:srgbClr val="0F172A"/>
                </a:solidFill>
              </a:rPr>
              <a:t>différences</a:t>
            </a:r>
            <a:r>
              <a:rPr sz="1100" b="0" dirty="0">
                <a:solidFill>
                  <a:srgbClr val="0F172A"/>
                </a:solidFill>
              </a:rPr>
              <a:t> entre </a:t>
            </a:r>
            <a:r>
              <a:rPr sz="1100" b="0" dirty="0" err="1">
                <a:solidFill>
                  <a:srgbClr val="0F172A"/>
                </a:solidFill>
              </a:rPr>
              <a:t>espèces</a:t>
            </a:r>
            <a:r>
              <a:rPr sz="1100" b="0" dirty="0">
                <a:solidFill>
                  <a:srgbClr val="0F172A"/>
                </a:solidFill>
              </a:rPr>
              <a:t> </a:t>
            </a:r>
            <a:r>
              <a:rPr sz="1100" b="0" dirty="0" err="1">
                <a:solidFill>
                  <a:srgbClr val="0F172A"/>
                </a:solidFill>
              </a:rPr>
              <a:t>sont</a:t>
            </a:r>
            <a:r>
              <a:rPr sz="1100" b="0" dirty="0">
                <a:solidFill>
                  <a:srgbClr val="0F172A"/>
                </a:solidFill>
              </a:rPr>
              <a:t> </a:t>
            </a:r>
            <a:r>
              <a:rPr sz="1100" b="0" dirty="0" err="1">
                <a:solidFill>
                  <a:srgbClr val="0F172A"/>
                </a:solidFill>
              </a:rPr>
              <a:t>extrêmement</a:t>
            </a:r>
            <a:r>
              <a:rPr sz="1100" b="0" dirty="0">
                <a:solidFill>
                  <a:srgbClr val="0F172A"/>
                </a:solidFill>
              </a:rPr>
              <a:t> </a:t>
            </a:r>
            <a:r>
              <a:rPr sz="1100" b="0" dirty="0" err="1">
                <a:solidFill>
                  <a:srgbClr val="0F172A"/>
                </a:solidFill>
              </a:rPr>
              <a:t>subtiles</a:t>
            </a:r>
            <a:r>
              <a:rPr sz="1100" b="0" dirty="0">
                <a:solidFill>
                  <a:srgbClr val="0F172A"/>
                </a:solidFill>
              </a:rPr>
              <a:t> (nuances de plumage, </a:t>
            </a:r>
            <a:r>
              <a:rPr sz="1100" b="0" dirty="0" err="1">
                <a:solidFill>
                  <a:srgbClr val="0F172A"/>
                </a:solidFill>
              </a:rPr>
              <a:t>courbure</a:t>
            </a:r>
            <a:r>
              <a:rPr sz="1100" b="0" dirty="0">
                <a:solidFill>
                  <a:srgbClr val="0F172A"/>
                </a:solidFill>
              </a:rPr>
              <a:t> du </a:t>
            </a:r>
            <a:r>
              <a:rPr sz="1100" b="0" dirty="0" err="1">
                <a:solidFill>
                  <a:srgbClr val="0F172A"/>
                </a:solidFill>
              </a:rPr>
              <a:t>bec</a:t>
            </a:r>
            <a:r>
              <a:rPr sz="1100" b="0" dirty="0">
                <a:solidFill>
                  <a:srgbClr val="0F172A"/>
                </a:solidFill>
              </a:rPr>
              <a:t>, motifs des </a:t>
            </a:r>
            <a:r>
              <a:rPr sz="1100" b="0" dirty="0" err="1">
                <a:solidFill>
                  <a:srgbClr val="0F172A"/>
                </a:solidFill>
              </a:rPr>
              <a:t>rémiges</a:t>
            </a:r>
            <a:r>
              <a:rPr sz="1100" b="0" dirty="0">
                <a:solidFill>
                  <a:srgbClr val="0F172A"/>
                </a:solidFill>
              </a:rPr>
              <a:t>).</a:t>
            </a:r>
          </a:p>
          <a:p>
            <a:pPr>
              <a:lnSpc>
                <a:spcPct val="150000"/>
              </a:lnSpc>
              <a:spcAft>
                <a:spcPts val="800"/>
              </a:spcAft>
            </a:pPr>
            <a:r>
              <a:rPr sz="1150" b="1" dirty="0" err="1">
                <a:solidFill>
                  <a:srgbClr val="0F172A"/>
                </a:solidFill>
              </a:rPr>
              <a:t>Variabilité</a:t>
            </a:r>
            <a:r>
              <a:rPr sz="1150" b="1" dirty="0">
                <a:solidFill>
                  <a:srgbClr val="0F172A"/>
                </a:solidFill>
              </a:rPr>
              <a:t> intra-</a:t>
            </a:r>
            <a:r>
              <a:rPr sz="1150" b="1" dirty="0" err="1">
                <a:solidFill>
                  <a:srgbClr val="0F172A"/>
                </a:solidFill>
              </a:rPr>
              <a:t>classe</a:t>
            </a:r>
            <a:r>
              <a:rPr sz="1150" b="1" dirty="0">
                <a:solidFill>
                  <a:srgbClr val="0F172A"/>
                </a:solidFill>
              </a:rPr>
              <a:t> forte :</a:t>
            </a:r>
            <a:r>
              <a:rPr sz="1100" b="0" dirty="0">
                <a:solidFill>
                  <a:srgbClr val="0F172A"/>
                </a:solidFill>
              </a:rPr>
              <a:t>
  Une </a:t>
            </a:r>
            <a:r>
              <a:rPr sz="1100" b="0" dirty="0" err="1">
                <a:solidFill>
                  <a:srgbClr val="0F172A"/>
                </a:solidFill>
              </a:rPr>
              <a:t>même</a:t>
            </a:r>
            <a:r>
              <a:rPr sz="1100" b="0" dirty="0">
                <a:solidFill>
                  <a:srgbClr val="0F172A"/>
                </a:solidFill>
              </a:rPr>
              <a:t> </a:t>
            </a:r>
            <a:r>
              <a:rPr sz="1100" b="0" dirty="0" err="1">
                <a:solidFill>
                  <a:srgbClr val="0F172A"/>
                </a:solidFill>
              </a:rPr>
              <a:t>espèce</a:t>
            </a:r>
            <a:r>
              <a:rPr sz="1100" b="0" dirty="0">
                <a:solidFill>
                  <a:srgbClr val="0F172A"/>
                </a:solidFill>
              </a:rPr>
              <a:t> </a:t>
            </a:r>
            <a:r>
              <a:rPr sz="1100" b="0" dirty="0" err="1">
                <a:solidFill>
                  <a:srgbClr val="0F172A"/>
                </a:solidFill>
              </a:rPr>
              <a:t>présente</a:t>
            </a:r>
            <a:r>
              <a:rPr sz="1100" b="0" dirty="0">
                <a:solidFill>
                  <a:srgbClr val="0F172A"/>
                </a:solidFill>
              </a:rPr>
              <a:t> des </a:t>
            </a:r>
            <a:r>
              <a:rPr sz="1100" b="0" dirty="0" err="1">
                <a:solidFill>
                  <a:srgbClr val="0F172A"/>
                </a:solidFill>
              </a:rPr>
              <a:t>apparences</a:t>
            </a:r>
            <a:r>
              <a:rPr sz="1100" b="0" dirty="0">
                <a:solidFill>
                  <a:srgbClr val="0F172A"/>
                </a:solidFill>
              </a:rPr>
              <a:t> très </a:t>
            </a:r>
            <a:r>
              <a:rPr sz="1100" b="0" dirty="0" err="1">
                <a:solidFill>
                  <a:srgbClr val="0F172A"/>
                </a:solidFill>
              </a:rPr>
              <a:t>divergentes</a:t>
            </a:r>
            <a:r>
              <a:rPr sz="1100" b="0" dirty="0">
                <a:solidFill>
                  <a:srgbClr val="0F172A"/>
                </a:solidFill>
              </a:rPr>
              <a:t> </a:t>
            </a:r>
            <a:r>
              <a:rPr sz="1100" b="0" dirty="0" err="1">
                <a:solidFill>
                  <a:srgbClr val="0F172A"/>
                </a:solidFill>
              </a:rPr>
              <a:t>selon</a:t>
            </a:r>
            <a:r>
              <a:rPr sz="1100" b="0" dirty="0">
                <a:solidFill>
                  <a:srgbClr val="0F172A"/>
                </a:solidFill>
              </a:rPr>
              <a:t> </a:t>
            </a:r>
            <a:r>
              <a:rPr sz="1100" b="0" dirty="0" err="1">
                <a:solidFill>
                  <a:srgbClr val="0F172A"/>
                </a:solidFill>
              </a:rPr>
              <a:t>l'âge</a:t>
            </a:r>
            <a:r>
              <a:rPr sz="1100" b="0" dirty="0">
                <a:solidFill>
                  <a:srgbClr val="0F172A"/>
                </a:solidFill>
              </a:rPr>
              <a:t>, le </a:t>
            </a:r>
            <a:r>
              <a:rPr sz="1100" b="0" dirty="0" err="1">
                <a:solidFill>
                  <a:srgbClr val="0F172A"/>
                </a:solidFill>
              </a:rPr>
              <a:t>sexe</a:t>
            </a:r>
            <a:r>
              <a:rPr sz="1100" b="0" dirty="0">
                <a:solidFill>
                  <a:srgbClr val="0F172A"/>
                </a:solidFill>
              </a:rPr>
              <a:t>, la saison, la pose et </a:t>
            </a:r>
            <a:r>
              <a:rPr sz="1100" b="0" dirty="0" err="1">
                <a:solidFill>
                  <a:srgbClr val="0F172A"/>
                </a:solidFill>
              </a:rPr>
              <a:t>l'éclairage</a:t>
            </a:r>
            <a:r>
              <a:rPr sz="1100" b="0" dirty="0">
                <a:solidFill>
                  <a:srgbClr val="0F172A"/>
                </a:solidFill>
              </a:rPr>
              <a:t>.</a:t>
            </a:r>
          </a:p>
          <a:p>
            <a:pPr>
              <a:lnSpc>
                <a:spcPct val="150000"/>
              </a:lnSpc>
              <a:spcAft>
                <a:spcPts val="800"/>
              </a:spcAft>
            </a:pPr>
            <a:r>
              <a:rPr sz="1150" b="1" dirty="0" err="1">
                <a:solidFill>
                  <a:srgbClr val="0F172A"/>
                </a:solidFill>
              </a:rPr>
              <a:t>Complexité</a:t>
            </a:r>
            <a:r>
              <a:rPr sz="1150" b="1" dirty="0">
                <a:solidFill>
                  <a:srgbClr val="0F172A"/>
                </a:solidFill>
              </a:rPr>
              <a:t> du </a:t>
            </a:r>
            <a:r>
              <a:rPr sz="1150" b="1" dirty="0" err="1">
                <a:solidFill>
                  <a:srgbClr val="0F172A"/>
                </a:solidFill>
              </a:rPr>
              <a:t>contexte</a:t>
            </a:r>
            <a:r>
              <a:rPr sz="1150" b="1" dirty="0">
                <a:solidFill>
                  <a:srgbClr val="0F172A"/>
                </a:solidFill>
              </a:rPr>
              <a:t> </a:t>
            </a:r>
            <a:r>
              <a:rPr sz="1150" b="1" dirty="0" err="1">
                <a:solidFill>
                  <a:srgbClr val="0F172A"/>
                </a:solidFill>
              </a:rPr>
              <a:t>visuel</a:t>
            </a:r>
            <a:r>
              <a:rPr sz="1150" b="1" dirty="0">
                <a:solidFill>
                  <a:srgbClr val="0F172A"/>
                </a:solidFill>
              </a:rPr>
              <a:t> :</a:t>
            </a:r>
            <a:r>
              <a:rPr sz="1100" b="0" dirty="0">
                <a:solidFill>
                  <a:srgbClr val="0F172A"/>
                </a:solidFill>
              </a:rPr>
              <a:t>
  Arrière-plans </a:t>
            </a:r>
            <a:r>
              <a:rPr sz="1100" b="0" dirty="0" err="1">
                <a:solidFill>
                  <a:srgbClr val="0F172A"/>
                </a:solidFill>
              </a:rPr>
              <a:t>naturels</a:t>
            </a:r>
            <a:r>
              <a:rPr sz="1100" b="0" dirty="0">
                <a:solidFill>
                  <a:srgbClr val="0F172A"/>
                </a:solidFill>
              </a:rPr>
              <a:t> </a:t>
            </a:r>
            <a:r>
              <a:rPr sz="1100" b="0" dirty="0" err="1">
                <a:solidFill>
                  <a:srgbClr val="0F172A"/>
                </a:solidFill>
              </a:rPr>
              <a:t>denses</a:t>
            </a:r>
            <a:r>
              <a:rPr sz="1100" b="0" dirty="0">
                <a:solidFill>
                  <a:srgbClr val="0F172A"/>
                </a:solidFill>
              </a:rPr>
              <a:t> (branches, </a:t>
            </a:r>
            <a:r>
              <a:rPr sz="1100" b="0" dirty="0" err="1">
                <a:solidFill>
                  <a:srgbClr val="0F172A"/>
                </a:solidFill>
              </a:rPr>
              <a:t>feuillages</a:t>
            </a:r>
            <a:r>
              <a:rPr sz="1100" b="0" dirty="0">
                <a:solidFill>
                  <a:srgbClr val="0F172A"/>
                </a:solidFill>
              </a:rPr>
              <a:t>) </a:t>
            </a:r>
            <a:r>
              <a:rPr sz="1100" b="0" dirty="0" err="1">
                <a:solidFill>
                  <a:srgbClr val="0F172A"/>
                </a:solidFill>
              </a:rPr>
              <a:t>créant</a:t>
            </a:r>
            <a:r>
              <a:rPr sz="1100" b="0" dirty="0">
                <a:solidFill>
                  <a:srgbClr val="0F172A"/>
                </a:solidFill>
              </a:rPr>
              <a:t> du bruit </a:t>
            </a:r>
            <a:r>
              <a:rPr sz="1100" b="0" dirty="0" err="1">
                <a:solidFill>
                  <a:srgbClr val="0F172A"/>
                </a:solidFill>
              </a:rPr>
              <a:t>visuel</a:t>
            </a:r>
            <a:r>
              <a:rPr sz="1100" b="0" dirty="0">
                <a:solidFill>
                  <a:srgbClr val="0F172A"/>
                </a:solidFill>
              </a:rPr>
              <a:t> </a:t>
            </a:r>
            <a:r>
              <a:rPr sz="1100" b="0" dirty="0" err="1">
                <a:solidFill>
                  <a:srgbClr val="0F172A"/>
                </a:solidFill>
              </a:rPr>
              <a:t>perturbateur</a:t>
            </a:r>
            <a:r>
              <a:rPr sz="1100" b="0" dirty="0">
                <a:solidFill>
                  <a:srgbClr val="0F172A"/>
                </a:solidFill>
              </a:rPr>
              <a:t>.</a:t>
            </a:r>
          </a:p>
        </p:txBody>
      </p:sp>
      <p:sp>
        <p:nvSpPr>
          <p:cNvPr id="11" name="Rounded Rectangle 10"/>
          <p:cNvSpPr/>
          <p:nvPr/>
        </p:nvSpPr>
        <p:spPr>
          <a:xfrm>
            <a:off x="621792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417320"/>
            <a:ext cx="5120640" cy="5029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481328"/>
            <a:ext cx="4846320" cy="365760"/>
          </a:xfrm>
          <a:prstGeom prst="rect">
            <a:avLst/>
          </a:prstGeom>
          <a:noFill/>
        </p:spPr>
        <p:txBody>
          <a:bodyPr wrap="none">
            <a:spAutoFit/>
          </a:bodyPr>
          <a:lstStyle/>
          <a:p>
            <a:pPr>
              <a:defRPr sz="1200" b="1">
                <a:solidFill>
                  <a:srgbClr val="FFFFFF"/>
                </a:solidFill>
              </a:defRPr>
            </a:pPr>
            <a:r>
              <a:t>Enjeu Scientifique &amp; Algorithmique</a:t>
            </a:r>
          </a:p>
        </p:txBody>
      </p:sp>
      <p:sp>
        <p:nvSpPr>
          <p:cNvPr id="14" name="TextBox 13"/>
          <p:cNvSpPr txBox="1"/>
          <p:nvPr/>
        </p:nvSpPr>
        <p:spPr>
          <a:xfrm>
            <a:off x="6400800" y="2057400"/>
            <a:ext cx="4754880" cy="1920462"/>
          </a:xfrm>
          <a:prstGeom prst="rect">
            <a:avLst/>
          </a:prstGeom>
          <a:noFill/>
        </p:spPr>
        <p:txBody>
          <a:bodyPr wrap="square">
            <a:spAutoFit/>
          </a:bodyPr>
          <a:lstStyle/>
          <a:p>
            <a:pPr>
              <a:lnSpc>
                <a:spcPct val="150000"/>
              </a:lnSpc>
              <a:spcAft>
                <a:spcPts val="800"/>
              </a:spcAft>
            </a:pPr>
            <a:r>
              <a:rPr sz="1150" b="1" dirty="0" err="1">
                <a:solidFill>
                  <a:srgbClr val="0F172A"/>
                </a:solidFill>
              </a:rPr>
              <a:t>Localisation</a:t>
            </a:r>
            <a:r>
              <a:rPr sz="1150" b="1" dirty="0">
                <a:solidFill>
                  <a:srgbClr val="0F172A"/>
                </a:solidFill>
              </a:rPr>
              <a:t> de </a:t>
            </a:r>
            <a:r>
              <a:rPr sz="1150" b="1" dirty="0" err="1">
                <a:solidFill>
                  <a:srgbClr val="0F172A"/>
                </a:solidFill>
              </a:rPr>
              <a:t>détails</a:t>
            </a:r>
            <a:r>
              <a:rPr sz="1150" b="1" dirty="0">
                <a:solidFill>
                  <a:srgbClr val="0F172A"/>
                </a:solidFill>
              </a:rPr>
              <a:t> discriminants :</a:t>
            </a:r>
            <a:r>
              <a:rPr sz="1100" b="0" dirty="0">
                <a:solidFill>
                  <a:srgbClr val="0F172A"/>
                </a:solidFill>
              </a:rPr>
              <a:t>
  Le </a:t>
            </a:r>
            <a:r>
              <a:rPr sz="1100" b="0" dirty="0" err="1">
                <a:solidFill>
                  <a:srgbClr val="0F172A"/>
                </a:solidFill>
              </a:rPr>
              <a:t>modèle</a:t>
            </a:r>
            <a:r>
              <a:rPr sz="1100" b="0" dirty="0">
                <a:solidFill>
                  <a:srgbClr val="0F172A"/>
                </a:solidFill>
              </a:rPr>
              <a:t> doit </a:t>
            </a:r>
            <a:r>
              <a:rPr sz="1100" b="0" dirty="0" err="1">
                <a:solidFill>
                  <a:srgbClr val="0F172A"/>
                </a:solidFill>
              </a:rPr>
              <a:t>focaliser</a:t>
            </a:r>
            <a:r>
              <a:rPr sz="1100" b="0" dirty="0">
                <a:solidFill>
                  <a:srgbClr val="0F172A"/>
                </a:solidFill>
              </a:rPr>
              <a:t> son </a:t>
            </a:r>
            <a:r>
              <a:rPr sz="1100" b="0" dirty="0" err="1">
                <a:solidFill>
                  <a:srgbClr val="0F172A"/>
                </a:solidFill>
              </a:rPr>
              <a:t>apprentissage</a:t>
            </a:r>
            <a:r>
              <a:rPr sz="1100" b="0" dirty="0">
                <a:solidFill>
                  <a:srgbClr val="0F172A"/>
                </a:solidFill>
              </a:rPr>
              <a:t> sur des micro-</a:t>
            </a:r>
            <a:r>
              <a:rPr sz="1100" b="0" dirty="0" err="1">
                <a:solidFill>
                  <a:srgbClr val="0F172A"/>
                </a:solidFill>
              </a:rPr>
              <a:t>régions</a:t>
            </a:r>
            <a:r>
              <a:rPr sz="1100" b="0" dirty="0">
                <a:solidFill>
                  <a:srgbClr val="0F172A"/>
                </a:solidFill>
              </a:rPr>
              <a:t> </a:t>
            </a:r>
            <a:r>
              <a:rPr sz="1100" b="0" dirty="0" err="1">
                <a:solidFill>
                  <a:srgbClr val="0F172A"/>
                </a:solidFill>
              </a:rPr>
              <a:t>anatomiques</a:t>
            </a:r>
            <a:r>
              <a:rPr sz="1100" b="0" dirty="0">
                <a:solidFill>
                  <a:srgbClr val="0F172A"/>
                </a:solidFill>
              </a:rPr>
              <a:t> </a:t>
            </a:r>
            <a:r>
              <a:rPr sz="1100" b="0" dirty="0" err="1">
                <a:solidFill>
                  <a:srgbClr val="0F172A"/>
                </a:solidFill>
              </a:rPr>
              <a:t>clés</a:t>
            </a:r>
            <a:r>
              <a:rPr sz="1100" b="0" dirty="0">
                <a:solidFill>
                  <a:srgbClr val="0F172A"/>
                </a:solidFill>
              </a:rPr>
              <a:t> tout </a:t>
            </a:r>
            <a:r>
              <a:rPr sz="1100" b="0" dirty="0" err="1">
                <a:solidFill>
                  <a:srgbClr val="0F172A"/>
                </a:solidFill>
              </a:rPr>
              <a:t>en</a:t>
            </a:r>
            <a:r>
              <a:rPr sz="1100" b="0" dirty="0">
                <a:solidFill>
                  <a:srgbClr val="0F172A"/>
                </a:solidFill>
              </a:rPr>
              <a:t> ignorant le décor.</a:t>
            </a:r>
          </a:p>
          <a:p>
            <a:pPr>
              <a:lnSpc>
                <a:spcPct val="150000"/>
              </a:lnSpc>
              <a:spcAft>
                <a:spcPts val="800"/>
              </a:spcAft>
            </a:pPr>
            <a:r>
              <a:rPr sz="1150" b="1" dirty="0">
                <a:solidFill>
                  <a:srgbClr val="0F172A"/>
                </a:solidFill>
              </a:rPr>
              <a:t>Volume de données </a:t>
            </a:r>
            <a:r>
              <a:rPr sz="1150" b="1" dirty="0" err="1">
                <a:solidFill>
                  <a:srgbClr val="0F172A"/>
                </a:solidFill>
              </a:rPr>
              <a:t>modeste</a:t>
            </a:r>
            <a:r>
              <a:rPr sz="1150" b="1" dirty="0">
                <a:solidFill>
                  <a:srgbClr val="0F172A"/>
                </a:solidFill>
              </a:rPr>
              <a:t> :</a:t>
            </a:r>
            <a:r>
              <a:rPr sz="1100" b="0" dirty="0">
                <a:solidFill>
                  <a:srgbClr val="0F172A"/>
                </a:solidFill>
              </a:rPr>
              <a:t>
  Environ 30 images </a:t>
            </a:r>
            <a:r>
              <a:rPr sz="1100" b="0" dirty="0" err="1">
                <a:solidFill>
                  <a:srgbClr val="0F172A"/>
                </a:solidFill>
              </a:rPr>
              <a:t>d'entraînement</a:t>
            </a:r>
            <a:r>
              <a:rPr sz="1100" b="0" dirty="0">
                <a:solidFill>
                  <a:srgbClr val="0F172A"/>
                </a:solidFill>
              </a:rPr>
              <a:t> par </a:t>
            </a:r>
            <a:r>
              <a:rPr sz="1100" b="0" dirty="0" err="1">
                <a:solidFill>
                  <a:srgbClr val="0F172A"/>
                </a:solidFill>
              </a:rPr>
              <a:t>espèce</a:t>
            </a:r>
            <a:r>
              <a:rPr sz="1100" b="0" dirty="0">
                <a:solidFill>
                  <a:srgbClr val="0F172A"/>
                </a:solidFill>
              </a:rPr>
              <a:t> (5 094 images train au total), </a:t>
            </a:r>
            <a:r>
              <a:rPr sz="1100" b="0" dirty="0" err="1">
                <a:solidFill>
                  <a:srgbClr val="0F172A"/>
                </a:solidFill>
              </a:rPr>
              <a:t>ce</a:t>
            </a:r>
            <a:r>
              <a:rPr sz="1100" b="0" dirty="0">
                <a:solidFill>
                  <a:srgbClr val="0F172A"/>
                </a:solidFill>
              </a:rPr>
              <a:t> qui </a:t>
            </a:r>
            <a:r>
              <a:rPr sz="1100" b="0" dirty="0" err="1">
                <a:solidFill>
                  <a:srgbClr val="0F172A"/>
                </a:solidFill>
              </a:rPr>
              <a:t>constitue</a:t>
            </a:r>
            <a:r>
              <a:rPr sz="1100" b="0" dirty="0">
                <a:solidFill>
                  <a:srgbClr val="0F172A"/>
                </a:solidFill>
              </a:rPr>
              <a:t> un </a:t>
            </a:r>
            <a:r>
              <a:rPr sz="1100" b="0" dirty="0" err="1">
                <a:solidFill>
                  <a:srgbClr val="0F172A"/>
                </a:solidFill>
              </a:rPr>
              <a:t>défi</a:t>
            </a:r>
            <a:r>
              <a:rPr sz="1100" b="0" dirty="0">
                <a:solidFill>
                  <a:srgbClr val="0F172A"/>
                </a:solidFill>
              </a:rPr>
              <a:t> </a:t>
            </a:r>
            <a:r>
              <a:rPr sz="1100" b="0" dirty="0" err="1">
                <a:solidFill>
                  <a:srgbClr val="0F172A"/>
                </a:solidFill>
              </a:rPr>
              <a:t>majeur</a:t>
            </a:r>
            <a:r>
              <a:rPr sz="1100" b="0" dirty="0">
                <a:solidFill>
                  <a:srgbClr val="0F172A"/>
                </a:solidFill>
              </a:rPr>
              <a:t> pour les architectures sans a priori spatial.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46760" y="521208"/>
            <a:ext cx="10698480" cy="594360"/>
          </a:xfrm>
          <a:prstGeom prst="rect">
            <a:avLst/>
          </a:prstGeom>
          <a:noFill/>
        </p:spPr>
        <p:txBody>
          <a:bodyPr wrap="square" lIns="0" tIns="0" rIns="0" bIns="0">
            <a:spAutoFit/>
          </a:bodyPr>
          <a:lstStyle/>
          <a:p>
            <a:pPr>
              <a:defRPr sz="2300" b="1">
                <a:solidFill>
                  <a:srgbClr val="0F172A"/>
                </a:solidFill>
                <a:latin typeface="Arial"/>
              </a:defRPr>
            </a:pPr>
            <a:r>
              <a:t>2. Le Benchmark CUB-200-2011 &amp; Objectifs de l'Étude</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4/22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926632" y="1645920"/>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BENCHMARK DE RÉFÉRENCE</a:t>
            </a:r>
          </a:p>
        </p:txBody>
      </p:sp>
      <p:sp>
        <p:nvSpPr>
          <p:cNvPr id="9" name="TextBox 8"/>
          <p:cNvSpPr txBox="1"/>
          <p:nvPr/>
        </p:nvSpPr>
        <p:spPr>
          <a:xfrm>
            <a:off x="1051560" y="2103120"/>
            <a:ext cx="4663440" cy="3314433"/>
          </a:xfrm>
          <a:prstGeom prst="rect">
            <a:avLst/>
          </a:prstGeom>
          <a:noFill/>
        </p:spPr>
        <p:txBody>
          <a:bodyPr wrap="square">
            <a:spAutoFit/>
          </a:bodyPr>
          <a:lstStyle/>
          <a:p>
            <a:pPr>
              <a:lnSpc>
                <a:spcPct val="150000"/>
              </a:lnSpc>
            </a:pPr>
            <a:endParaRPr dirty="0"/>
          </a:p>
          <a:p>
            <a:pPr>
              <a:lnSpc>
                <a:spcPct val="150000"/>
              </a:lnSpc>
              <a:spcAft>
                <a:spcPts val="800"/>
              </a:spcAft>
            </a:pPr>
            <a:r>
              <a:rPr sz="1150" b="1" dirty="0">
                <a:solidFill>
                  <a:srgbClr val="0F172A"/>
                </a:solidFill>
              </a:rPr>
              <a:t>• Origine &amp; Structure :</a:t>
            </a:r>
            <a:r>
              <a:rPr sz="1100" b="0" dirty="0">
                <a:solidFill>
                  <a:srgbClr val="0F172A"/>
                </a:solidFill>
              </a:rPr>
              <a:t>
  Caltech-UCSD Birds-200-2011, benchmark de </a:t>
            </a:r>
            <a:r>
              <a:rPr sz="1100" b="0" dirty="0" err="1">
                <a:solidFill>
                  <a:srgbClr val="0F172A"/>
                </a:solidFill>
              </a:rPr>
              <a:t>référence</a:t>
            </a:r>
            <a:r>
              <a:rPr sz="1100" b="0" dirty="0">
                <a:solidFill>
                  <a:srgbClr val="0F172A"/>
                </a:solidFill>
              </a:rPr>
              <a:t> </a:t>
            </a:r>
            <a:r>
              <a:rPr sz="1100" b="0" dirty="0" err="1">
                <a:solidFill>
                  <a:srgbClr val="0F172A"/>
                </a:solidFill>
              </a:rPr>
              <a:t>internationale</a:t>
            </a:r>
            <a:r>
              <a:rPr sz="1100" b="0" dirty="0">
                <a:solidFill>
                  <a:srgbClr val="0F172A"/>
                </a:solidFill>
              </a:rPr>
              <a:t> pour la vision par </a:t>
            </a:r>
            <a:r>
              <a:rPr sz="1100" b="0" dirty="0" err="1">
                <a:solidFill>
                  <a:srgbClr val="0F172A"/>
                </a:solidFill>
              </a:rPr>
              <a:t>ordinateur</a:t>
            </a:r>
            <a:r>
              <a:rPr sz="1100" b="0" dirty="0">
                <a:solidFill>
                  <a:srgbClr val="0F172A"/>
                </a:solidFill>
              </a:rPr>
              <a:t> fine-grained.</a:t>
            </a:r>
          </a:p>
          <a:p>
            <a:pPr>
              <a:lnSpc>
                <a:spcPct val="150000"/>
              </a:lnSpc>
              <a:spcAft>
                <a:spcPts val="800"/>
              </a:spcAft>
            </a:pPr>
            <a:r>
              <a:rPr sz="1150" b="1" dirty="0">
                <a:solidFill>
                  <a:srgbClr val="0F172A"/>
                </a:solidFill>
              </a:rPr>
              <a:t>• </a:t>
            </a:r>
            <a:r>
              <a:rPr sz="1150" b="1" dirty="0" err="1">
                <a:solidFill>
                  <a:srgbClr val="0F172A"/>
                </a:solidFill>
              </a:rPr>
              <a:t>Volumétrie</a:t>
            </a:r>
            <a:r>
              <a:rPr sz="1150" b="1" dirty="0">
                <a:solidFill>
                  <a:srgbClr val="0F172A"/>
                </a:solidFill>
              </a:rPr>
              <a:t> </a:t>
            </a:r>
            <a:r>
              <a:rPr sz="1150" b="1" dirty="0" err="1">
                <a:solidFill>
                  <a:srgbClr val="0F172A"/>
                </a:solidFill>
              </a:rPr>
              <a:t>Totale</a:t>
            </a:r>
            <a:r>
              <a:rPr sz="1150" b="1" dirty="0">
                <a:solidFill>
                  <a:srgbClr val="0F172A"/>
                </a:solidFill>
              </a:rPr>
              <a:t> :</a:t>
            </a:r>
            <a:r>
              <a:rPr sz="1100" b="0" dirty="0">
                <a:solidFill>
                  <a:srgbClr val="0F172A"/>
                </a:solidFill>
              </a:rPr>
              <a:t>
  11 788 images </a:t>
            </a:r>
            <a:r>
              <a:rPr sz="1100" b="0" dirty="0" err="1">
                <a:solidFill>
                  <a:srgbClr val="0F172A"/>
                </a:solidFill>
              </a:rPr>
              <a:t>réparties</a:t>
            </a:r>
            <a:r>
              <a:rPr sz="1100" b="0" dirty="0">
                <a:solidFill>
                  <a:srgbClr val="0F172A"/>
                </a:solidFill>
              </a:rPr>
              <a:t> sur 200 </a:t>
            </a:r>
            <a:r>
              <a:rPr sz="1100" b="0" dirty="0" err="1">
                <a:solidFill>
                  <a:srgbClr val="0F172A"/>
                </a:solidFill>
              </a:rPr>
              <a:t>espèces</a:t>
            </a:r>
            <a:r>
              <a:rPr sz="1100" b="0" dirty="0">
                <a:solidFill>
                  <a:srgbClr val="0F172A"/>
                </a:solidFill>
              </a:rPr>
              <a:t> </a:t>
            </a:r>
            <a:r>
              <a:rPr sz="1100" b="0" dirty="0" err="1">
                <a:solidFill>
                  <a:srgbClr val="0F172A"/>
                </a:solidFill>
              </a:rPr>
              <a:t>d'oiseaux</a:t>
            </a:r>
            <a:r>
              <a:rPr sz="1100" b="0" dirty="0">
                <a:solidFill>
                  <a:srgbClr val="0F172A"/>
                </a:solidFill>
              </a:rPr>
              <a:t> </a:t>
            </a:r>
            <a:r>
              <a:rPr sz="1100" b="0" dirty="0" err="1">
                <a:solidFill>
                  <a:srgbClr val="0F172A"/>
                </a:solidFill>
              </a:rPr>
              <a:t>nord-américains</a:t>
            </a:r>
            <a:r>
              <a:rPr sz="1100" b="0" dirty="0">
                <a:solidFill>
                  <a:srgbClr val="0F172A"/>
                </a:solidFill>
              </a:rPr>
              <a:t> (41 à 60 images par </a:t>
            </a:r>
            <a:r>
              <a:rPr sz="1100" b="0" dirty="0" err="1">
                <a:solidFill>
                  <a:srgbClr val="0F172A"/>
                </a:solidFill>
              </a:rPr>
              <a:t>classe</a:t>
            </a:r>
            <a:r>
              <a:rPr sz="1100" b="0" dirty="0">
                <a:solidFill>
                  <a:srgbClr val="0F172A"/>
                </a:solidFill>
              </a:rPr>
              <a:t>).</a:t>
            </a:r>
          </a:p>
          <a:p>
            <a:pPr>
              <a:lnSpc>
                <a:spcPct val="150000"/>
              </a:lnSpc>
              <a:spcAft>
                <a:spcPts val="800"/>
              </a:spcAft>
            </a:pPr>
            <a:r>
              <a:rPr sz="1150" b="1" dirty="0">
                <a:solidFill>
                  <a:srgbClr val="0F172A"/>
                </a:solidFill>
              </a:rPr>
              <a:t>• Split </a:t>
            </a:r>
            <a:r>
              <a:rPr sz="1150" b="1" dirty="0" err="1">
                <a:solidFill>
                  <a:srgbClr val="0F172A"/>
                </a:solidFill>
              </a:rPr>
              <a:t>Officiel</a:t>
            </a:r>
            <a:r>
              <a:rPr sz="1150" b="1" dirty="0">
                <a:solidFill>
                  <a:srgbClr val="0F172A"/>
                </a:solidFill>
              </a:rPr>
              <a:t> :</a:t>
            </a:r>
            <a:r>
              <a:rPr sz="1100" b="0" dirty="0">
                <a:solidFill>
                  <a:srgbClr val="0F172A"/>
                </a:solidFill>
              </a:rPr>
              <a:t>
  5 994 images </a:t>
            </a:r>
            <a:r>
              <a:rPr sz="1100" b="0" dirty="0" err="1">
                <a:solidFill>
                  <a:srgbClr val="0F172A"/>
                </a:solidFill>
              </a:rPr>
              <a:t>d'entraînement</a:t>
            </a:r>
            <a:r>
              <a:rPr sz="1100" b="0" dirty="0">
                <a:solidFill>
                  <a:srgbClr val="0F172A"/>
                </a:solidFill>
              </a:rPr>
              <a:t> / 5 794 images de test (</a:t>
            </a:r>
            <a:r>
              <a:rPr sz="1100" b="0" dirty="0" err="1">
                <a:solidFill>
                  <a:srgbClr val="0F172A"/>
                </a:solidFill>
              </a:rPr>
              <a:t>évaluation</a:t>
            </a:r>
            <a:r>
              <a:rPr sz="1100" b="0" dirty="0">
                <a:solidFill>
                  <a:srgbClr val="0F172A"/>
                </a:solidFill>
              </a:rPr>
              <a:t> finale </a:t>
            </a:r>
            <a:r>
              <a:rPr sz="1100" b="0" dirty="0" err="1">
                <a:solidFill>
                  <a:srgbClr val="0F172A"/>
                </a:solidFill>
              </a:rPr>
              <a:t>standardisée</a:t>
            </a:r>
            <a:r>
              <a:rPr sz="1100" b="0" dirty="0">
                <a:solidFill>
                  <a:srgbClr val="0F172A"/>
                </a:solidFill>
              </a:rPr>
              <a:t>).</a:t>
            </a:r>
          </a:p>
        </p:txBody>
      </p:sp>
      <p:sp>
        <p:nvSpPr>
          <p:cNvPr id="10" name="Rounded Rectangle 9"/>
          <p:cNvSpPr/>
          <p:nvPr/>
        </p:nvSpPr>
        <p:spPr>
          <a:xfrm>
            <a:off x="621792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321592"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OBJECTIFS SCIENTIFIQUES</a:t>
            </a:r>
          </a:p>
        </p:txBody>
      </p:sp>
      <p:sp>
        <p:nvSpPr>
          <p:cNvPr id="12" name="TextBox 11"/>
          <p:cNvSpPr txBox="1"/>
          <p:nvPr/>
        </p:nvSpPr>
        <p:spPr>
          <a:xfrm>
            <a:off x="6446520" y="2103120"/>
            <a:ext cx="4663440" cy="3314433"/>
          </a:xfrm>
          <a:prstGeom prst="rect">
            <a:avLst/>
          </a:prstGeom>
          <a:noFill/>
        </p:spPr>
        <p:txBody>
          <a:bodyPr wrap="square">
            <a:spAutoFit/>
          </a:bodyPr>
          <a:lstStyle/>
          <a:p>
            <a:pPr>
              <a:lnSpc>
                <a:spcPct val="150000"/>
              </a:lnSpc>
            </a:pPr>
            <a:endParaRPr dirty="0"/>
          </a:p>
          <a:p>
            <a:pPr>
              <a:lnSpc>
                <a:spcPct val="150000"/>
              </a:lnSpc>
              <a:spcAft>
                <a:spcPts val="800"/>
              </a:spcAft>
            </a:pPr>
            <a:r>
              <a:rPr sz="1150" b="1" dirty="0">
                <a:solidFill>
                  <a:srgbClr val="0F172A"/>
                </a:solidFill>
              </a:rPr>
              <a:t>1. Confrontation Objective CNN vs </a:t>
            </a:r>
            <a:r>
              <a:rPr sz="1150" b="1" dirty="0" err="1">
                <a:solidFill>
                  <a:srgbClr val="0F172A"/>
                </a:solidFill>
              </a:rPr>
              <a:t>ViT</a:t>
            </a:r>
            <a:r>
              <a:rPr sz="1150" b="1" dirty="0">
                <a:solidFill>
                  <a:srgbClr val="0F172A"/>
                </a:solidFill>
              </a:rPr>
              <a:t> :</a:t>
            </a:r>
            <a:r>
              <a:rPr sz="1100" b="0" dirty="0">
                <a:solidFill>
                  <a:srgbClr val="0F172A"/>
                </a:solidFill>
              </a:rPr>
              <a:t>
  </a:t>
            </a:r>
            <a:r>
              <a:rPr sz="1100" b="0" dirty="0" err="1">
                <a:solidFill>
                  <a:srgbClr val="0F172A"/>
                </a:solidFill>
              </a:rPr>
              <a:t>Mesurer</a:t>
            </a:r>
            <a:r>
              <a:rPr sz="1100" b="0" dirty="0">
                <a:solidFill>
                  <a:srgbClr val="0F172A"/>
                </a:solidFill>
              </a:rPr>
              <a:t> </a:t>
            </a:r>
            <a:r>
              <a:rPr sz="1100" b="0" dirty="0" err="1">
                <a:solidFill>
                  <a:srgbClr val="0F172A"/>
                </a:solidFill>
              </a:rPr>
              <a:t>rigoureusement</a:t>
            </a:r>
            <a:r>
              <a:rPr sz="1100" b="0" dirty="0">
                <a:solidFill>
                  <a:srgbClr val="0F172A"/>
                </a:solidFill>
              </a:rPr>
              <a:t> les performances relatives de ResNet-50 et du Vision Transformer sur </a:t>
            </a:r>
            <a:r>
              <a:rPr sz="1100" b="0" dirty="0" err="1">
                <a:solidFill>
                  <a:srgbClr val="0F172A"/>
                </a:solidFill>
              </a:rPr>
              <a:t>ce</a:t>
            </a:r>
            <a:r>
              <a:rPr sz="1100" b="0" dirty="0">
                <a:solidFill>
                  <a:srgbClr val="0F172A"/>
                </a:solidFill>
              </a:rPr>
              <a:t> benchmark </a:t>
            </a:r>
            <a:r>
              <a:rPr sz="1100" b="0" dirty="0" err="1">
                <a:solidFill>
                  <a:srgbClr val="0F172A"/>
                </a:solidFill>
              </a:rPr>
              <a:t>exigeant</a:t>
            </a:r>
            <a:r>
              <a:rPr sz="1100" b="0" dirty="0">
                <a:solidFill>
                  <a:srgbClr val="0F172A"/>
                </a:solidFill>
              </a:rPr>
              <a:t>.</a:t>
            </a:r>
          </a:p>
          <a:p>
            <a:pPr>
              <a:lnSpc>
                <a:spcPct val="150000"/>
              </a:lnSpc>
              <a:spcAft>
                <a:spcPts val="800"/>
              </a:spcAft>
            </a:pPr>
            <a:r>
              <a:rPr sz="1150" b="1" dirty="0">
                <a:solidFill>
                  <a:srgbClr val="0F172A"/>
                </a:solidFill>
              </a:rPr>
              <a:t>2. Validation </a:t>
            </a:r>
            <a:r>
              <a:rPr sz="1150" b="1" dirty="0" err="1">
                <a:solidFill>
                  <a:srgbClr val="0F172A"/>
                </a:solidFill>
              </a:rPr>
              <a:t>Empirique</a:t>
            </a:r>
            <a:r>
              <a:rPr sz="1150" b="1" dirty="0">
                <a:solidFill>
                  <a:srgbClr val="0F172A"/>
                </a:solidFill>
              </a:rPr>
              <a:t> de </a:t>
            </a:r>
            <a:r>
              <a:rPr sz="1150" b="1" dirty="0" err="1">
                <a:solidFill>
                  <a:srgbClr val="0F172A"/>
                </a:solidFill>
              </a:rPr>
              <a:t>l'Hypothèse</a:t>
            </a:r>
            <a:r>
              <a:rPr sz="1150" b="1" dirty="0">
                <a:solidFill>
                  <a:srgbClr val="0F172A"/>
                </a:solidFill>
              </a:rPr>
              <a:t> Data-Hungry :</a:t>
            </a:r>
            <a:r>
              <a:rPr sz="1100" b="0" dirty="0">
                <a:solidFill>
                  <a:srgbClr val="0F172A"/>
                </a:solidFill>
              </a:rPr>
              <a:t>
  Quantifier comment les deux </a:t>
            </a:r>
            <a:r>
              <a:rPr sz="1100" b="0" dirty="0" err="1">
                <a:solidFill>
                  <a:srgbClr val="0F172A"/>
                </a:solidFill>
              </a:rPr>
              <a:t>paradigmes</a:t>
            </a:r>
            <a:r>
              <a:rPr sz="1100" b="0" dirty="0">
                <a:solidFill>
                  <a:srgbClr val="0F172A"/>
                </a:solidFill>
              </a:rPr>
              <a:t> </a:t>
            </a:r>
            <a:r>
              <a:rPr sz="1100" b="0" dirty="0" err="1">
                <a:solidFill>
                  <a:srgbClr val="0F172A"/>
                </a:solidFill>
              </a:rPr>
              <a:t>réagissent</a:t>
            </a:r>
            <a:r>
              <a:rPr sz="1100" b="0" dirty="0">
                <a:solidFill>
                  <a:srgbClr val="0F172A"/>
                </a:solidFill>
              </a:rPr>
              <a:t> </a:t>
            </a:r>
            <a:r>
              <a:rPr sz="1100" b="0" dirty="0" err="1">
                <a:solidFill>
                  <a:srgbClr val="0F172A"/>
                </a:solidFill>
              </a:rPr>
              <a:t>lorsque</a:t>
            </a:r>
            <a:r>
              <a:rPr sz="1100" b="0" dirty="0">
                <a:solidFill>
                  <a:srgbClr val="0F172A"/>
                </a:solidFill>
              </a:rPr>
              <a:t> </a:t>
            </a:r>
            <a:r>
              <a:rPr sz="1100" b="0" dirty="0" err="1">
                <a:solidFill>
                  <a:srgbClr val="0F172A"/>
                </a:solidFill>
              </a:rPr>
              <a:t>l'on</a:t>
            </a:r>
            <a:r>
              <a:rPr sz="1100" b="0" dirty="0">
                <a:solidFill>
                  <a:srgbClr val="0F172A"/>
                </a:solidFill>
              </a:rPr>
              <a:t> </a:t>
            </a:r>
            <a:r>
              <a:rPr sz="1100" b="0" dirty="0" err="1">
                <a:solidFill>
                  <a:srgbClr val="0F172A"/>
                </a:solidFill>
              </a:rPr>
              <a:t>réduit</a:t>
            </a:r>
            <a:r>
              <a:rPr sz="1100" b="0" dirty="0">
                <a:solidFill>
                  <a:srgbClr val="0F172A"/>
                </a:solidFill>
              </a:rPr>
              <a:t> </a:t>
            </a:r>
            <a:r>
              <a:rPr sz="1100" b="0" dirty="0" err="1">
                <a:solidFill>
                  <a:srgbClr val="0F172A"/>
                </a:solidFill>
              </a:rPr>
              <a:t>drastiquement</a:t>
            </a:r>
            <a:r>
              <a:rPr sz="1100" b="0" dirty="0">
                <a:solidFill>
                  <a:srgbClr val="0F172A"/>
                </a:solidFill>
              </a:rPr>
              <a:t> les données (10%, 25%, 50%, 100%).</a:t>
            </a:r>
          </a:p>
          <a:p>
            <a:pPr>
              <a:lnSpc>
                <a:spcPct val="150000"/>
              </a:lnSpc>
              <a:spcAft>
                <a:spcPts val="800"/>
              </a:spcAft>
            </a:pPr>
            <a:r>
              <a:rPr sz="1150" b="1" dirty="0">
                <a:solidFill>
                  <a:srgbClr val="0F172A"/>
                </a:solidFill>
              </a:rPr>
              <a:t>3. Restitution Applicative &amp; </a:t>
            </a:r>
            <a:r>
              <a:rPr sz="1150" b="1" dirty="0" err="1">
                <a:solidFill>
                  <a:srgbClr val="0F172A"/>
                </a:solidFill>
              </a:rPr>
              <a:t>Démonstrateur</a:t>
            </a:r>
            <a:r>
              <a:rPr sz="1150" b="1" dirty="0">
                <a:solidFill>
                  <a:srgbClr val="0F172A"/>
                </a:solidFill>
              </a:rPr>
              <a:t> :</a:t>
            </a:r>
            <a:r>
              <a:rPr sz="1100" b="0" dirty="0">
                <a:solidFill>
                  <a:srgbClr val="0F172A"/>
                </a:solidFill>
              </a:rPr>
              <a:t>
  </a:t>
            </a:r>
            <a:r>
              <a:rPr sz="1100" b="0" dirty="0" err="1">
                <a:solidFill>
                  <a:srgbClr val="0F172A"/>
                </a:solidFill>
              </a:rPr>
              <a:t>Fournir</a:t>
            </a:r>
            <a:r>
              <a:rPr sz="1100" b="0" dirty="0">
                <a:solidFill>
                  <a:srgbClr val="0F172A"/>
                </a:solidFill>
              </a:rPr>
              <a:t> </a:t>
            </a:r>
            <a:r>
              <a:rPr sz="1100" b="0" dirty="0" err="1">
                <a:solidFill>
                  <a:srgbClr val="0F172A"/>
                </a:solidFill>
              </a:rPr>
              <a:t>une</a:t>
            </a:r>
            <a:r>
              <a:rPr sz="1100" b="0" dirty="0">
                <a:solidFill>
                  <a:srgbClr val="0F172A"/>
                </a:solidFill>
              </a:rPr>
              <a:t> </a:t>
            </a:r>
            <a:r>
              <a:rPr sz="1100" b="0" dirty="0" err="1">
                <a:solidFill>
                  <a:srgbClr val="0F172A"/>
                </a:solidFill>
              </a:rPr>
              <a:t>plateforme</a:t>
            </a:r>
            <a:r>
              <a:rPr sz="1100" b="0" dirty="0">
                <a:solidFill>
                  <a:srgbClr val="0F172A"/>
                </a:solidFill>
              </a:rPr>
              <a:t> web </a:t>
            </a:r>
            <a:r>
              <a:rPr sz="1100" b="0" dirty="0" err="1">
                <a:solidFill>
                  <a:srgbClr val="0F172A"/>
                </a:solidFill>
              </a:rPr>
              <a:t>complète</a:t>
            </a:r>
            <a:r>
              <a:rPr sz="1100" b="0" dirty="0">
                <a:solidFill>
                  <a:srgbClr val="0F172A"/>
                </a:solidFill>
              </a:rPr>
              <a:t> avec explication </a:t>
            </a:r>
            <a:r>
              <a:rPr sz="1100" b="0" dirty="0" err="1">
                <a:solidFill>
                  <a:srgbClr val="0F172A"/>
                </a:solidFill>
              </a:rPr>
              <a:t>visuelle</a:t>
            </a:r>
            <a:r>
              <a:rPr sz="1100" b="0" dirty="0">
                <a:solidFill>
                  <a:srgbClr val="0F172A"/>
                </a:solidFill>
              </a:rPr>
              <a:t> temps </a:t>
            </a:r>
            <a:r>
              <a:rPr sz="1100" b="0" dirty="0" err="1">
                <a:solidFill>
                  <a:srgbClr val="0F172A"/>
                </a:solidFill>
              </a:rPr>
              <a:t>réel</a:t>
            </a:r>
            <a:r>
              <a:rPr sz="1100" b="0" dirty="0">
                <a:solidFill>
                  <a:srgbClr val="0F172A"/>
                </a:solidFill>
              </a:rPr>
              <a:t> par carte </a:t>
            </a:r>
            <a:r>
              <a:rPr sz="1100" b="0" dirty="0" err="1">
                <a:solidFill>
                  <a:srgbClr val="0F172A"/>
                </a:solidFill>
              </a:rPr>
              <a:t>d'attention</a:t>
            </a:r>
            <a:r>
              <a:rPr sz="1100" b="0" dirty="0">
                <a:solidFill>
                  <a:srgbClr val="0F172A"/>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3. Fondements Théoriques : CNN vs Vision Transformer</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5/22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1417320"/>
            <a:ext cx="5120640" cy="5486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508760"/>
            <a:ext cx="4754880" cy="365760"/>
          </a:xfrm>
          <a:prstGeom prst="rect">
            <a:avLst/>
          </a:prstGeom>
          <a:noFill/>
        </p:spPr>
        <p:txBody>
          <a:bodyPr wrap="none">
            <a:spAutoFit/>
          </a:bodyPr>
          <a:lstStyle/>
          <a:p>
            <a:pPr>
              <a:defRPr sz="1300" b="1">
                <a:solidFill>
                  <a:srgbClr val="FFFFFF"/>
                </a:solidFill>
              </a:defRPr>
            </a:pPr>
            <a:r>
              <a:t>Réseaux Convolutifs — ResNet-50 (CNN)</a:t>
            </a:r>
          </a:p>
        </p:txBody>
      </p:sp>
      <p:sp>
        <p:nvSpPr>
          <p:cNvPr id="10" name="TextBox 9"/>
          <p:cNvSpPr txBox="1"/>
          <p:nvPr/>
        </p:nvSpPr>
        <p:spPr>
          <a:xfrm>
            <a:off x="1082040" y="1738202"/>
            <a:ext cx="4663440" cy="3428439"/>
          </a:xfrm>
          <a:prstGeom prst="rect">
            <a:avLst/>
          </a:prstGeom>
          <a:noFill/>
        </p:spPr>
        <p:txBody>
          <a:bodyPr wrap="square">
            <a:spAutoFit/>
          </a:bodyPr>
          <a:lstStyle/>
          <a:p>
            <a:pPr>
              <a:lnSpc>
                <a:spcPct val="150000"/>
              </a:lnSpc>
            </a:pPr>
            <a:endParaRPr dirty="0"/>
          </a:p>
          <a:p>
            <a:pPr>
              <a:lnSpc>
                <a:spcPct val="150000"/>
              </a:lnSpc>
              <a:spcAft>
                <a:spcPts val="800"/>
              </a:spcAft>
            </a:pPr>
            <a:r>
              <a:rPr sz="1100" b="1" dirty="0">
                <a:solidFill>
                  <a:srgbClr val="0F172A"/>
                </a:solidFill>
              </a:rPr>
              <a:t>• </a:t>
            </a:r>
            <a:r>
              <a:rPr sz="1100" b="1" dirty="0" err="1">
                <a:solidFill>
                  <a:srgbClr val="0F172A"/>
                </a:solidFill>
              </a:rPr>
              <a:t>Biais</a:t>
            </a:r>
            <a:r>
              <a:rPr sz="1100" b="1" dirty="0">
                <a:solidFill>
                  <a:srgbClr val="0F172A"/>
                </a:solidFill>
              </a:rPr>
              <a:t> </a:t>
            </a:r>
            <a:r>
              <a:rPr sz="1100" b="1" dirty="0" err="1">
                <a:solidFill>
                  <a:srgbClr val="0F172A"/>
                </a:solidFill>
              </a:rPr>
              <a:t>Inductif</a:t>
            </a:r>
            <a:r>
              <a:rPr sz="1100" b="1" dirty="0">
                <a:solidFill>
                  <a:srgbClr val="0F172A"/>
                </a:solidFill>
              </a:rPr>
              <a:t> de </a:t>
            </a:r>
            <a:r>
              <a:rPr sz="1100" b="1" dirty="0" err="1">
                <a:solidFill>
                  <a:srgbClr val="0F172A"/>
                </a:solidFill>
              </a:rPr>
              <a:t>Localité</a:t>
            </a:r>
            <a:r>
              <a:rPr sz="1100" b="1" dirty="0">
                <a:solidFill>
                  <a:srgbClr val="0F172A"/>
                </a:solidFill>
              </a:rPr>
              <a:t> :</a:t>
            </a:r>
            <a:r>
              <a:rPr sz="1050" b="0" dirty="0">
                <a:solidFill>
                  <a:srgbClr val="0F172A"/>
                </a:solidFill>
              </a:rPr>
              <a:t>
  Les </a:t>
            </a:r>
            <a:r>
              <a:rPr sz="1050" b="0" dirty="0" err="1">
                <a:solidFill>
                  <a:srgbClr val="0F172A"/>
                </a:solidFill>
              </a:rPr>
              <a:t>filtres</a:t>
            </a:r>
            <a:r>
              <a:rPr sz="1050" b="0" dirty="0">
                <a:solidFill>
                  <a:srgbClr val="0F172A"/>
                </a:solidFill>
              </a:rPr>
              <a:t> de convolution </a:t>
            </a:r>
            <a:r>
              <a:rPr sz="1050" b="0" dirty="0" err="1">
                <a:solidFill>
                  <a:srgbClr val="0F172A"/>
                </a:solidFill>
              </a:rPr>
              <a:t>traitent</a:t>
            </a:r>
            <a:r>
              <a:rPr sz="1050" b="0" dirty="0">
                <a:solidFill>
                  <a:srgbClr val="0F172A"/>
                </a:solidFill>
              </a:rPr>
              <a:t> des </a:t>
            </a:r>
            <a:r>
              <a:rPr sz="1050" b="0" dirty="0" err="1">
                <a:solidFill>
                  <a:srgbClr val="0F172A"/>
                </a:solidFill>
              </a:rPr>
              <a:t>voisinages</a:t>
            </a:r>
            <a:r>
              <a:rPr sz="1050" b="0" dirty="0">
                <a:solidFill>
                  <a:srgbClr val="0F172A"/>
                </a:solidFill>
              </a:rPr>
              <a:t> de pixels </a:t>
            </a:r>
            <a:r>
              <a:rPr sz="1050" b="0" dirty="0" err="1">
                <a:solidFill>
                  <a:srgbClr val="0F172A"/>
                </a:solidFill>
              </a:rPr>
              <a:t>réduits</a:t>
            </a:r>
            <a:r>
              <a:rPr sz="1050" b="0" dirty="0">
                <a:solidFill>
                  <a:srgbClr val="0F172A"/>
                </a:solidFill>
              </a:rPr>
              <a:t> (ex. 3×3, 7×7).</a:t>
            </a:r>
          </a:p>
          <a:p>
            <a:pPr>
              <a:lnSpc>
                <a:spcPct val="150000"/>
              </a:lnSpc>
              <a:spcAft>
                <a:spcPts val="800"/>
              </a:spcAft>
            </a:pPr>
            <a:r>
              <a:rPr sz="1100" b="1" dirty="0">
                <a:solidFill>
                  <a:srgbClr val="0F172A"/>
                </a:solidFill>
              </a:rPr>
              <a:t>• Invariance par Translation :</a:t>
            </a:r>
            <a:r>
              <a:rPr sz="1050" b="0" dirty="0">
                <a:solidFill>
                  <a:srgbClr val="0F172A"/>
                </a:solidFill>
              </a:rPr>
              <a:t>
  Reconnaissance d'un motif </a:t>
            </a:r>
            <a:r>
              <a:rPr sz="1050" b="0" dirty="0" err="1">
                <a:solidFill>
                  <a:srgbClr val="0F172A"/>
                </a:solidFill>
              </a:rPr>
              <a:t>indépendamment</a:t>
            </a:r>
            <a:r>
              <a:rPr sz="1050" b="0" dirty="0">
                <a:solidFill>
                  <a:srgbClr val="0F172A"/>
                </a:solidFill>
              </a:rPr>
              <a:t> de </a:t>
            </a:r>
            <a:r>
              <a:rPr sz="1050" b="0" dirty="0" err="1">
                <a:solidFill>
                  <a:srgbClr val="0F172A"/>
                </a:solidFill>
              </a:rPr>
              <a:t>sa</a:t>
            </a:r>
            <a:r>
              <a:rPr sz="1050" b="0" dirty="0">
                <a:solidFill>
                  <a:srgbClr val="0F172A"/>
                </a:solidFill>
              </a:rPr>
              <a:t> position dans </a:t>
            </a:r>
            <a:r>
              <a:rPr sz="1050" b="0" dirty="0" err="1">
                <a:solidFill>
                  <a:srgbClr val="0F172A"/>
                </a:solidFill>
              </a:rPr>
              <a:t>l'image</a:t>
            </a:r>
            <a:r>
              <a:rPr sz="1050" b="0" dirty="0">
                <a:solidFill>
                  <a:srgbClr val="0F172A"/>
                </a:solidFill>
              </a:rPr>
              <a:t>.</a:t>
            </a:r>
          </a:p>
          <a:p>
            <a:pPr>
              <a:lnSpc>
                <a:spcPct val="150000"/>
              </a:lnSpc>
              <a:spcAft>
                <a:spcPts val="800"/>
              </a:spcAft>
            </a:pPr>
            <a:r>
              <a:rPr sz="1100" b="1" dirty="0">
                <a:solidFill>
                  <a:srgbClr val="0F172A"/>
                </a:solidFill>
              </a:rPr>
              <a:t>• </a:t>
            </a:r>
            <a:r>
              <a:rPr sz="1100" b="1" dirty="0" err="1">
                <a:solidFill>
                  <a:srgbClr val="0F172A"/>
                </a:solidFill>
              </a:rPr>
              <a:t>Hiérarchie</a:t>
            </a:r>
            <a:r>
              <a:rPr sz="1100" b="1" dirty="0">
                <a:solidFill>
                  <a:srgbClr val="0F172A"/>
                </a:solidFill>
              </a:rPr>
              <a:t> </a:t>
            </a:r>
            <a:r>
              <a:rPr sz="1100" b="1" dirty="0" err="1">
                <a:solidFill>
                  <a:srgbClr val="0F172A"/>
                </a:solidFill>
              </a:rPr>
              <a:t>Spatiale</a:t>
            </a:r>
            <a:r>
              <a:rPr sz="1100" b="1" dirty="0">
                <a:solidFill>
                  <a:srgbClr val="0F172A"/>
                </a:solidFill>
              </a:rPr>
              <a:t> :</a:t>
            </a:r>
            <a:r>
              <a:rPr sz="1050" b="0" dirty="0">
                <a:solidFill>
                  <a:srgbClr val="0F172A"/>
                </a:solidFill>
              </a:rPr>
              <a:t>
  Des contours simples aux textures, </a:t>
            </a:r>
            <a:r>
              <a:rPr sz="1050" b="0" dirty="0" err="1">
                <a:solidFill>
                  <a:srgbClr val="0F172A"/>
                </a:solidFill>
              </a:rPr>
              <a:t>puis</a:t>
            </a:r>
            <a:r>
              <a:rPr sz="1050" b="0" dirty="0">
                <a:solidFill>
                  <a:srgbClr val="0F172A"/>
                </a:solidFill>
              </a:rPr>
              <a:t> aux parties </a:t>
            </a:r>
            <a:r>
              <a:rPr sz="1050" b="0" dirty="0" err="1">
                <a:solidFill>
                  <a:srgbClr val="0F172A"/>
                </a:solidFill>
              </a:rPr>
              <a:t>d'objets</a:t>
            </a:r>
            <a:r>
              <a:rPr sz="1050" b="0" dirty="0">
                <a:solidFill>
                  <a:srgbClr val="0F172A"/>
                </a:solidFill>
              </a:rPr>
              <a:t> complexes.</a:t>
            </a:r>
          </a:p>
          <a:p>
            <a:pPr>
              <a:lnSpc>
                <a:spcPct val="150000"/>
              </a:lnSpc>
              <a:spcAft>
                <a:spcPts val="800"/>
              </a:spcAft>
            </a:pPr>
            <a:r>
              <a:rPr sz="1100" b="1" dirty="0">
                <a:solidFill>
                  <a:srgbClr val="0F172A"/>
                </a:solidFill>
              </a:rPr>
              <a:t>• </a:t>
            </a:r>
            <a:r>
              <a:rPr sz="1100" b="1" dirty="0" err="1">
                <a:solidFill>
                  <a:srgbClr val="0F172A"/>
                </a:solidFill>
              </a:rPr>
              <a:t>Efficacité</a:t>
            </a:r>
            <a:r>
              <a:rPr sz="1100" b="1" dirty="0">
                <a:solidFill>
                  <a:srgbClr val="0F172A"/>
                </a:solidFill>
              </a:rPr>
              <a:t> </a:t>
            </a:r>
            <a:r>
              <a:rPr sz="1100" b="1" dirty="0" err="1">
                <a:solidFill>
                  <a:srgbClr val="0F172A"/>
                </a:solidFill>
              </a:rPr>
              <a:t>Échantillonnale</a:t>
            </a:r>
            <a:r>
              <a:rPr sz="1100" b="1" dirty="0">
                <a:solidFill>
                  <a:srgbClr val="0F172A"/>
                </a:solidFill>
              </a:rPr>
              <a:t> :</a:t>
            </a:r>
            <a:r>
              <a:rPr sz="1050" b="0" dirty="0">
                <a:solidFill>
                  <a:srgbClr val="0F172A"/>
                </a:solidFill>
              </a:rPr>
              <a:t>
  </a:t>
            </a:r>
            <a:r>
              <a:rPr sz="1050" b="0" dirty="0" err="1">
                <a:solidFill>
                  <a:srgbClr val="0F172A"/>
                </a:solidFill>
              </a:rPr>
              <a:t>Apprend</a:t>
            </a:r>
            <a:r>
              <a:rPr sz="1050" b="0" dirty="0">
                <a:solidFill>
                  <a:srgbClr val="0F172A"/>
                </a:solidFill>
              </a:rPr>
              <a:t> </a:t>
            </a:r>
            <a:r>
              <a:rPr sz="1050" b="0" dirty="0" err="1">
                <a:solidFill>
                  <a:srgbClr val="0F172A"/>
                </a:solidFill>
              </a:rPr>
              <a:t>efficacement</a:t>
            </a:r>
            <a:r>
              <a:rPr sz="1050" b="0" dirty="0">
                <a:solidFill>
                  <a:srgbClr val="0F172A"/>
                </a:solidFill>
              </a:rPr>
              <a:t> </a:t>
            </a:r>
            <a:r>
              <a:rPr sz="1050" b="0" dirty="0" err="1">
                <a:solidFill>
                  <a:srgbClr val="0F172A"/>
                </a:solidFill>
              </a:rPr>
              <a:t>même</a:t>
            </a:r>
            <a:r>
              <a:rPr sz="1050" b="0" dirty="0">
                <a:solidFill>
                  <a:srgbClr val="0F172A"/>
                </a:solidFill>
              </a:rPr>
              <a:t> avec peu </a:t>
            </a:r>
            <a:r>
              <a:rPr sz="1050" b="0" dirty="0" err="1">
                <a:solidFill>
                  <a:srgbClr val="0F172A"/>
                </a:solidFill>
              </a:rPr>
              <a:t>d'exemples</a:t>
            </a:r>
            <a:r>
              <a:rPr sz="1050" b="0" dirty="0">
                <a:solidFill>
                  <a:srgbClr val="0F172A"/>
                </a:solidFill>
              </a:rPr>
              <a:t> </a:t>
            </a:r>
            <a:r>
              <a:rPr sz="1050" b="0" dirty="0" err="1">
                <a:solidFill>
                  <a:srgbClr val="0F172A"/>
                </a:solidFill>
              </a:rPr>
              <a:t>d'entraînement</a:t>
            </a:r>
            <a:r>
              <a:rPr sz="1050" b="0" dirty="0">
                <a:solidFill>
                  <a:srgbClr val="0F172A"/>
                </a:solidFill>
              </a:rPr>
              <a:t> grâce à </a:t>
            </a:r>
            <a:r>
              <a:rPr sz="1050" b="0" dirty="0" err="1">
                <a:solidFill>
                  <a:srgbClr val="0F172A"/>
                </a:solidFill>
              </a:rPr>
              <a:t>ses</a:t>
            </a:r>
            <a:r>
              <a:rPr sz="1050" b="0" dirty="0">
                <a:solidFill>
                  <a:srgbClr val="0F172A"/>
                </a:solidFill>
              </a:rPr>
              <a:t> </a:t>
            </a:r>
            <a:r>
              <a:rPr sz="1050" b="0" dirty="0" err="1">
                <a:solidFill>
                  <a:srgbClr val="0F172A"/>
                </a:solidFill>
              </a:rPr>
              <a:t>contraintes</a:t>
            </a:r>
            <a:r>
              <a:rPr sz="1050" b="0" dirty="0">
                <a:solidFill>
                  <a:srgbClr val="0F172A"/>
                </a:solidFill>
              </a:rPr>
              <a:t> </a:t>
            </a:r>
            <a:r>
              <a:rPr sz="1050" b="0" dirty="0" err="1">
                <a:solidFill>
                  <a:srgbClr val="0F172A"/>
                </a:solidFill>
              </a:rPr>
              <a:t>structurelles</a:t>
            </a:r>
            <a:r>
              <a:rPr sz="1050" b="0" dirty="0">
                <a:solidFill>
                  <a:srgbClr val="0F172A"/>
                </a:solidFill>
              </a:rPr>
              <a:t> fortes.</a:t>
            </a:r>
          </a:p>
        </p:txBody>
      </p:sp>
      <p:sp>
        <p:nvSpPr>
          <p:cNvPr id="11" name="Rounded Rectangle 10"/>
          <p:cNvSpPr/>
          <p:nvPr/>
        </p:nvSpPr>
        <p:spPr>
          <a:xfrm>
            <a:off x="621792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417320"/>
            <a:ext cx="512064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508760"/>
            <a:ext cx="4754880" cy="365760"/>
          </a:xfrm>
          <a:prstGeom prst="rect">
            <a:avLst/>
          </a:prstGeom>
          <a:noFill/>
        </p:spPr>
        <p:txBody>
          <a:bodyPr wrap="none">
            <a:spAutoFit/>
          </a:bodyPr>
          <a:lstStyle/>
          <a:p>
            <a:pPr>
              <a:defRPr sz="1300" b="1">
                <a:solidFill>
                  <a:srgbClr val="FFFFFF"/>
                </a:solidFill>
              </a:defRPr>
            </a:pPr>
            <a:r>
              <a:t>Vision Transformers — ViT (Self-Attention)</a:t>
            </a:r>
          </a:p>
        </p:txBody>
      </p:sp>
      <p:sp>
        <p:nvSpPr>
          <p:cNvPr id="14" name="TextBox 13"/>
          <p:cNvSpPr txBox="1"/>
          <p:nvPr/>
        </p:nvSpPr>
        <p:spPr>
          <a:xfrm>
            <a:off x="6446520" y="1697048"/>
            <a:ext cx="4663440" cy="3913187"/>
          </a:xfrm>
          <a:prstGeom prst="rect">
            <a:avLst/>
          </a:prstGeom>
          <a:noFill/>
        </p:spPr>
        <p:txBody>
          <a:bodyPr wrap="square">
            <a:spAutoFit/>
          </a:bodyPr>
          <a:lstStyle/>
          <a:p>
            <a:pPr>
              <a:lnSpc>
                <a:spcPct val="150000"/>
              </a:lnSpc>
            </a:pPr>
            <a:endParaRPr dirty="0"/>
          </a:p>
          <a:p>
            <a:pPr>
              <a:lnSpc>
                <a:spcPct val="150000"/>
              </a:lnSpc>
              <a:spcAft>
                <a:spcPts val="800"/>
              </a:spcAft>
            </a:pPr>
            <a:r>
              <a:rPr sz="1100" b="1" dirty="0">
                <a:solidFill>
                  <a:srgbClr val="0F172A"/>
                </a:solidFill>
              </a:rPr>
              <a:t>• </a:t>
            </a:r>
            <a:r>
              <a:rPr sz="1100" b="1" dirty="0" err="1">
                <a:solidFill>
                  <a:srgbClr val="0F172A"/>
                </a:solidFill>
              </a:rPr>
              <a:t>Découpage</a:t>
            </a:r>
            <a:r>
              <a:rPr sz="1100" b="1" dirty="0">
                <a:solidFill>
                  <a:srgbClr val="0F172A"/>
                </a:solidFill>
              </a:rPr>
              <a:t> </a:t>
            </a:r>
            <a:r>
              <a:rPr sz="1100" b="1" dirty="0" err="1">
                <a:solidFill>
                  <a:srgbClr val="0F172A"/>
                </a:solidFill>
              </a:rPr>
              <a:t>en</a:t>
            </a:r>
            <a:r>
              <a:rPr sz="1100" b="1" dirty="0">
                <a:solidFill>
                  <a:srgbClr val="0F172A"/>
                </a:solidFill>
              </a:rPr>
              <a:t> </a:t>
            </a:r>
            <a:r>
              <a:rPr sz="1100" b="1" dirty="0" err="1">
                <a:solidFill>
                  <a:srgbClr val="0F172A"/>
                </a:solidFill>
              </a:rPr>
              <a:t>Séquence</a:t>
            </a:r>
            <a:r>
              <a:rPr sz="1100" b="1" dirty="0">
                <a:solidFill>
                  <a:srgbClr val="0F172A"/>
                </a:solidFill>
              </a:rPr>
              <a:t> de </a:t>
            </a:r>
            <a:r>
              <a:rPr sz="1100" b="1" dirty="0" err="1">
                <a:solidFill>
                  <a:srgbClr val="0F172A"/>
                </a:solidFill>
              </a:rPr>
              <a:t>Patchs</a:t>
            </a:r>
            <a:r>
              <a:rPr sz="1100" b="1" dirty="0">
                <a:solidFill>
                  <a:srgbClr val="0F172A"/>
                </a:solidFill>
              </a:rPr>
              <a:t> :</a:t>
            </a:r>
            <a:r>
              <a:rPr sz="1050" b="0" dirty="0">
                <a:solidFill>
                  <a:srgbClr val="0F172A"/>
                </a:solidFill>
              </a:rPr>
              <a:t>
  </a:t>
            </a:r>
            <a:r>
              <a:rPr sz="1050" b="0" dirty="0" err="1">
                <a:solidFill>
                  <a:srgbClr val="0F172A"/>
                </a:solidFill>
              </a:rPr>
              <a:t>L'image</a:t>
            </a:r>
            <a:r>
              <a:rPr sz="1050" b="0" dirty="0">
                <a:solidFill>
                  <a:srgbClr val="0F172A"/>
                </a:solidFill>
              </a:rPr>
              <a:t> 2D est </a:t>
            </a:r>
            <a:r>
              <a:rPr sz="1050" b="0" dirty="0" err="1">
                <a:solidFill>
                  <a:srgbClr val="0F172A"/>
                </a:solidFill>
              </a:rPr>
              <a:t>découpée</a:t>
            </a:r>
            <a:r>
              <a:rPr sz="1050" b="0" dirty="0">
                <a:solidFill>
                  <a:srgbClr val="0F172A"/>
                </a:solidFill>
              </a:rPr>
              <a:t> </a:t>
            </a:r>
            <a:r>
              <a:rPr sz="1050" b="0" dirty="0" err="1">
                <a:solidFill>
                  <a:srgbClr val="0F172A"/>
                </a:solidFill>
              </a:rPr>
              <a:t>en</a:t>
            </a:r>
            <a:r>
              <a:rPr sz="1050" b="0" dirty="0">
                <a:solidFill>
                  <a:srgbClr val="0F172A"/>
                </a:solidFill>
              </a:rPr>
              <a:t> </a:t>
            </a:r>
            <a:r>
              <a:rPr sz="1050" b="0" dirty="0" err="1">
                <a:solidFill>
                  <a:srgbClr val="0F172A"/>
                </a:solidFill>
              </a:rPr>
              <a:t>patchs</a:t>
            </a:r>
            <a:r>
              <a:rPr sz="1050" b="0" dirty="0">
                <a:solidFill>
                  <a:srgbClr val="0F172A"/>
                </a:solidFill>
              </a:rPr>
              <a:t> 16×16 </a:t>
            </a:r>
            <a:r>
              <a:rPr sz="1050" b="0" dirty="0" err="1">
                <a:solidFill>
                  <a:srgbClr val="0F172A"/>
                </a:solidFill>
              </a:rPr>
              <a:t>ou</a:t>
            </a:r>
            <a:r>
              <a:rPr sz="1050" b="0" dirty="0">
                <a:solidFill>
                  <a:srgbClr val="0F172A"/>
                </a:solidFill>
              </a:rPr>
              <a:t> 32×32 </a:t>
            </a:r>
            <a:r>
              <a:rPr sz="1050" b="0" dirty="0" err="1">
                <a:solidFill>
                  <a:srgbClr val="0F172A"/>
                </a:solidFill>
              </a:rPr>
              <a:t>projetés</a:t>
            </a:r>
            <a:r>
              <a:rPr sz="1050" b="0" dirty="0">
                <a:solidFill>
                  <a:srgbClr val="0F172A"/>
                </a:solidFill>
              </a:rPr>
              <a:t> </a:t>
            </a:r>
            <a:r>
              <a:rPr sz="1050" b="0" dirty="0" err="1">
                <a:solidFill>
                  <a:srgbClr val="0F172A"/>
                </a:solidFill>
              </a:rPr>
              <a:t>linéairement</a:t>
            </a:r>
            <a:r>
              <a:rPr sz="1050" b="0" dirty="0">
                <a:solidFill>
                  <a:srgbClr val="0F172A"/>
                </a:solidFill>
              </a:rPr>
              <a:t> (Tokens).</a:t>
            </a:r>
          </a:p>
          <a:p>
            <a:pPr>
              <a:lnSpc>
                <a:spcPct val="150000"/>
              </a:lnSpc>
              <a:spcAft>
                <a:spcPts val="800"/>
              </a:spcAft>
            </a:pPr>
            <a:r>
              <a:rPr sz="1100" b="1" dirty="0">
                <a:solidFill>
                  <a:srgbClr val="0F172A"/>
                </a:solidFill>
              </a:rPr>
              <a:t>• Self-Attention Multi-</a:t>
            </a:r>
            <a:r>
              <a:rPr sz="1100" b="1" dirty="0" err="1">
                <a:solidFill>
                  <a:srgbClr val="0F172A"/>
                </a:solidFill>
              </a:rPr>
              <a:t>Têtes</a:t>
            </a:r>
            <a:r>
              <a:rPr sz="1100" b="1" dirty="0">
                <a:solidFill>
                  <a:srgbClr val="0F172A"/>
                </a:solidFill>
              </a:rPr>
              <a:t> </a:t>
            </a:r>
            <a:r>
              <a:rPr sz="1100" b="1" dirty="0" err="1">
                <a:solidFill>
                  <a:srgbClr val="0F172A"/>
                </a:solidFill>
              </a:rPr>
              <a:t>Globale</a:t>
            </a:r>
            <a:r>
              <a:rPr sz="1100" b="1" dirty="0">
                <a:solidFill>
                  <a:srgbClr val="0F172A"/>
                </a:solidFill>
              </a:rPr>
              <a:t> :</a:t>
            </a:r>
            <a:r>
              <a:rPr sz="1050" b="0" dirty="0">
                <a:solidFill>
                  <a:srgbClr val="0F172A"/>
                </a:solidFill>
              </a:rPr>
              <a:t>
  </a:t>
            </a:r>
            <a:r>
              <a:rPr sz="1050" b="0" dirty="0" err="1">
                <a:solidFill>
                  <a:srgbClr val="0F172A"/>
                </a:solidFill>
              </a:rPr>
              <a:t>Chaque</a:t>
            </a:r>
            <a:r>
              <a:rPr sz="1050" b="0" dirty="0">
                <a:solidFill>
                  <a:srgbClr val="0F172A"/>
                </a:solidFill>
              </a:rPr>
              <a:t> patch </a:t>
            </a:r>
            <a:r>
              <a:rPr sz="1050" b="0" dirty="0" err="1">
                <a:solidFill>
                  <a:srgbClr val="0F172A"/>
                </a:solidFill>
              </a:rPr>
              <a:t>interagit</a:t>
            </a:r>
            <a:r>
              <a:rPr sz="1050" b="0" dirty="0">
                <a:solidFill>
                  <a:srgbClr val="0F172A"/>
                </a:solidFill>
              </a:rPr>
              <a:t> </a:t>
            </a:r>
            <a:r>
              <a:rPr sz="1050" b="0" dirty="0" err="1">
                <a:solidFill>
                  <a:srgbClr val="0F172A"/>
                </a:solidFill>
              </a:rPr>
              <a:t>directement</a:t>
            </a:r>
            <a:r>
              <a:rPr sz="1050" b="0" dirty="0">
                <a:solidFill>
                  <a:srgbClr val="0F172A"/>
                </a:solidFill>
              </a:rPr>
              <a:t> avec </a:t>
            </a:r>
            <a:r>
              <a:rPr sz="1050" b="0" dirty="0" err="1">
                <a:solidFill>
                  <a:srgbClr val="0F172A"/>
                </a:solidFill>
              </a:rPr>
              <a:t>tous</a:t>
            </a:r>
            <a:r>
              <a:rPr sz="1050" b="0" dirty="0">
                <a:solidFill>
                  <a:srgbClr val="0F172A"/>
                </a:solidFill>
              </a:rPr>
              <a:t> les </a:t>
            </a:r>
            <a:r>
              <a:rPr sz="1050" b="0" dirty="0" err="1">
                <a:solidFill>
                  <a:srgbClr val="0F172A"/>
                </a:solidFill>
              </a:rPr>
              <a:t>autres</a:t>
            </a:r>
            <a:r>
              <a:rPr sz="1050" b="0" dirty="0">
                <a:solidFill>
                  <a:srgbClr val="0F172A"/>
                </a:solidFill>
              </a:rPr>
              <a:t> </a:t>
            </a:r>
            <a:r>
              <a:rPr sz="1050" b="0" dirty="0" err="1">
                <a:solidFill>
                  <a:srgbClr val="0F172A"/>
                </a:solidFill>
              </a:rPr>
              <a:t>dès</a:t>
            </a:r>
            <a:r>
              <a:rPr sz="1050" b="0" dirty="0">
                <a:solidFill>
                  <a:srgbClr val="0F172A"/>
                </a:solidFill>
              </a:rPr>
              <a:t> la première couche.</a:t>
            </a:r>
          </a:p>
          <a:p>
            <a:pPr>
              <a:lnSpc>
                <a:spcPct val="150000"/>
              </a:lnSpc>
              <a:spcAft>
                <a:spcPts val="800"/>
              </a:spcAft>
            </a:pPr>
            <a:r>
              <a:rPr sz="1100" b="1" dirty="0">
                <a:solidFill>
                  <a:srgbClr val="0F172A"/>
                </a:solidFill>
              </a:rPr>
              <a:t>• Absence de </a:t>
            </a:r>
            <a:r>
              <a:rPr sz="1100" b="1" dirty="0" err="1">
                <a:solidFill>
                  <a:srgbClr val="0F172A"/>
                </a:solidFill>
              </a:rPr>
              <a:t>Biais</a:t>
            </a:r>
            <a:r>
              <a:rPr sz="1100" b="1" dirty="0">
                <a:solidFill>
                  <a:srgbClr val="0F172A"/>
                </a:solidFill>
              </a:rPr>
              <a:t> </a:t>
            </a:r>
            <a:r>
              <a:rPr sz="1100" b="1" dirty="0" err="1">
                <a:solidFill>
                  <a:srgbClr val="0F172A"/>
                </a:solidFill>
              </a:rPr>
              <a:t>Inductif</a:t>
            </a:r>
            <a:r>
              <a:rPr sz="1100" b="1" dirty="0">
                <a:solidFill>
                  <a:srgbClr val="0F172A"/>
                </a:solidFill>
              </a:rPr>
              <a:t> Spatial :</a:t>
            </a:r>
            <a:r>
              <a:rPr sz="1050" b="0" dirty="0">
                <a:solidFill>
                  <a:srgbClr val="0F172A"/>
                </a:solidFill>
              </a:rPr>
              <a:t>
  Le </a:t>
            </a:r>
            <a:r>
              <a:rPr sz="1050" b="0" dirty="0" err="1">
                <a:solidFill>
                  <a:srgbClr val="0F172A"/>
                </a:solidFill>
              </a:rPr>
              <a:t>modèle</a:t>
            </a:r>
            <a:r>
              <a:rPr sz="1050" b="0" dirty="0">
                <a:solidFill>
                  <a:srgbClr val="0F172A"/>
                </a:solidFill>
              </a:rPr>
              <a:t> doit </a:t>
            </a:r>
            <a:r>
              <a:rPr sz="1050" b="0" dirty="0" err="1">
                <a:solidFill>
                  <a:srgbClr val="0F172A"/>
                </a:solidFill>
              </a:rPr>
              <a:t>apprendre</a:t>
            </a:r>
            <a:r>
              <a:rPr sz="1050" b="0" dirty="0">
                <a:solidFill>
                  <a:srgbClr val="0F172A"/>
                </a:solidFill>
              </a:rPr>
              <a:t> </a:t>
            </a:r>
            <a:r>
              <a:rPr sz="1050" b="0" dirty="0" err="1">
                <a:solidFill>
                  <a:srgbClr val="0F172A"/>
                </a:solidFill>
              </a:rPr>
              <a:t>lui-même</a:t>
            </a:r>
            <a:r>
              <a:rPr sz="1050" b="0" dirty="0">
                <a:solidFill>
                  <a:srgbClr val="0F172A"/>
                </a:solidFill>
              </a:rPr>
              <a:t> la structure 2D via les positional embeddings.</a:t>
            </a:r>
          </a:p>
          <a:p>
            <a:pPr>
              <a:lnSpc>
                <a:spcPct val="150000"/>
              </a:lnSpc>
              <a:spcAft>
                <a:spcPts val="800"/>
              </a:spcAft>
            </a:pPr>
            <a:r>
              <a:rPr sz="1100" b="1" dirty="0">
                <a:solidFill>
                  <a:srgbClr val="0F172A"/>
                </a:solidFill>
              </a:rPr>
              <a:t>• </a:t>
            </a:r>
            <a:r>
              <a:rPr sz="1100" b="1" dirty="0" err="1">
                <a:solidFill>
                  <a:srgbClr val="0F172A"/>
                </a:solidFill>
              </a:rPr>
              <a:t>Comportement</a:t>
            </a:r>
            <a:r>
              <a:rPr sz="1100" b="1" dirty="0">
                <a:solidFill>
                  <a:srgbClr val="0F172A"/>
                </a:solidFill>
              </a:rPr>
              <a:t> « Data-Hungry » :</a:t>
            </a:r>
            <a:r>
              <a:rPr sz="1050" b="0" dirty="0">
                <a:solidFill>
                  <a:srgbClr val="0F172A"/>
                </a:solidFill>
              </a:rPr>
              <a:t>
  Exige </a:t>
            </a:r>
            <a:r>
              <a:rPr sz="1050" b="0" dirty="0" err="1">
                <a:solidFill>
                  <a:srgbClr val="0F172A"/>
                </a:solidFill>
              </a:rPr>
              <a:t>d'immenses</a:t>
            </a:r>
            <a:r>
              <a:rPr sz="1050" b="0" dirty="0">
                <a:solidFill>
                  <a:srgbClr val="0F172A"/>
                </a:solidFill>
              </a:rPr>
              <a:t> corpus (ImageNet, JFT-300M) pour structurer </a:t>
            </a:r>
            <a:r>
              <a:rPr sz="1050" b="0" dirty="0" err="1">
                <a:solidFill>
                  <a:srgbClr val="0F172A"/>
                </a:solidFill>
              </a:rPr>
              <a:t>ses</a:t>
            </a:r>
            <a:r>
              <a:rPr sz="1050" b="0" dirty="0">
                <a:solidFill>
                  <a:srgbClr val="0F172A"/>
                </a:solidFill>
              </a:rPr>
              <a:t> relations </a:t>
            </a:r>
            <a:r>
              <a:rPr sz="1050" b="0" dirty="0" err="1">
                <a:solidFill>
                  <a:srgbClr val="0F172A"/>
                </a:solidFill>
              </a:rPr>
              <a:t>d'attention</a:t>
            </a:r>
            <a:r>
              <a:rPr sz="1050" b="0" dirty="0">
                <a:solidFill>
                  <a:srgbClr val="0F172A"/>
                </a:solidFill>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4. Architecture Globale du Projet &amp; Data-Flow End-to-End</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6/22</a:t>
            </a:r>
          </a:p>
        </p:txBody>
      </p:sp>
      <p:sp>
        <p:nvSpPr>
          <p:cNvPr id="7" name="Rounded Rectangle 6"/>
          <p:cNvSpPr/>
          <p:nvPr/>
        </p:nvSpPr>
        <p:spPr>
          <a:xfrm>
            <a:off x="822960" y="1417320"/>
            <a:ext cx="251460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1417320"/>
            <a:ext cx="2514600" cy="6858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26262" y="1481328"/>
            <a:ext cx="1107996" cy="532518"/>
          </a:xfrm>
          <a:prstGeom prst="rect">
            <a:avLst/>
          </a:prstGeom>
          <a:noFill/>
        </p:spPr>
        <p:txBody>
          <a:bodyPr wrap="none">
            <a:spAutoFit/>
          </a:bodyPr>
          <a:lstStyle/>
          <a:p>
            <a:pPr algn="ctr">
              <a:lnSpc>
                <a:spcPct val="150000"/>
              </a:lnSpc>
              <a:defRPr sz="1100" b="1">
                <a:solidFill>
                  <a:srgbClr val="FFFFFF"/>
                </a:solidFill>
              </a:defRPr>
            </a:pPr>
            <a:r>
              <a:rPr dirty="0"/>
              <a:t>1. Pipeline Data</a:t>
            </a:r>
          </a:p>
          <a:p>
            <a:pPr algn="ctr">
              <a:lnSpc>
                <a:spcPct val="150000"/>
              </a:lnSpc>
              <a:defRPr sz="900">
                <a:solidFill>
                  <a:srgbClr val="E2E8F0"/>
                </a:solidFill>
              </a:defRPr>
            </a:pPr>
            <a:r>
              <a:rPr dirty="0"/>
              <a:t>CUB-200-2011</a:t>
            </a:r>
          </a:p>
        </p:txBody>
      </p:sp>
      <p:sp>
        <p:nvSpPr>
          <p:cNvPr id="10" name="TextBox 9"/>
          <p:cNvSpPr txBox="1"/>
          <p:nvPr/>
        </p:nvSpPr>
        <p:spPr>
          <a:xfrm>
            <a:off x="960120" y="2240280"/>
            <a:ext cx="2240280" cy="1683089"/>
          </a:xfrm>
          <a:prstGeom prst="rect">
            <a:avLst/>
          </a:prstGeom>
          <a:noFill/>
        </p:spPr>
        <p:txBody>
          <a:bodyPr wrap="square">
            <a:spAutoFit/>
          </a:bodyPr>
          <a:lstStyle/>
          <a:p>
            <a:pPr>
              <a:lnSpc>
                <a:spcPct val="150000"/>
              </a:lnSpc>
            </a:pPr>
            <a:endParaRPr dirty="0"/>
          </a:p>
          <a:p>
            <a:pPr>
              <a:lnSpc>
                <a:spcPct val="150000"/>
              </a:lnSpc>
              <a:spcAft>
                <a:spcPts val="600"/>
              </a:spcAft>
              <a:defRPr sz="1050">
                <a:solidFill>
                  <a:srgbClr val="0F172A"/>
                </a:solidFill>
              </a:defRPr>
            </a:pPr>
            <a:r>
              <a:rPr dirty="0"/>
              <a:t>• </a:t>
            </a:r>
            <a:r>
              <a:rPr dirty="0" err="1"/>
              <a:t>Téléchargement</a:t>
            </a:r>
            <a:r>
              <a:rPr dirty="0"/>
              <a:t> &amp; </a:t>
            </a:r>
            <a:r>
              <a:rPr dirty="0" err="1"/>
              <a:t>intégrité</a:t>
            </a:r>
            <a:endParaRPr dirty="0"/>
          </a:p>
          <a:p>
            <a:pPr>
              <a:lnSpc>
                <a:spcPct val="150000"/>
              </a:lnSpc>
              <a:spcAft>
                <a:spcPts val="600"/>
              </a:spcAft>
              <a:defRPr sz="1050">
                <a:solidFill>
                  <a:srgbClr val="0F172A"/>
                </a:solidFill>
              </a:defRPr>
            </a:pPr>
            <a:r>
              <a:rPr dirty="0"/>
              <a:t>• Splits </a:t>
            </a:r>
            <a:r>
              <a:rPr dirty="0" err="1"/>
              <a:t>stratifiés</a:t>
            </a:r>
            <a:r>
              <a:rPr dirty="0"/>
              <a:t> (seed=42)</a:t>
            </a:r>
          </a:p>
          <a:p>
            <a:pPr>
              <a:lnSpc>
                <a:spcPct val="150000"/>
              </a:lnSpc>
              <a:spcAft>
                <a:spcPts val="600"/>
              </a:spcAft>
              <a:defRPr sz="1050">
                <a:solidFill>
                  <a:srgbClr val="0F172A"/>
                </a:solidFill>
              </a:defRPr>
            </a:pPr>
            <a:r>
              <a:rPr dirty="0"/>
              <a:t>• Sous-</a:t>
            </a:r>
            <a:r>
              <a:rPr dirty="0" err="1"/>
              <a:t>échantillonnage</a:t>
            </a:r>
            <a:r>
              <a:rPr dirty="0"/>
              <a:t> 10%-100%</a:t>
            </a:r>
          </a:p>
          <a:p>
            <a:pPr>
              <a:lnSpc>
                <a:spcPct val="150000"/>
              </a:lnSpc>
              <a:spcAft>
                <a:spcPts val="600"/>
              </a:spcAft>
              <a:defRPr sz="1050">
                <a:solidFill>
                  <a:srgbClr val="0F172A"/>
                </a:solidFill>
              </a:defRPr>
            </a:pPr>
            <a:r>
              <a:rPr dirty="0"/>
              <a:t>• Augmentations </a:t>
            </a:r>
            <a:r>
              <a:rPr dirty="0" err="1"/>
              <a:t>PyTorch</a:t>
            </a:r>
            <a:endParaRPr dirty="0"/>
          </a:p>
        </p:txBody>
      </p:sp>
      <p:sp>
        <p:nvSpPr>
          <p:cNvPr id="11" name="Rounded Rectangle 10"/>
          <p:cNvSpPr/>
          <p:nvPr/>
        </p:nvSpPr>
        <p:spPr>
          <a:xfrm>
            <a:off x="3520440" y="1417320"/>
            <a:ext cx="251460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520440" y="1417320"/>
            <a:ext cx="2514600"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038595" y="1481328"/>
            <a:ext cx="1478289" cy="532518"/>
          </a:xfrm>
          <a:prstGeom prst="rect">
            <a:avLst/>
          </a:prstGeom>
          <a:noFill/>
        </p:spPr>
        <p:txBody>
          <a:bodyPr wrap="none">
            <a:spAutoFit/>
          </a:bodyPr>
          <a:lstStyle/>
          <a:p>
            <a:pPr algn="ctr">
              <a:lnSpc>
                <a:spcPct val="150000"/>
              </a:lnSpc>
              <a:defRPr sz="1100" b="1">
                <a:solidFill>
                  <a:srgbClr val="FFFFFF"/>
                </a:solidFill>
              </a:defRPr>
            </a:pPr>
            <a:r>
              <a:rPr dirty="0"/>
              <a:t>2. </a:t>
            </a:r>
            <a:r>
              <a:rPr dirty="0" err="1"/>
              <a:t>Entraînement</a:t>
            </a:r>
            <a:r>
              <a:rPr dirty="0"/>
              <a:t> &amp; ML</a:t>
            </a:r>
          </a:p>
          <a:p>
            <a:pPr algn="ctr">
              <a:lnSpc>
                <a:spcPct val="150000"/>
              </a:lnSpc>
              <a:defRPr sz="900">
                <a:solidFill>
                  <a:srgbClr val="E2E8F0"/>
                </a:solidFill>
              </a:defRPr>
            </a:pPr>
            <a:r>
              <a:rPr dirty="0" err="1"/>
              <a:t>PyTorch</a:t>
            </a:r>
            <a:r>
              <a:rPr dirty="0"/>
              <a:t> + </a:t>
            </a:r>
            <a:r>
              <a:rPr dirty="0" err="1"/>
              <a:t>timm</a:t>
            </a:r>
            <a:endParaRPr dirty="0"/>
          </a:p>
        </p:txBody>
      </p:sp>
      <p:sp>
        <p:nvSpPr>
          <p:cNvPr id="14" name="TextBox 13"/>
          <p:cNvSpPr txBox="1"/>
          <p:nvPr/>
        </p:nvSpPr>
        <p:spPr>
          <a:xfrm>
            <a:off x="3657600" y="2240280"/>
            <a:ext cx="2240280" cy="1683089"/>
          </a:xfrm>
          <a:prstGeom prst="rect">
            <a:avLst/>
          </a:prstGeom>
          <a:noFill/>
        </p:spPr>
        <p:txBody>
          <a:bodyPr wrap="square">
            <a:spAutoFit/>
          </a:bodyPr>
          <a:lstStyle/>
          <a:p>
            <a:pPr>
              <a:lnSpc>
                <a:spcPct val="150000"/>
              </a:lnSpc>
            </a:pPr>
            <a:endParaRPr dirty="0"/>
          </a:p>
          <a:p>
            <a:pPr>
              <a:lnSpc>
                <a:spcPct val="150000"/>
              </a:lnSpc>
              <a:spcAft>
                <a:spcPts val="600"/>
              </a:spcAft>
              <a:defRPr sz="1050">
                <a:solidFill>
                  <a:srgbClr val="0F172A"/>
                </a:solidFill>
              </a:defRPr>
            </a:pPr>
            <a:r>
              <a:rPr dirty="0"/>
              <a:t>• ResNet-50 </a:t>
            </a:r>
            <a:r>
              <a:rPr dirty="0" err="1"/>
              <a:t>pré-entraîné</a:t>
            </a:r>
            <a:endParaRPr dirty="0"/>
          </a:p>
          <a:p>
            <a:pPr>
              <a:lnSpc>
                <a:spcPct val="150000"/>
              </a:lnSpc>
              <a:spcAft>
                <a:spcPts val="600"/>
              </a:spcAft>
              <a:defRPr sz="1050">
                <a:solidFill>
                  <a:srgbClr val="0F172A"/>
                </a:solidFill>
              </a:defRPr>
            </a:pPr>
            <a:r>
              <a:rPr dirty="0"/>
              <a:t>• </a:t>
            </a:r>
            <a:r>
              <a:rPr dirty="0" err="1"/>
              <a:t>ViT</a:t>
            </a:r>
            <a:r>
              <a:rPr dirty="0"/>
              <a:t> </a:t>
            </a:r>
            <a:r>
              <a:rPr dirty="0" err="1"/>
              <a:t>timm</a:t>
            </a:r>
            <a:r>
              <a:rPr dirty="0"/>
              <a:t> patch 16 / 32</a:t>
            </a:r>
          </a:p>
          <a:p>
            <a:pPr>
              <a:lnSpc>
                <a:spcPct val="150000"/>
              </a:lnSpc>
              <a:spcAft>
                <a:spcPts val="600"/>
              </a:spcAft>
              <a:defRPr sz="1050">
                <a:solidFill>
                  <a:srgbClr val="0F172A"/>
                </a:solidFill>
              </a:defRPr>
            </a:pPr>
            <a:r>
              <a:rPr dirty="0"/>
              <a:t>• </a:t>
            </a:r>
            <a:r>
              <a:rPr dirty="0" err="1"/>
              <a:t>ViT</a:t>
            </a:r>
            <a:r>
              <a:rPr dirty="0"/>
              <a:t> scratch custom</a:t>
            </a:r>
          </a:p>
          <a:p>
            <a:pPr>
              <a:lnSpc>
                <a:spcPct val="150000"/>
              </a:lnSpc>
              <a:spcAft>
                <a:spcPts val="600"/>
              </a:spcAft>
              <a:defRPr sz="1050">
                <a:solidFill>
                  <a:srgbClr val="0F172A"/>
                </a:solidFill>
              </a:defRPr>
            </a:pPr>
            <a:r>
              <a:rPr dirty="0"/>
              <a:t>• </a:t>
            </a:r>
            <a:r>
              <a:rPr dirty="0" err="1"/>
              <a:t>AdamW</a:t>
            </a:r>
            <a:r>
              <a:rPr dirty="0"/>
              <a:t> + Cross-Entropy</a:t>
            </a:r>
          </a:p>
        </p:txBody>
      </p:sp>
      <p:sp>
        <p:nvSpPr>
          <p:cNvPr id="15" name="Rounded Rectangle 14"/>
          <p:cNvSpPr/>
          <p:nvPr/>
        </p:nvSpPr>
        <p:spPr>
          <a:xfrm>
            <a:off x="6217920" y="1417320"/>
            <a:ext cx="251460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0" y="1417320"/>
            <a:ext cx="2514600" cy="6858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729663" y="1481328"/>
            <a:ext cx="1491113" cy="532518"/>
          </a:xfrm>
          <a:prstGeom prst="rect">
            <a:avLst/>
          </a:prstGeom>
          <a:noFill/>
        </p:spPr>
        <p:txBody>
          <a:bodyPr wrap="none">
            <a:spAutoFit/>
          </a:bodyPr>
          <a:lstStyle/>
          <a:p>
            <a:pPr algn="ctr">
              <a:lnSpc>
                <a:spcPct val="150000"/>
              </a:lnSpc>
              <a:defRPr sz="1100" b="1">
                <a:solidFill>
                  <a:srgbClr val="FFFFFF"/>
                </a:solidFill>
              </a:defRPr>
            </a:pPr>
            <a:r>
              <a:rPr dirty="0"/>
              <a:t>3. Tracking &amp; </a:t>
            </a:r>
            <a:r>
              <a:rPr dirty="0" err="1"/>
              <a:t>Modèles</a:t>
            </a:r>
            <a:endParaRPr dirty="0"/>
          </a:p>
          <a:p>
            <a:pPr algn="ctr">
              <a:lnSpc>
                <a:spcPct val="150000"/>
              </a:lnSpc>
              <a:defRPr sz="900">
                <a:solidFill>
                  <a:srgbClr val="E2E8F0"/>
                </a:solidFill>
              </a:defRPr>
            </a:pPr>
            <a:r>
              <a:rPr dirty="0" err="1"/>
              <a:t>MLflow</a:t>
            </a:r>
            <a:r>
              <a:rPr dirty="0"/>
              <a:t> Registry</a:t>
            </a:r>
          </a:p>
        </p:txBody>
      </p:sp>
      <p:sp>
        <p:nvSpPr>
          <p:cNvPr id="18" name="TextBox 17"/>
          <p:cNvSpPr txBox="1"/>
          <p:nvPr/>
        </p:nvSpPr>
        <p:spPr>
          <a:xfrm>
            <a:off x="6355080" y="2240280"/>
            <a:ext cx="2240280" cy="1683089"/>
          </a:xfrm>
          <a:prstGeom prst="rect">
            <a:avLst/>
          </a:prstGeom>
          <a:noFill/>
        </p:spPr>
        <p:txBody>
          <a:bodyPr wrap="square">
            <a:spAutoFit/>
          </a:bodyPr>
          <a:lstStyle/>
          <a:p>
            <a:pPr>
              <a:lnSpc>
                <a:spcPct val="150000"/>
              </a:lnSpc>
            </a:pPr>
            <a:endParaRPr dirty="0"/>
          </a:p>
          <a:p>
            <a:pPr>
              <a:lnSpc>
                <a:spcPct val="150000"/>
              </a:lnSpc>
              <a:spcAft>
                <a:spcPts val="600"/>
              </a:spcAft>
              <a:defRPr sz="1050">
                <a:solidFill>
                  <a:srgbClr val="0F172A"/>
                </a:solidFill>
              </a:defRPr>
            </a:pPr>
            <a:r>
              <a:rPr dirty="0"/>
              <a:t>• 12 runs </a:t>
            </a:r>
            <a:r>
              <a:rPr dirty="0" err="1"/>
              <a:t>loggés</a:t>
            </a:r>
            <a:r>
              <a:rPr dirty="0"/>
              <a:t> (</a:t>
            </a:r>
            <a:r>
              <a:rPr dirty="0" err="1"/>
              <a:t>mlflow.db</a:t>
            </a:r>
            <a:r>
              <a:rPr dirty="0"/>
              <a:t>)</a:t>
            </a:r>
          </a:p>
          <a:p>
            <a:pPr>
              <a:lnSpc>
                <a:spcPct val="150000"/>
              </a:lnSpc>
              <a:spcAft>
                <a:spcPts val="600"/>
              </a:spcAft>
              <a:defRPr sz="1050">
                <a:solidFill>
                  <a:srgbClr val="0F172A"/>
                </a:solidFill>
              </a:defRPr>
            </a:pPr>
            <a:r>
              <a:rPr dirty="0"/>
              <a:t>• </a:t>
            </a:r>
            <a:r>
              <a:rPr dirty="0" err="1"/>
              <a:t>Hyperparamètres</a:t>
            </a:r>
            <a:r>
              <a:rPr dirty="0"/>
              <a:t> &amp; </a:t>
            </a:r>
            <a:r>
              <a:rPr dirty="0" err="1"/>
              <a:t>métriques</a:t>
            </a:r>
            <a:endParaRPr dirty="0"/>
          </a:p>
          <a:p>
            <a:pPr>
              <a:lnSpc>
                <a:spcPct val="150000"/>
              </a:lnSpc>
              <a:spcAft>
                <a:spcPts val="600"/>
              </a:spcAft>
              <a:defRPr sz="1050">
                <a:solidFill>
                  <a:srgbClr val="0F172A"/>
                </a:solidFill>
              </a:defRPr>
            </a:pPr>
            <a:r>
              <a:rPr dirty="0"/>
              <a:t>• Checkpoints (.</a:t>
            </a:r>
            <a:r>
              <a:rPr dirty="0" err="1"/>
              <a:t>pth</a:t>
            </a:r>
            <a:r>
              <a:rPr dirty="0"/>
              <a:t>) dans results/</a:t>
            </a:r>
          </a:p>
          <a:p>
            <a:pPr>
              <a:lnSpc>
                <a:spcPct val="150000"/>
              </a:lnSpc>
              <a:spcAft>
                <a:spcPts val="600"/>
              </a:spcAft>
              <a:defRPr sz="1050">
                <a:solidFill>
                  <a:srgbClr val="0F172A"/>
                </a:solidFill>
              </a:defRPr>
            </a:pPr>
            <a:r>
              <a:rPr dirty="0"/>
              <a:t>• </a:t>
            </a:r>
            <a:r>
              <a:rPr dirty="0" err="1"/>
              <a:t>Modèles</a:t>
            </a:r>
            <a:r>
              <a:rPr dirty="0"/>
              <a:t> </a:t>
            </a:r>
            <a:r>
              <a:rPr dirty="0" err="1"/>
              <a:t>complets</a:t>
            </a:r>
            <a:r>
              <a:rPr dirty="0"/>
              <a:t> </a:t>
            </a:r>
            <a:r>
              <a:rPr dirty="0" err="1"/>
              <a:t>packagés</a:t>
            </a:r>
            <a:endParaRPr dirty="0"/>
          </a:p>
        </p:txBody>
      </p:sp>
      <p:sp>
        <p:nvSpPr>
          <p:cNvPr id="19" name="Rounded Rectangle 18"/>
          <p:cNvSpPr/>
          <p:nvPr/>
        </p:nvSpPr>
        <p:spPr>
          <a:xfrm>
            <a:off x="8915400" y="1417320"/>
            <a:ext cx="251460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915400" y="1417320"/>
            <a:ext cx="2514600"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28746" y="1481328"/>
            <a:ext cx="1487908" cy="532518"/>
          </a:xfrm>
          <a:prstGeom prst="rect">
            <a:avLst/>
          </a:prstGeom>
          <a:noFill/>
        </p:spPr>
        <p:txBody>
          <a:bodyPr wrap="none">
            <a:spAutoFit/>
          </a:bodyPr>
          <a:lstStyle/>
          <a:p>
            <a:pPr algn="ctr">
              <a:lnSpc>
                <a:spcPct val="150000"/>
              </a:lnSpc>
              <a:defRPr sz="1100" b="1">
                <a:solidFill>
                  <a:srgbClr val="FFFFFF"/>
                </a:solidFill>
              </a:defRPr>
            </a:pPr>
            <a:r>
              <a:rPr dirty="0"/>
              <a:t>4. </a:t>
            </a:r>
            <a:r>
              <a:rPr dirty="0" err="1"/>
              <a:t>Déploiement</a:t>
            </a:r>
            <a:r>
              <a:rPr dirty="0"/>
              <a:t> &amp; App</a:t>
            </a:r>
          </a:p>
          <a:p>
            <a:pPr algn="ctr">
              <a:lnSpc>
                <a:spcPct val="150000"/>
              </a:lnSpc>
              <a:defRPr sz="900">
                <a:solidFill>
                  <a:srgbClr val="E2E8F0"/>
                </a:solidFill>
              </a:defRPr>
            </a:pPr>
            <a:r>
              <a:rPr dirty="0" err="1"/>
              <a:t>FastAPI</a:t>
            </a:r>
            <a:r>
              <a:rPr dirty="0"/>
              <a:t> + Next.js</a:t>
            </a:r>
          </a:p>
        </p:txBody>
      </p:sp>
      <p:sp>
        <p:nvSpPr>
          <p:cNvPr id="22" name="TextBox 21"/>
          <p:cNvSpPr txBox="1"/>
          <p:nvPr/>
        </p:nvSpPr>
        <p:spPr>
          <a:xfrm>
            <a:off x="9052560" y="2240280"/>
            <a:ext cx="2240280" cy="1683089"/>
          </a:xfrm>
          <a:prstGeom prst="rect">
            <a:avLst/>
          </a:prstGeom>
          <a:noFill/>
        </p:spPr>
        <p:txBody>
          <a:bodyPr wrap="square">
            <a:spAutoFit/>
          </a:bodyPr>
          <a:lstStyle/>
          <a:p>
            <a:pPr>
              <a:lnSpc>
                <a:spcPct val="150000"/>
              </a:lnSpc>
            </a:pPr>
            <a:endParaRPr dirty="0"/>
          </a:p>
          <a:p>
            <a:pPr>
              <a:lnSpc>
                <a:spcPct val="150000"/>
              </a:lnSpc>
              <a:spcAft>
                <a:spcPts val="600"/>
              </a:spcAft>
              <a:defRPr sz="1050">
                <a:solidFill>
                  <a:srgbClr val="0F172A"/>
                </a:solidFill>
              </a:defRPr>
            </a:pPr>
            <a:r>
              <a:rPr dirty="0"/>
              <a:t>• API REST (/predict, /attention)</a:t>
            </a:r>
          </a:p>
          <a:p>
            <a:pPr>
              <a:lnSpc>
                <a:spcPct val="150000"/>
              </a:lnSpc>
              <a:spcAft>
                <a:spcPts val="600"/>
              </a:spcAft>
              <a:defRPr sz="1050">
                <a:solidFill>
                  <a:srgbClr val="0F172A"/>
                </a:solidFill>
              </a:defRPr>
            </a:pPr>
            <a:r>
              <a:rPr dirty="0"/>
              <a:t>• Extraction attention </a:t>
            </a:r>
            <a:r>
              <a:rPr dirty="0" err="1"/>
              <a:t>réelle</a:t>
            </a:r>
            <a:endParaRPr dirty="0"/>
          </a:p>
          <a:p>
            <a:pPr>
              <a:lnSpc>
                <a:spcPct val="150000"/>
              </a:lnSpc>
              <a:spcAft>
                <a:spcPts val="600"/>
              </a:spcAft>
              <a:defRPr sz="1050">
                <a:solidFill>
                  <a:srgbClr val="0F172A"/>
                </a:solidFill>
              </a:defRPr>
            </a:pPr>
            <a:r>
              <a:rPr dirty="0"/>
              <a:t>• Frontend </a:t>
            </a:r>
            <a:r>
              <a:rPr dirty="0" err="1"/>
              <a:t>réactif</a:t>
            </a:r>
            <a:r>
              <a:rPr dirty="0"/>
              <a:t> </a:t>
            </a:r>
            <a:r>
              <a:rPr dirty="0" err="1"/>
              <a:t>côte</a:t>
            </a:r>
            <a:r>
              <a:rPr dirty="0"/>
              <a:t>-à-</a:t>
            </a:r>
            <a:r>
              <a:rPr dirty="0" err="1"/>
              <a:t>côte</a:t>
            </a:r>
            <a:endParaRPr dirty="0"/>
          </a:p>
          <a:p>
            <a:pPr>
              <a:lnSpc>
                <a:spcPct val="150000"/>
              </a:lnSpc>
              <a:spcAft>
                <a:spcPts val="600"/>
              </a:spcAft>
              <a:defRPr sz="1050">
                <a:solidFill>
                  <a:srgbClr val="0F172A"/>
                </a:solidFill>
              </a:defRPr>
            </a:pPr>
            <a:r>
              <a:rPr dirty="0"/>
              <a:t>• </a:t>
            </a:r>
            <a:r>
              <a:rPr dirty="0" err="1"/>
              <a:t>Conteneurs</a:t>
            </a:r>
            <a:r>
              <a:rPr dirty="0"/>
              <a:t> Docker Compose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5. Organisation Modulaire du Codebase</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7/22</a:t>
            </a:r>
          </a:p>
        </p:txBody>
      </p:sp>
      <p:sp>
        <p:nvSpPr>
          <p:cNvPr id="7" name="Rounded Rectangle 6"/>
          <p:cNvSpPr/>
          <p:nvPr/>
        </p:nvSpPr>
        <p:spPr>
          <a:xfrm>
            <a:off x="822960" y="141732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22960" y="1417320"/>
            <a:ext cx="5120640"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1490472"/>
            <a:ext cx="4846320" cy="320040"/>
          </a:xfrm>
          <a:prstGeom prst="rect">
            <a:avLst/>
          </a:prstGeom>
          <a:noFill/>
        </p:spPr>
        <p:txBody>
          <a:bodyPr wrap="none">
            <a:spAutoFit/>
          </a:bodyPr>
          <a:lstStyle/>
          <a:p>
            <a:pPr>
              <a:defRPr sz="1100" b="1">
                <a:solidFill>
                  <a:srgbClr val="FFFFFF"/>
                </a:solidFill>
              </a:defRPr>
            </a:pPr>
            <a:r>
              <a:t>/src/data &amp; /data  —  Pipeline Données (Rôle A)</a:t>
            </a:r>
          </a:p>
        </p:txBody>
      </p:sp>
      <p:sp>
        <p:nvSpPr>
          <p:cNvPr id="10" name="TextBox 9"/>
          <p:cNvSpPr txBox="1"/>
          <p:nvPr/>
        </p:nvSpPr>
        <p:spPr>
          <a:xfrm>
            <a:off x="1005840" y="192024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dataset.py : Classe </a:t>
            </a:r>
            <a:r>
              <a:rPr dirty="0" err="1"/>
              <a:t>CUBDataset</a:t>
            </a:r>
            <a:r>
              <a:rPr dirty="0"/>
              <a:t> </a:t>
            </a:r>
            <a:r>
              <a:rPr dirty="0" err="1"/>
              <a:t>PyTorch</a:t>
            </a:r>
            <a:r>
              <a:rPr dirty="0"/>
              <a:t> </a:t>
            </a:r>
            <a:r>
              <a:rPr dirty="0" err="1"/>
              <a:t>robuste</a:t>
            </a:r>
            <a:endParaRPr dirty="0"/>
          </a:p>
          <a:p>
            <a:pPr>
              <a:lnSpc>
                <a:spcPct val="150000"/>
              </a:lnSpc>
              <a:spcAft>
                <a:spcPts val="200"/>
              </a:spcAft>
              <a:defRPr sz="1050">
                <a:solidFill>
                  <a:srgbClr val="0F172A"/>
                </a:solidFill>
              </a:defRPr>
            </a:pPr>
            <a:r>
              <a:rPr dirty="0"/>
              <a:t>• transforms.py : Augmentations </a:t>
            </a:r>
            <a:r>
              <a:rPr dirty="0" err="1"/>
              <a:t>faible</a:t>
            </a:r>
            <a:r>
              <a:rPr dirty="0"/>
              <a:t> et forte</a:t>
            </a:r>
          </a:p>
          <a:p>
            <a:pPr>
              <a:lnSpc>
                <a:spcPct val="150000"/>
              </a:lnSpc>
              <a:spcAft>
                <a:spcPts val="200"/>
              </a:spcAft>
              <a:defRPr sz="1050">
                <a:solidFill>
                  <a:srgbClr val="0F172A"/>
                </a:solidFill>
              </a:defRPr>
            </a:pPr>
            <a:r>
              <a:rPr dirty="0"/>
              <a:t>• splits.py : </a:t>
            </a:r>
            <a:r>
              <a:rPr dirty="0" err="1"/>
              <a:t>Génération</a:t>
            </a:r>
            <a:r>
              <a:rPr dirty="0"/>
              <a:t> des sous-</a:t>
            </a:r>
            <a:r>
              <a:rPr dirty="0" err="1"/>
              <a:t>échantillons</a:t>
            </a:r>
            <a:r>
              <a:rPr dirty="0"/>
              <a:t> (10% à 100%)</a:t>
            </a:r>
          </a:p>
          <a:p>
            <a:pPr>
              <a:lnSpc>
                <a:spcPct val="150000"/>
              </a:lnSpc>
              <a:spcAft>
                <a:spcPts val="200"/>
              </a:spcAft>
              <a:defRPr sz="1050">
                <a:solidFill>
                  <a:srgbClr val="0F172A"/>
                </a:solidFill>
              </a:defRPr>
            </a:pPr>
            <a:r>
              <a:rPr dirty="0"/>
              <a:t>• metadata.csv : 11 788 images </a:t>
            </a:r>
            <a:r>
              <a:rPr dirty="0" err="1"/>
              <a:t>étiquetées</a:t>
            </a:r>
            <a:r>
              <a:rPr dirty="0"/>
              <a:t> et </a:t>
            </a:r>
            <a:r>
              <a:rPr dirty="0" err="1"/>
              <a:t>vérifiées</a:t>
            </a:r>
            <a:endParaRPr dirty="0"/>
          </a:p>
        </p:txBody>
      </p:sp>
      <p:sp>
        <p:nvSpPr>
          <p:cNvPr id="11" name="Rounded Rectangle 10"/>
          <p:cNvSpPr/>
          <p:nvPr/>
        </p:nvSpPr>
        <p:spPr>
          <a:xfrm>
            <a:off x="6217920" y="141732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417320"/>
            <a:ext cx="512064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1490472"/>
            <a:ext cx="4846320" cy="320040"/>
          </a:xfrm>
          <a:prstGeom prst="rect">
            <a:avLst/>
          </a:prstGeom>
          <a:noFill/>
        </p:spPr>
        <p:txBody>
          <a:bodyPr wrap="none">
            <a:spAutoFit/>
          </a:bodyPr>
          <a:lstStyle/>
          <a:p>
            <a:pPr>
              <a:defRPr sz="1100" b="1">
                <a:solidFill>
                  <a:srgbClr val="FFFFFF"/>
                </a:solidFill>
              </a:defRPr>
            </a:pPr>
            <a:r>
              <a:t>/src/models &amp; /src/train  —  Modélisation Deep Learning (Rôle B)</a:t>
            </a:r>
          </a:p>
        </p:txBody>
      </p:sp>
      <p:sp>
        <p:nvSpPr>
          <p:cNvPr id="14" name="TextBox 13"/>
          <p:cNvSpPr txBox="1"/>
          <p:nvPr/>
        </p:nvSpPr>
        <p:spPr>
          <a:xfrm>
            <a:off x="6400800" y="192024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vit_custom.py : </a:t>
            </a:r>
            <a:r>
              <a:rPr dirty="0" err="1"/>
              <a:t>ViT</a:t>
            </a:r>
            <a:r>
              <a:rPr dirty="0"/>
              <a:t> </a:t>
            </a:r>
            <a:r>
              <a:rPr dirty="0" err="1"/>
              <a:t>codé</a:t>
            </a:r>
            <a:r>
              <a:rPr dirty="0"/>
              <a:t> </a:t>
            </a:r>
            <a:r>
              <a:rPr dirty="0" err="1"/>
              <a:t>intégralement</a:t>
            </a:r>
            <a:r>
              <a:rPr dirty="0"/>
              <a:t> from scratch</a:t>
            </a:r>
          </a:p>
          <a:p>
            <a:pPr>
              <a:lnSpc>
                <a:spcPct val="150000"/>
              </a:lnSpc>
              <a:spcAft>
                <a:spcPts val="200"/>
              </a:spcAft>
              <a:defRPr sz="1050">
                <a:solidFill>
                  <a:srgbClr val="0F172A"/>
                </a:solidFill>
              </a:defRPr>
            </a:pPr>
            <a:r>
              <a:rPr dirty="0"/>
              <a:t>• vit_pretrained.py : Wrapper de </a:t>
            </a:r>
            <a:r>
              <a:rPr dirty="0" err="1"/>
              <a:t>modèles</a:t>
            </a:r>
            <a:r>
              <a:rPr dirty="0"/>
              <a:t> </a:t>
            </a:r>
            <a:r>
              <a:rPr dirty="0" err="1"/>
              <a:t>timm</a:t>
            </a:r>
            <a:r>
              <a:rPr dirty="0"/>
              <a:t> (patch 16 &amp; 32)</a:t>
            </a:r>
          </a:p>
          <a:p>
            <a:pPr>
              <a:lnSpc>
                <a:spcPct val="150000"/>
              </a:lnSpc>
              <a:spcAft>
                <a:spcPts val="200"/>
              </a:spcAft>
              <a:defRPr sz="1050">
                <a:solidFill>
                  <a:srgbClr val="0F172A"/>
                </a:solidFill>
              </a:defRPr>
            </a:pPr>
            <a:r>
              <a:rPr dirty="0"/>
              <a:t>• resnet50.py : Adaptation </a:t>
            </a:r>
            <a:r>
              <a:rPr dirty="0" err="1"/>
              <a:t>torchvision</a:t>
            </a:r>
            <a:r>
              <a:rPr dirty="0"/>
              <a:t> pour 200 classes</a:t>
            </a:r>
          </a:p>
          <a:p>
            <a:pPr>
              <a:lnSpc>
                <a:spcPct val="150000"/>
              </a:lnSpc>
              <a:spcAft>
                <a:spcPts val="200"/>
              </a:spcAft>
              <a:defRPr sz="1050">
                <a:solidFill>
                  <a:srgbClr val="0F172A"/>
                </a:solidFill>
              </a:defRPr>
            </a:pPr>
            <a:r>
              <a:rPr dirty="0"/>
              <a:t>• trainer.py : Boucle de train, AMP fp16, Cosine Scheduler</a:t>
            </a:r>
          </a:p>
        </p:txBody>
      </p:sp>
      <p:sp>
        <p:nvSpPr>
          <p:cNvPr id="15" name="Rounded Rectangle 14"/>
          <p:cNvSpPr/>
          <p:nvPr/>
        </p:nvSpPr>
        <p:spPr>
          <a:xfrm>
            <a:off x="822960" y="379476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2960" y="3794760"/>
            <a:ext cx="5120640"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3867912"/>
            <a:ext cx="4846320" cy="320040"/>
          </a:xfrm>
          <a:prstGeom prst="rect">
            <a:avLst/>
          </a:prstGeom>
          <a:noFill/>
        </p:spPr>
        <p:txBody>
          <a:bodyPr wrap="none">
            <a:spAutoFit/>
          </a:bodyPr>
          <a:lstStyle/>
          <a:p>
            <a:pPr>
              <a:defRPr sz="1100" b="1">
                <a:solidFill>
                  <a:srgbClr val="FFFFFF"/>
                </a:solidFill>
              </a:defRPr>
            </a:pPr>
            <a:r>
              <a:t>/app/backend &amp; /app/frontend  —  Application Web Démo (Rôle C)</a:t>
            </a:r>
          </a:p>
        </p:txBody>
      </p:sp>
      <p:sp>
        <p:nvSpPr>
          <p:cNvPr id="18" name="TextBox 17"/>
          <p:cNvSpPr txBox="1"/>
          <p:nvPr/>
        </p:nvSpPr>
        <p:spPr>
          <a:xfrm>
            <a:off x="1005840" y="429768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main.py &amp; routers/ : Endpoints </a:t>
            </a:r>
            <a:r>
              <a:rPr dirty="0" err="1"/>
              <a:t>asynchrones</a:t>
            </a:r>
            <a:r>
              <a:rPr dirty="0"/>
              <a:t> </a:t>
            </a:r>
            <a:r>
              <a:rPr dirty="0" err="1"/>
              <a:t>FastAPI</a:t>
            </a:r>
            <a:endParaRPr dirty="0"/>
          </a:p>
          <a:p>
            <a:pPr>
              <a:lnSpc>
                <a:spcPct val="150000"/>
              </a:lnSpc>
              <a:spcAft>
                <a:spcPts val="200"/>
              </a:spcAft>
              <a:defRPr sz="1050">
                <a:solidFill>
                  <a:srgbClr val="0F172A"/>
                </a:solidFill>
              </a:defRPr>
            </a:pPr>
            <a:r>
              <a:rPr dirty="0"/>
              <a:t>• attention.py : Hook </a:t>
            </a:r>
            <a:r>
              <a:rPr dirty="0" err="1"/>
              <a:t>PyTorch</a:t>
            </a:r>
            <a:r>
              <a:rPr dirty="0"/>
              <a:t> </a:t>
            </a:r>
            <a:r>
              <a:rPr dirty="0" err="1"/>
              <a:t>d'extraction</a:t>
            </a:r>
            <a:r>
              <a:rPr dirty="0"/>
              <a:t> </a:t>
            </a:r>
            <a:r>
              <a:rPr dirty="0" err="1"/>
              <a:t>d'attention</a:t>
            </a:r>
            <a:endParaRPr dirty="0"/>
          </a:p>
          <a:p>
            <a:pPr>
              <a:lnSpc>
                <a:spcPct val="150000"/>
              </a:lnSpc>
              <a:spcAft>
                <a:spcPts val="200"/>
              </a:spcAft>
              <a:defRPr sz="1050">
                <a:solidFill>
                  <a:srgbClr val="0F172A"/>
                </a:solidFill>
              </a:defRPr>
            </a:pPr>
            <a:r>
              <a:rPr dirty="0"/>
              <a:t>• pages/ &amp; components/ : Interface </a:t>
            </a:r>
            <a:r>
              <a:rPr dirty="0" err="1"/>
              <a:t>réactive</a:t>
            </a:r>
            <a:r>
              <a:rPr dirty="0"/>
              <a:t> Next.js 14</a:t>
            </a:r>
          </a:p>
          <a:p>
            <a:pPr>
              <a:lnSpc>
                <a:spcPct val="150000"/>
              </a:lnSpc>
              <a:spcAft>
                <a:spcPts val="200"/>
              </a:spcAft>
              <a:defRPr sz="1050">
                <a:solidFill>
                  <a:srgbClr val="0F172A"/>
                </a:solidFill>
              </a:defRPr>
            </a:pPr>
            <a:r>
              <a:rPr dirty="0"/>
              <a:t>• </a:t>
            </a:r>
            <a:r>
              <a:rPr dirty="0" err="1"/>
              <a:t>Dockerfile</a:t>
            </a:r>
            <a:r>
              <a:rPr dirty="0"/>
              <a:t> &amp; docker-</a:t>
            </a:r>
            <a:r>
              <a:rPr dirty="0" err="1"/>
              <a:t>compose.yml</a:t>
            </a:r>
            <a:r>
              <a:rPr dirty="0"/>
              <a:t> : </a:t>
            </a:r>
            <a:r>
              <a:rPr dirty="0" err="1"/>
              <a:t>Conteneurisation</a:t>
            </a:r>
            <a:endParaRPr dirty="0"/>
          </a:p>
        </p:txBody>
      </p:sp>
      <p:sp>
        <p:nvSpPr>
          <p:cNvPr id="19" name="Rounded Rectangle 18"/>
          <p:cNvSpPr/>
          <p:nvPr/>
        </p:nvSpPr>
        <p:spPr>
          <a:xfrm>
            <a:off x="6217920" y="379476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3794760"/>
            <a:ext cx="512064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3867912"/>
            <a:ext cx="4846320" cy="320040"/>
          </a:xfrm>
          <a:prstGeom prst="rect">
            <a:avLst/>
          </a:prstGeom>
          <a:noFill/>
        </p:spPr>
        <p:txBody>
          <a:bodyPr wrap="none">
            <a:spAutoFit/>
          </a:bodyPr>
          <a:lstStyle/>
          <a:p>
            <a:pPr>
              <a:defRPr sz="1100" b="1">
                <a:solidFill>
                  <a:srgbClr val="FFFFFF"/>
                </a:solidFill>
              </a:defRPr>
            </a:pPr>
            <a:r>
              <a:t>/results &amp; /report  —  Expériences &amp; Restitution Scientifique</a:t>
            </a:r>
          </a:p>
        </p:txBody>
      </p:sp>
      <p:sp>
        <p:nvSpPr>
          <p:cNvPr id="22" name="TextBox 21"/>
          <p:cNvSpPr txBox="1"/>
          <p:nvPr/>
        </p:nvSpPr>
        <p:spPr>
          <a:xfrm>
            <a:off x="6400800" y="429768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results/runs/*.</a:t>
            </a:r>
            <a:r>
              <a:rPr dirty="0" err="1"/>
              <a:t>pth</a:t>
            </a:r>
            <a:r>
              <a:rPr dirty="0"/>
              <a:t> : 12 Checkpoints </a:t>
            </a:r>
            <a:r>
              <a:rPr dirty="0" err="1"/>
              <a:t>entraînés</a:t>
            </a:r>
            <a:r>
              <a:rPr dirty="0"/>
              <a:t> et </a:t>
            </a:r>
            <a:r>
              <a:rPr dirty="0" err="1"/>
              <a:t>sauvegardés</a:t>
            </a:r>
            <a:endParaRPr dirty="0"/>
          </a:p>
          <a:p>
            <a:pPr>
              <a:lnSpc>
                <a:spcPct val="150000"/>
              </a:lnSpc>
              <a:spcAft>
                <a:spcPts val="200"/>
              </a:spcAft>
              <a:defRPr sz="1050">
                <a:solidFill>
                  <a:srgbClr val="0F172A"/>
                </a:solidFill>
              </a:defRPr>
            </a:pPr>
            <a:r>
              <a:rPr dirty="0"/>
              <a:t>• evaluate_all_checkpoints.py : </a:t>
            </a:r>
            <a:r>
              <a:rPr dirty="0" err="1"/>
              <a:t>Évaluation</a:t>
            </a:r>
            <a:r>
              <a:rPr dirty="0"/>
              <a:t> </a:t>
            </a:r>
            <a:r>
              <a:rPr dirty="0" err="1"/>
              <a:t>globale</a:t>
            </a:r>
            <a:r>
              <a:rPr dirty="0"/>
              <a:t> </a:t>
            </a:r>
            <a:r>
              <a:rPr dirty="0" err="1"/>
              <a:t>consolidée</a:t>
            </a:r>
            <a:endParaRPr dirty="0"/>
          </a:p>
          <a:p>
            <a:pPr>
              <a:lnSpc>
                <a:spcPct val="150000"/>
              </a:lnSpc>
              <a:spcAft>
                <a:spcPts val="200"/>
              </a:spcAft>
              <a:defRPr sz="1050">
                <a:solidFill>
                  <a:srgbClr val="0F172A"/>
                </a:solidFill>
              </a:defRPr>
            </a:pPr>
            <a:r>
              <a:rPr dirty="0"/>
              <a:t>• register_all_to_mlflow.py : Exportation vers </a:t>
            </a:r>
            <a:r>
              <a:rPr dirty="0" err="1"/>
              <a:t>MLflow</a:t>
            </a:r>
            <a:r>
              <a:rPr dirty="0"/>
              <a:t> Registry</a:t>
            </a:r>
          </a:p>
          <a:p>
            <a:pPr>
              <a:lnSpc>
                <a:spcPct val="150000"/>
              </a:lnSpc>
              <a:spcAft>
                <a:spcPts val="200"/>
              </a:spcAft>
              <a:defRPr sz="1050">
                <a:solidFill>
                  <a:srgbClr val="0F172A"/>
                </a:solidFill>
              </a:defRPr>
            </a:pPr>
            <a:r>
              <a:rPr dirty="0"/>
              <a:t>• report/</a:t>
            </a:r>
            <a:r>
              <a:rPr dirty="0" err="1"/>
              <a:t>main.tex</a:t>
            </a:r>
            <a:r>
              <a:rPr dirty="0"/>
              <a:t> : Rapport </a:t>
            </a:r>
            <a:r>
              <a:rPr dirty="0" err="1"/>
              <a:t>scientifique</a:t>
            </a:r>
            <a:r>
              <a:rPr dirty="0"/>
              <a:t> </a:t>
            </a:r>
            <a:r>
              <a:rPr dirty="0" err="1"/>
              <a:t>complet</a:t>
            </a:r>
            <a:r>
              <a:rPr dirty="0"/>
              <a:t> </a:t>
            </a:r>
            <a:r>
              <a:rPr dirty="0" err="1"/>
              <a:t>rédigé</a:t>
            </a:r>
            <a:r>
              <a:rPr dirty="0"/>
              <a:t> </a:t>
            </a:r>
            <a:r>
              <a:rPr dirty="0" err="1"/>
              <a:t>en</a:t>
            </a:r>
            <a:r>
              <a:rPr dirty="0"/>
              <a:t> LaTeX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353943"/>
          </a:xfrm>
          <a:prstGeom prst="rect">
            <a:avLst/>
          </a:prstGeom>
          <a:noFill/>
        </p:spPr>
        <p:txBody>
          <a:bodyPr wrap="square" lIns="0" tIns="0" rIns="0" bIns="0">
            <a:spAutoFit/>
          </a:bodyPr>
          <a:lstStyle/>
          <a:p>
            <a:pPr>
              <a:defRPr sz="2300" b="1">
                <a:solidFill>
                  <a:srgbClr val="0F172A"/>
                </a:solidFill>
                <a:latin typeface="Arial"/>
              </a:defRPr>
            </a:pPr>
            <a:r>
              <a:rPr dirty="0"/>
              <a:t>6. Pipeline de Données &amp; Splits </a:t>
            </a:r>
            <a:r>
              <a:rPr dirty="0" err="1"/>
              <a:t>Stratifiés</a:t>
            </a:r>
            <a:r>
              <a:rPr dirty="0"/>
              <a:t> </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8/22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779145"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SPLIT STRATIFIÉ (SEED = 42)</a:t>
            </a:r>
          </a:p>
        </p:txBody>
      </p:sp>
      <p:sp>
        <p:nvSpPr>
          <p:cNvPr id="9" name="TextBox 8"/>
          <p:cNvSpPr txBox="1"/>
          <p:nvPr/>
        </p:nvSpPr>
        <p:spPr>
          <a:xfrm>
            <a:off x="1051560" y="2103120"/>
            <a:ext cx="4663440" cy="3856761"/>
          </a:xfrm>
          <a:prstGeom prst="rect">
            <a:avLst/>
          </a:prstGeom>
          <a:noFill/>
        </p:spPr>
        <p:txBody>
          <a:bodyPr wrap="square">
            <a:spAutoFit/>
          </a:bodyPr>
          <a:lstStyle/>
          <a:p>
            <a:pPr>
              <a:lnSpc>
                <a:spcPct val="150000"/>
              </a:lnSpc>
              <a:spcAft>
                <a:spcPts val="600"/>
              </a:spcAft>
            </a:pPr>
            <a:r>
              <a:rPr sz="1100" b="1" dirty="0">
                <a:solidFill>
                  <a:srgbClr val="0F172A"/>
                </a:solidFill>
              </a:rPr>
              <a:t>• </a:t>
            </a:r>
            <a:r>
              <a:rPr sz="1100" b="1" dirty="0" err="1">
                <a:solidFill>
                  <a:srgbClr val="0F172A"/>
                </a:solidFill>
              </a:rPr>
              <a:t>Répartition</a:t>
            </a:r>
            <a:r>
              <a:rPr sz="1100" b="1" dirty="0">
                <a:solidFill>
                  <a:srgbClr val="0F172A"/>
                </a:solidFill>
              </a:rPr>
              <a:t> </a:t>
            </a:r>
            <a:r>
              <a:rPr sz="1100" b="1" dirty="0" err="1">
                <a:solidFill>
                  <a:srgbClr val="0F172A"/>
                </a:solidFill>
              </a:rPr>
              <a:t>Officielle</a:t>
            </a:r>
            <a:r>
              <a:rPr sz="1100" b="1" dirty="0">
                <a:solidFill>
                  <a:srgbClr val="0F172A"/>
                </a:solidFill>
              </a:rPr>
              <a:t> &amp; Validation :</a:t>
            </a:r>
            <a:r>
              <a:rPr sz="1050" b="0" dirty="0">
                <a:solidFill>
                  <a:srgbClr val="0F172A"/>
                </a:solidFill>
              </a:rPr>
              <a:t>
  - Train </a:t>
            </a:r>
            <a:r>
              <a:rPr sz="1050" b="0" dirty="0" err="1">
                <a:solidFill>
                  <a:srgbClr val="0F172A"/>
                </a:solidFill>
              </a:rPr>
              <a:t>officiel</a:t>
            </a:r>
            <a:r>
              <a:rPr sz="1050" b="0" dirty="0">
                <a:solidFill>
                  <a:srgbClr val="0F172A"/>
                </a:solidFill>
              </a:rPr>
              <a:t> : 5 994 images
  - Test </a:t>
            </a:r>
            <a:r>
              <a:rPr sz="1050" b="0" dirty="0" err="1">
                <a:solidFill>
                  <a:srgbClr val="0F172A"/>
                </a:solidFill>
              </a:rPr>
              <a:t>officiel</a:t>
            </a:r>
            <a:r>
              <a:rPr sz="1050" b="0" dirty="0">
                <a:solidFill>
                  <a:srgbClr val="0F172A"/>
                </a:solidFill>
              </a:rPr>
              <a:t> : 5 794 images
  - Ensemble de Validation (15% du train = 900 </a:t>
            </a:r>
            <a:r>
              <a:rPr sz="1050" b="0" dirty="0" err="1">
                <a:solidFill>
                  <a:srgbClr val="0F172A"/>
                </a:solidFill>
              </a:rPr>
              <a:t>imgs</a:t>
            </a:r>
            <a:r>
              <a:rPr sz="1050" b="0" dirty="0">
                <a:solidFill>
                  <a:srgbClr val="0F172A"/>
                </a:solidFill>
              </a:rPr>
              <a:t>)
  - Train final : 5 094 images (100%)</a:t>
            </a:r>
          </a:p>
          <a:p>
            <a:pPr>
              <a:lnSpc>
                <a:spcPct val="150000"/>
              </a:lnSpc>
              <a:spcAft>
                <a:spcPts val="600"/>
              </a:spcAft>
            </a:pPr>
            <a:r>
              <a:rPr sz="1100" b="1" dirty="0">
                <a:solidFill>
                  <a:srgbClr val="0F172A"/>
                </a:solidFill>
              </a:rPr>
              <a:t>• Sous-ensembles pour </a:t>
            </a:r>
            <a:r>
              <a:rPr sz="1100" b="1" dirty="0" err="1">
                <a:solidFill>
                  <a:srgbClr val="0F172A"/>
                </a:solidFill>
              </a:rPr>
              <a:t>l'Ablation</a:t>
            </a:r>
            <a:r>
              <a:rPr sz="1100" b="1" dirty="0">
                <a:solidFill>
                  <a:srgbClr val="0F172A"/>
                </a:solidFill>
              </a:rPr>
              <a:t> Data-Hungry :</a:t>
            </a:r>
            <a:r>
              <a:rPr sz="1050" b="0" dirty="0">
                <a:solidFill>
                  <a:srgbClr val="0F172A"/>
                </a:solidFill>
              </a:rPr>
              <a:t>
  - 10%  -&gt;  509 images (~2.5 images / </a:t>
            </a:r>
            <a:r>
              <a:rPr sz="1050" b="0" dirty="0" err="1">
                <a:solidFill>
                  <a:srgbClr val="0F172A"/>
                </a:solidFill>
              </a:rPr>
              <a:t>espèce</a:t>
            </a:r>
            <a:r>
              <a:rPr sz="1050" b="0" dirty="0">
                <a:solidFill>
                  <a:srgbClr val="0F172A"/>
                </a:solidFill>
              </a:rPr>
              <a:t>)
  - 25%  -&gt;  1 273 images (~6 images / </a:t>
            </a:r>
            <a:r>
              <a:rPr sz="1050" b="0" dirty="0" err="1">
                <a:solidFill>
                  <a:srgbClr val="0F172A"/>
                </a:solidFill>
              </a:rPr>
              <a:t>espèce</a:t>
            </a:r>
            <a:r>
              <a:rPr sz="1050" b="0" dirty="0">
                <a:solidFill>
                  <a:srgbClr val="0F172A"/>
                </a:solidFill>
              </a:rPr>
              <a:t>)
  - 50%  -&gt;  2 547 images (~12 images / </a:t>
            </a:r>
            <a:r>
              <a:rPr sz="1050" b="0" dirty="0" err="1">
                <a:solidFill>
                  <a:srgbClr val="0F172A"/>
                </a:solidFill>
              </a:rPr>
              <a:t>espèce</a:t>
            </a:r>
            <a:r>
              <a:rPr sz="1050" b="0" dirty="0">
                <a:solidFill>
                  <a:srgbClr val="0F172A"/>
                </a:solidFill>
              </a:rPr>
              <a:t>)
  - 100% -&gt;  5 094 images (~25 images / </a:t>
            </a:r>
            <a:r>
              <a:rPr sz="1050" b="0" dirty="0" err="1">
                <a:solidFill>
                  <a:srgbClr val="0F172A"/>
                </a:solidFill>
              </a:rPr>
              <a:t>espèce</a:t>
            </a:r>
            <a:r>
              <a:rPr sz="1050" b="0" dirty="0">
                <a:solidFill>
                  <a:srgbClr val="0F172A"/>
                </a:solidFill>
              </a:rPr>
              <a:t>)</a:t>
            </a:r>
          </a:p>
          <a:p>
            <a:pPr>
              <a:lnSpc>
                <a:spcPct val="150000"/>
              </a:lnSpc>
              <a:spcAft>
                <a:spcPts val="600"/>
              </a:spcAft>
            </a:pPr>
            <a:r>
              <a:rPr sz="1100" b="1" dirty="0">
                <a:solidFill>
                  <a:srgbClr val="0F172A"/>
                </a:solidFill>
              </a:rPr>
              <a:t>• Stratification </a:t>
            </a:r>
            <a:r>
              <a:rPr sz="1100" b="1" dirty="0" err="1">
                <a:solidFill>
                  <a:srgbClr val="0F172A"/>
                </a:solidFill>
              </a:rPr>
              <a:t>Stricte</a:t>
            </a:r>
            <a:r>
              <a:rPr sz="1100" b="1" dirty="0">
                <a:solidFill>
                  <a:srgbClr val="0F172A"/>
                </a:solidFill>
              </a:rPr>
              <a:t> :</a:t>
            </a:r>
            <a:r>
              <a:rPr sz="1050" b="0" dirty="0">
                <a:solidFill>
                  <a:srgbClr val="0F172A"/>
                </a:solidFill>
              </a:rPr>
              <a:t>
  </a:t>
            </a:r>
            <a:r>
              <a:rPr sz="1050" b="0" dirty="0" err="1">
                <a:solidFill>
                  <a:srgbClr val="0F172A"/>
                </a:solidFill>
              </a:rPr>
              <a:t>Toutes</a:t>
            </a:r>
            <a:r>
              <a:rPr sz="1050" b="0" dirty="0">
                <a:solidFill>
                  <a:srgbClr val="0F172A"/>
                </a:solidFill>
              </a:rPr>
              <a:t> les 200 classes </a:t>
            </a:r>
            <a:r>
              <a:rPr sz="1050" b="0" dirty="0" err="1">
                <a:solidFill>
                  <a:srgbClr val="0F172A"/>
                </a:solidFill>
              </a:rPr>
              <a:t>restent</a:t>
            </a:r>
            <a:r>
              <a:rPr sz="1050" b="0" dirty="0">
                <a:solidFill>
                  <a:srgbClr val="0F172A"/>
                </a:solidFill>
              </a:rPr>
              <a:t> </a:t>
            </a:r>
            <a:r>
              <a:rPr sz="1050" b="0" dirty="0" err="1">
                <a:solidFill>
                  <a:srgbClr val="0F172A"/>
                </a:solidFill>
              </a:rPr>
              <a:t>représentées</a:t>
            </a:r>
            <a:r>
              <a:rPr sz="1050" b="0" dirty="0">
                <a:solidFill>
                  <a:srgbClr val="0F172A"/>
                </a:solidFill>
              </a:rPr>
              <a:t> </a:t>
            </a:r>
            <a:r>
              <a:rPr sz="1050" b="0" dirty="0" err="1">
                <a:solidFill>
                  <a:srgbClr val="0F172A"/>
                </a:solidFill>
              </a:rPr>
              <a:t>même</a:t>
            </a:r>
            <a:r>
              <a:rPr sz="1050" b="0" dirty="0">
                <a:solidFill>
                  <a:srgbClr val="0F172A"/>
                </a:solidFill>
              </a:rPr>
              <a:t> à 10%.</a:t>
            </a:r>
          </a:p>
        </p:txBody>
      </p:sp>
      <p:sp>
        <p:nvSpPr>
          <p:cNvPr id="11" name="Rounded Rectangle 10"/>
          <p:cNvSpPr/>
          <p:nvPr/>
        </p:nvSpPr>
        <p:spPr>
          <a:xfrm>
            <a:off x="7174105" y="1645920"/>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VOLUMÉTRIE DES SOUS-SPLITS</a:t>
            </a:r>
          </a:p>
        </p:txBody>
      </p:sp>
      <p:graphicFrame>
        <p:nvGraphicFramePr>
          <p:cNvPr id="12" name="Table 11"/>
          <p:cNvGraphicFramePr>
            <a:graphicFrameLocks noGrp="1"/>
          </p:cNvGraphicFramePr>
          <p:nvPr/>
        </p:nvGraphicFramePr>
        <p:xfrm>
          <a:off x="6446520" y="2148840"/>
          <a:ext cx="4663440" cy="3749039"/>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24839">
                <a:tc>
                  <a:txBody>
                    <a:bodyPr/>
                    <a:lstStyle/>
                    <a:p>
                      <a:pPr algn="ctr">
                        <a:defRPr sz="1050" b="1">
                          <a:solidFill>
                            <a:srgbClr val="FFFFFF"/>
                          </a:solidFill>
                        </a:defRPr>
                      </a:pPr>
                      <a:r>
                        <a:t>Sous-Ensemble</a:t>
                      </a:r>
                    </a:p>
                  </a:txBody>
                  <a:tcPr>
                    <a:solidFill>
                      <a:srgbClr val="0F172A"/>
                    </a:solidFill>
                  </a:tcPr>
                </a:tc>
                <a:tc>
                  <a:txBody>
                    <a:bodyPr/>
                    <a:lstStyle/>
                    <a:p>
                      <a:pPr algn="ctr">
                        <a:defRPr sz="1050" b="1">
                          <a:solidFill>
                            <a:srgbClr val="FFFFFF"/>
                          </a:solidFill>
                        </a:defRPr>
                      </a:pPr>
                      <a:r>
                        <a:t>Nb Images</a:t>
                      </a:r>
                    </a:p>
                  </a:txBody>
                  <a:tcPr>
                    <a:solidFill>
                      <a:srgbClr val="0F172A"/>
                    </a:solidFill>
                  </a:tcPr>
                </a:tc>
                <a:tc>
                  <a:txBody>
                    <a:bodyPr/>
                    <a:lstStyle/>
                    <a:p>
                      <a:pPr algn="ctr">
                        <a:defRPr sz="1050" b="1">
                          <a:solidFill>
                            <a:srgbClr val="FFFFFF"/>
                          </a:solidFill>
                        </a:defRPr>
                      </a:pPr>
                      <a:r>
                        <a:t>Imgs / Classe</a:t>
                      </a:r>
                    </a:p>
                  </a:txBody>
                  <a:tcPr>
                    <a:solidFill>
                      <a:srgbClr val="0F172A"/>
                    </a:solidFill>
                  </a:tcPr>
                </a:tc>
                <a:extLst>
                  <a:ext uri="{0D108BD9-81ED-4DB2-BD59-A6C34878D82A}">
                    <a16:rowId xmlns:a16="http://schemas.microsoft.com/office/drawing/2014/main" val="10000"/>
                  </a:ext>
                </a:extLst>
              </a:tr>
              <a:tr h="624839">
                <a:tc>
                  <a:txBody>
                    <a:bodyPr/>
                    <a:lstStyle/>
                    <a:p>
                      <a:pPr algn="l">
                        <a:defRPr sz="1000">
                          <a:solidFill>
                            <a:srgbClr val="0F172A"/>
                          </a:solidFill>
                        </a:defRPr>
                      </a:pPr>
                      <a:r>
                        <a:t>Train 10%</a:t>
                      </a:r>
                    </a:p>
                  </a:txBody>
                  <a:tcPr>
                    <a:solidFill>
                      <a:srgbClr val="FFFFFF"/>
                    </a:solidFill>
                  </a:tcPr>
                </a:tc>
                <a:tc>
                  <a:txBody>
                    <a:bodyPr/>
                    <a:lstStyle/>
                    <a:p>
                      <a:pPr algn="ctr">
                        <a:defRPr sz="1000">
                          <a:solidFill>
                            <a:srgbClr val="0F172A"/>
                          </a:solidFill>
                        </a:defRPr>
                      </a:pPr>
                      <a:r>
                        <a:t>509</a:t>
                      </a:r>
                    </a:p>
                  </a:txBody>
                  <a:tcPr>
                    <a:solidFill>
                      <a:srgbClr val="FFFFFF"/>
                    </a:solidFill>
                  </a:tcPr>
                </a:tc>
                <a:tc>
                  <a:txBody>
                    <a:bodyPr/>
                    <a:lstStyle/>
                    <a:p>
                      <a:pPr algn="ctr">
                        <a:defRPr sz="1000">
                          <a:solidFill>
                            <a:srgbClr val="0F172A"/>
                          </a:solidFill>
                        </a:defRPr>
                      </a:pPr>
                      <a:r>
                        <a:t>~2.5</a:t>
                      </a:r>
                    </a:p>
                  </a:txBody>
                  <a:tcPr>
                    <a:solidFill>
                      <a:srgbClr val="FFFFFF"/>
                    </a:solidFill>
                  </a:tcPr>
                </a:tc>
                <a:extLst>
                  <a:ext uri="{0D108BD9-81ED-4DB2-BD59-A6C34878D82A}">
                    <a16:rowId xmlns:a16="http://schemas.microsoft.com/office/drawing/2014/main" val="10001"/>
                  </a:ext>
                </a:extLst>
              </a:tr>
              <a:tr h="624839">
                <a:tc>
                  <a:txBody>
                    <a:bodyPr/>
                    <a:lstStyle/>
                    <a:p>
                      <a:pPr algn="l">
                        <a:defRPr sz="1000">
                          <a:solidFill>
                            <a:srgbClr val="0F172A"/>
                          </a:solidFill>
                        </a:defRPr>
                      </a:pPr>
                      <a:r>
                        <a:t>Train 25%</a:t>
                      </a:r>
                    </a:p>
                  </a:txBody>
                  <a:tcPr>
                    <a:solidFill>
                      <a:srgbClr val="F8FAFC"/>
                    </a:solidFill>
                  </a:tcPr>
                </a:tc>
                <a:tc>
                  <a:txBody>
                    <a:bodyPr/>
                    <a:lstStyle/>
                    <a:p>
                      <a:pPr algn="ctr">
                        <a:defRPr sz="1000">
                          <a:solidFill>
                            <a:srgbClr val="0F172A"/>
                          </a:solidFill>
                        </a:defRPr>
                      </a:pPr>
                      <a:r>
                        <a:t>1 273</a:t>
                      </a:r>
                    </a:p>
                  </a:txBody>
                  <a:tcPr>
                    <a:solidFill>
                      <a:srgbClr val="F8FAFC"/>
                    </a:solidFill>
                  </a:tcPr>
                </a:tc>
                <a:tc>
                  <a:txBody>
                    <a:bodyPr/>
                    <a:lstStyle/>
                    <a:p>
                      <a:pPr algn="ctr">
                        <a:defRPr sz="1000">
                          <a:solidFill>
                            <a:srgbClr val="0F172A"/>
                          </a:solidFill>
                        </a:defRPr>
                      </a:pPr>
                      <a:r>
                        <a:t>~6.3</a:t>
                      </a:r>
                    </a:p>
                  </a:txBody>
                  <a:tcPr>
                    <a:solidFill>
                      <a:srgbClr val="F8FAFC"/>
                    </a:solidFill>
                  </a:tcPr>
                </a:tc>
                <a:extLst>
                  <a:ext uri="{0D108BD9-81ED-4DB2-BD59-A6C34878D82A}">
                    <a16:rowId xmlns:a16="http://schemas.microsoft.com/office/drawing/2014/main" val="10002"/>
                  </a:ext>
                </a:extLst>
              </a:tr>
              <a:tr h="624839">
                <a:tc>
                  <a:txBody>
                    <a:bodyPr/>
                    <a:lstStyle/>
                    <a:p>
                      <a:pPr algn="l">
                        <a:defRPr sz="1000">
                          <a:solidFill>
                            <a:srgbClr val="0F172A"/>
                          </a:solidFill>
                        </a:defRPr>
                      </a:pPr>
                      <a:r>
                        <a:rPr dirty="0"/>
                        <a:t>Train 50%</a:t>
                      </a:r>
                    </a:p>
                  </a:txBody>
                  <a:tcPr>
                    <a:solidFill>
                      <a:srgbClr val="FFFFFF"/>
                    </a:solidFill>
                  </a:tcPr>
                </a:tc>
                <a:tc>
                  <a:txBody>
                    <a:bodyPr/>
                    <a:lstStyle/>
                    <a:p>
                      <a:pPr algn="ctr">
                        <a:defRPr sz="1000">
                          <a:solidFill>
                            <a:srgbClr val="0F172A"/>
                          </a:solidFill>
                        </a:defRPr>
                      </a:pPr>
                      <a:r>
                        <a:t>2 547</a:t>
                      </a:r>
                    </a:p>
                  </a:txBody>
                  <a:tcPr>
                    <a:solidFill>
                      <a:srgbClr val="FFFFFF"/>
                    </a:solidFill>
                  </a:tcPr>
                </a:tc>
                <a:tc>
                  <a:txBody>
                    <a:bodyPr/>
                    <a:lstStyle/>
                    <a:p>
                      <a:pPr algn="ctr">
                        <a:defRPr sz="1000">
                          <a:solidFill>
                            <a:srgbClr val="0F172A"/>
                          </a:solidFill>
                        </a:defRPr>
                      </a:pPr>
                      <a:r>
                        <a:t>~12.7</a:t>
                      </a:r>
                    </a:p>
                  </a:txBody>
                  <a:tcPr>
                    <a:solidFill>
                      <a:srgbClr val="FFFFFF"/>
                    </a:solidFill>
                  </a:tcPr>
                </a:tc>
                <a:extLst>
                  <a:ext uri="{0D108BD9-81ED-4DB2-BD59-A6C34878D82A}">
                    <a16:rowId xmlns:a16="http://schemas.microsoft.com/office/drawing/2014/main" val="10003"/>
                  </a:ext>
                </a:extLst>
              </a:tr>
              <a:tr h="624839">
                <a:tc>
                  <a:txBody>
                    <a:bodyPr/>
                    <a:lstStyle/>
                    <a:p>
                      <a:pPr algn="l">
                        <a:defRPr sz="1000">
                          <a:solidFill>
                            <a:srgbClr val="0F172A"/>
                          </a:solidFill>
                        </a:defRPr>
                      </a:pPr>
                      <a:r>
                        <a:t>Train 100%</a:t>
                      </a:r>
                    </a:p>
                  </a:txBody>
                  <a:tcPr>
                    <a:solidFill>
                      <a:srgbClr val="F8FAFC"/>
                    </a:solidFill>
                  </a:tcPr>
                </a:tc>
                <a:tc>
                  <a:txBody>
                    <a:bodyPr/>
                    <a:lstStyle/>
                    <a:p>
                      <a:pPr algn="ctr">
                        <a:defRPr sz="1000">
                          <a:solidFill>
                            <a:srgbClr val="0F172A"/>
                          </a:solidFill>
                        </a:defRPr>
                      </a:pPr>
                      <a:r>
                        <a:t>5 094</a:t>
                      </a:r>
                    </a:p>
                  </a:txBody>
                  <a:tcPr>
                    <a:solidFill>
                      <a:srgbClr val="F8FAFC"/>
                    </a:solidFill>
                  </a:tcPr>
                </a:tc>
                <a:tc>
                  <a:txBody>
                    <a:bodyPr/>
                    <a:lstStyle/>
                    <a:p>
                      <a:pPr algn="ctr">
                        <a:defRPr sz="1000">
                          <a:solidFill>
                            <a:srgbClr val="0F172A"/>
                          </a:solidFill>
                        </a:defRPr>
                      </a:pPr>
                      <a:r>
                        <a:t>~25.5</a:t>
                      </a:r>
                    </a:p>
                  </a:txBody>
                  <a:tcPr>
                    <a:solidFill>
                      <a:srgbClr val="F8FAFC"/>
                    </a:solidFill>
                  </a:tcPr>
                </a:tc>
                <a:extLst>
                  <a:ext uri="{0D108BD9-81ED-4DB2-BD59-A6C34878D82A}">
                    <a16:rowId xmlns:a16="http://schemas.microsoft.com/office/drawing/2014/main" val="10004"/>
                  </a:ext>
                </a:extLst>
              </a:tr>
              <a:tr h="624844">
                <a:tc>
                  <a:txBody>
                    <a:bodyPr/>
                    <a:lstStyle/>
                    <a:p>
                      <a:pPr algn="l">
                        <a:defRPr sz="1000">
                          <a:solidFill>
                            <a:srgbClr val="0F172A"/>
                          </a:solidFill>
                        </a:defRPr>
                      </a:pPr>
                      <a:r>
                        <a:t>Validation</a:t>
                      </a:r>
                    </a:p>
                  </a:txBody>
                  <a:tcPr>
                    <a:solidFill>
                      <a:srgbClr val="FFFFFF"/>
                    </a:solidFill>
                  </a:tcPr>
                </a:tc>
                <a:tc>
                  <a:txBody>
                    <a:bodyPr/>
                    <a:lstStyle/>
                    <a:p>
                      <a:pPr algn="ctr">
                        <a:defRPr sz="1000">
                          <a:solidFill>
                            <a:srgbClr val="0F172A"/>
                          </a:solidFill>
                        </a:defRPr>
                      </a:pPr>
                      <a:r>
                        <a:t>900</a:t>
                      </a:r>
                    </a:p>
                  </a:txBody>
                  <a:tcPr>
                    <a:solidFill>
                      <a:srgbClr val="FFFFFF"/>
                    </a:solidFill>
                  </a:tcPr>
                </a:tc>
                <a:tc>
                  <a:txBody>
                    <a:bodyPr/>
                    <a:lstStyle/>
                    <a:p>
                      <a:pPr algn="ctr">
                        <a:defRPr sz="1000">
                          <a:solidFill>
                            <a:srgbClr val="0F172A"/>
                          </a:solidFill>
                        </a:defRPr>
                      </a:pPr>
                      <a:r>
                        <a:rPr dirty="0"/>
                        <a:t>4.5</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353943"/>
          </a:xfrm>
          <a:prstGeom prst="rect">
            <a:avLst/>
          </a:prstGeom>
          <a:noFill/>
        </p:spPr>
        <p:txBody>
          <a:bodyPr wrap="square" lIns="0" tIns="0" rIns="0" bIns="0">
            <a:spAutoFit/>
          </a:bodyPr>
          <a:lstStyle/>
          <a:p>
            <a:pPr>
              <a:defRPr sz="2300" b="1">
                <a:solidFill>
                  <a:srgbClr val="0F172A"/>
                </a:solidFill>
                <a:latin typeface="Arial"/>
              </a:defRPr>
            </a:pPr>
            <a:r>
              <a:rPr dirty="0"/>
              <a:t>7. </a:t>
            </a:r>
            <a:r>
              <a:rPr dirty="0" err="1"/>
              <a:t>Analyse</a:t>
            </a:r>
            <a:r>
              <a:rPr dirty="0"/>
              <a:t> </a:t>
            </a:r>
            <a:r>
              <a:rPr dirty="0" err="1"/>
              <a:t>Exploratoire</a:t>
            </a:r>
            <a:r>
              <a:rPr dirty="0"/>
              <a:t> &amp; Augmentations</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9/22</a:t>
            </a:r>
          </a:p>
        </p:txBody>
      </p:sp>
      <p:sp>
        <p:nvSpPr>
          <p:cNvPr id="7" name="Rounded Rectangle 6"/>
          <p:cNvSpPr/>
          <p:nvPr/>
        </p:nvSpPr>
        <p:spPr>
          <a:xfrm>
            <a:off x="292018" y="1417320"/>
            <a:ext cx="4279982"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2398" y="1645920"/>
            <a:ext cx="274320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TRANSFORMATIONS &amp; EDA</a:t>
            </a:r>
          </a:p>
        </p:txBody>
      </p:sp>
      <p:sp>
        <p:nvSpPr>
          <p:cNvPr id="9" name="TextBox 8"/>
          <p:cNvSpPr txBox="1"/>
          <p:nvPr/>
        </p:nvSpPr>
        <p:spPr>
          <a:xfrm>
            <a:off x="520618" y="2048537"/>
            <a:ext cx="4663440" cy="3218125"/>
          </a:xfrm>
          <a:prstGeom prst="rect">
            <a:avLst/>
          </a:prstGeom>
          <a:noFill/>
        </p:spPr>
        <p:txBody>
          <a:bodyPr wrap="square">
            <a:spAutoFit/>
          </a:bodyPr>
          <a:lstStyle/>
          <a:p>
            <a:pPr>
              <a:lnSpc>
                <a:spcPct val="150000"/>
              </a:lnSpc>
              <a:spcAft>
                <a:spcPts val="600"/>
              </a:spcAft>
            </a:pPr>
            <a:r>
              <a:rPr sz="1100" b="1" dirty="0">
                <a:solidFill>
                  <a:srgbClr val="0F172A"/>
                </a:solidFill>
              </a:rPr>
              <a:t>• </a:t>
            </a:r>
            <a:r>
              <a:rPr sz="1100" b="1" dirty="0" err="1">
                <a:solidFill>
                  <a:srgbClr val="0F172A"/>
                </a:solidFill>
              </a:rPr>
              <a:t>Analyse</a:t>
            </a:r>
            <a:r>
              <a:rPr sz="1100" b="1" dirty="0">
                <a:solidFill>
                  <a:srgbClr val="0F172A"/>
                </a:solidFill>
              </a:rPr>
              <a:t> </a:t>
            </a:r>
            <a:r>
              <a:rPr sz="1100" b="1" dirty="0" err="1">
                <a:solidFill>
                  <a:srgbClr val="0F172A"/>
                </a:solidFill>
              </a:rPr>
              <a:t>Exploratoire</a:t>
            </a:r>
            <a:r>
              <a:rPr sz="1100" b="1" dirty="0">
                <a:solidFill>
                  <a:srgbClr val="0F172A"/>
                </a:solidFill>
              </a:rPr>
              <a:t> (EDA) :</a:t>
            </a:r>
            <a:r>
              <a:rPr sz="1050" b="0" dirty="0">
                <a:solidFill>
                  <a:srgbClr val="0F172A"/>
                </a:solidFill>
              </a:rPr>
              <a:t>
  - </a:t>
            </a:r>
            <a:r>
              <a:rPr sz="1050" b="0" dirty="0" err="1">
                <a:solidFill>
                  <a:srgbClr val="0F172A"/>
                </a:solidFill>
              </a:rPr>
              <a:t>Résolution</a:t>
            </a:r>
            <a:r>
              <a:rPr sz="1050" b="0" dirty="0">
                <a:solidFill>
                  <a:srgbClr val="0F172A"/>
                </a:solidFill>
              </a:rPr>
              <a:t> native variable (de 140 à 500 </a:t>
            </a:r>
            <a:r>
              <a:rPr sz="1050" b="0" dirty="0" err="1">
                <a:solidFill>
                  <a:srgbClr val="0F172A"/>
                </a:solidFill>
              </a:rPr>
              <a:t>px</a:t>
            </a:r>
            <a:r>
              <a:rPr sz="1050" b="0" dirty="0">
                <a:solidFill>
                  <a:srgbClr val="0F172A"/>
                </a:solidFill>
              </a:rPr>
              <a:t> de large).
  - Distribution </a:t>
            </a:r>
            <a:r>
              <a:rPr sz="1050" b="0" dirty="0" err="1">
                <a:solidFill>
                  <a:srgbClr val="0F172A"/>
                </a:solidFill>
              </a:rPr>
              <a:t>équilibrée</a:t>
            </a:r>
            <a:r>
              <a:rPr sz="1050" b="0" dirty="0">
                <a:solidFill>
                  <a:srgbClr val="0F172A"/>
                </a:solidFill>
              </a:rPr>
              <a:t> (41 à 60 images / </a:t>
            </a:r>
            <a:r>
              <a:rPr sz="1050" b="0" dirty="0" err="1">
                <a:solidFill>
                  <a:srgbClr val="0F172A"/>
                </a:solidFill>
              </a:rPr>
              <a:t>classe</a:t>
            </a:r>
            <a:r>
              <a:rPr sz="1050" b="0" dirty="0">
                <a:solidFill>
                  <a:srgbClr val="0F172A"/>
                </a:solidFill>
              </a:rPr>
              <a:t>).
  - </a:t>
            </a:r>
            <a:r>
              <a:rPr sz="1050" b="0" dirty="0" err="1">
                <a:solidFill>
                  <a:srgbClr val="0F172A"/>
                </a:solidFill>
              </a:rPr>
              <a:t>Normalisation</a:t>
            </a:r>
            <a:r>
              <a:rPr sz="1050" b="0" dirty="0">
                <a:solidFill>
                  <a:srgbClr val="0F172A"/>
                </a:solidFill>
              </a:rPr>
              <a:t> </a:t>
            </a:r>
            <a:r>
              <a:rPr sz="1050" b="0" dirty="0" err="1">
                <a:solidFill>
                  <a:srgbClr val="0F172A"/>
                </a:solidFill>
              </a:rPr>
              <a:t>standardisée</a:t>
            </a:r>
            <a:r>
              <a:rPr sz="1050" b="0" dirty="0">
                <a:solidFill>
                  <a:srgbClr val="0F172A"/>
                </a:solidFill>
              </a:rPr>
              <a:t> ImageNet (mean &amp; std).</a:t>
            </a:r>
          </a:p>
          <a:p>
            <a:pPr>
              <a:lnSpc>
                <a:spcPct val="150000"/>
              </a:lnSpc>
              <a:spcAft>
                <a:spcPts val="600"/>
              </a:spcAft>
            </a:pPr>
            <a:r>
              <a:rPr sz="1100" b="1" dirty="0">
                <a:solidFill>
                  <a:srgbClr val="0F172A"/>
                </a:solidFill>
              </a:rPr>
              <a:t>• Pipeline </a:t>
            </a:r>
            <a:r>
              <a:rPr sz="1100" b="1" dirty="0" err="1">
                <a:solidFill>
                  <a:srgbClr val="0F172A"/>
                </a:solidFill>
              </a:rPr>
              <a:t>d'Augmentation</a:t>
            </a:r>
            <a:r>
              <a:rPr sz="1100" b="1" dirty="0">
                <a:solidFill>
                  <a:srgbClr val="0F172A"/>
                </a:solidFill>
              </a:rPr>
              <a:t> </a:t>
            </a:r>
            <a:r>
              <a:rPr sz="1100" b="1" dirty="0" err="1">
                <a:solidFill>
                  <a:srgbClr val="0F172A"/>
                </a:solidFill>
              </a:rPr>
              <a:t>Faible</a:t>
            </a:r>
            <a:r>
              <a:rPr sz="1100" b="1" dirty="0">
                <a:solidFill>
                  <a:srgbClr val="0F172A"/>
                </a:solidFill>
              </a:rPr>
              <a:t> (</a:t>
            </a:r>
            <a:r>
              <a:rPr sz="1100" b="1" dirty="0" err="1">
                <a:solidFill>
                  <a:srgbClr val="0F172A"/>
                </a:solidFill>
              </a:rPr>
              <a:t>défaut</a:t>
            </a:r>
            <a:r>
              <a:rPr sz="1100" b="1" dirty="0">
                <a:solidFill>
                  <a:srgbClr val="0F172A"/>
                </a:solidFill>
              </a:rPr>
              <a:t>) :</a:t>
            </a:r>
            <a:r>
              <a:rPr sz="1050" b="0" dirty="0">
                <a:solidFill>
                  <a:srgbClr val="0F172A"/>
                </a:solidFill>
              </a:rPr>
              <a:t>
  - Resize(224×224) + </a:t>
            </a:r>
            <a:r>
              <a:rPr sz="1050" b="0" dirty="0" err="1">
                <a:solidFill>
                  <a:srgbClr val="0F172A"/>
                </a:solidFill>
              </a:rPr>
              <a:t>RandomHorizontalFlip</a:t>
            </a:r>
            <a:r>
              <a:rPr sz="1050" b="0" dirty="0">
                <a:solidFill>
                  <a:srgbClr val="0F172A"/>
                </a:solidFill>
              </a:rPr>
              <a:t>(p=0.5)
  - </a:t>
            </a:r>
            <a:r>
              <a:rPr sz="1050" b="0" dirty="0" err="1">
                <a:solidFill>
                  <a:srgbClr val="0F172A"/>
                </a:solidFill>
              </a:rPr>
              <a:t>RandomResizedCrop</a:t>
            </a:r>
            <a:r>
              <a:rPr sz="1050" b="0" dirty="0">
                <a:solidFill>
                  <a:srgbClr val="0F172A"/>
                </a:solidFill>
              </a:rPr>
              <a:t>(scale=0.8-1.0)</a:t>
            </a:r>
          </a:p>
          <a:p>
            <a:pPr>
              <a:lnSpc>
                <a:spcPct val="150000"/>
              </a:lnSpc>
              <a:spcAft>
                <a:spcPts val="600"/>
              </a:spcAft>
            </a:pPr>
            <a:r>
              <a:rPr sz="1100" b="1" dirty="0">
                <a:solidFill>
                  <a:srgbClr val="0F172A"/>
                </a:solidFill>
              </a:rPr>
              <a:t>• Pipeline </a:t>
            </a:r>
            <a:r>
              <a:rPr sz="1100" b="1" dirty="0" err="1">
                <a:solidFill>
                  <a:srgbClr val="0F172A"/>
                </a:solidFill>
              </a:rPr>
              <a:t>d'Augmentation</a:t>
            </a:r>
            <a:r>
              <a:rPr sz="1100" b="1" dirty="0">
                <a:solidFill>
                  <a:srgbClr val="0F172A"/>
                </a:solidFill>
              </a:rPr>
              <a:t> Forte :</a:t>
            </a:r>
            <a:r>
              <a:rPr sz="1050" b="0" dirty="0">
                <a:solidFill>
                  <a:srgbClr val="0F172A"/>
                </a:solidFill>
              </a:rPr>
              <a:t>
  - </a:t>
            </a:r>
            <a:r>
              <a:rPr sz="1050" b="0" dirty="0" err="1">
                <a:solidFill>
                  <a:srgbClr val="0F172A"/>
                </a:solidFill>
              </a:rPr>
              <a:t>ColorJitter</a:t>
            </a:r>
            <a:r>
              <a:rPr sz="1050" b="0" dirty="0">
                <a:solidFill>
                  <a:srgbClr val="0F172A"/>
                </a:solidFill>
              </a:rPr>
              <a:t> (</a:t>
            </a:r>
            <a:r>
              <a:rPr sz="1050" b="0" dirty="0" err="1">
                <a:solidFill>
                  <a:srgbClr val="0F172A"/>
                </a:solidFill>
              </a:rPr>
              <a:t>luminosité</a:t>
            </a:r>
            <a:r>
              <a:rPr sz="1050" b="0" dirty="0">
                <a:solidFill>
                  <a:srgbClr val="0F172A"/>
                </a:solidFill>
              </a:rPr>
              <a:t>, </a:t>
            </a:r>
            <a:r>
              <a:rPr sz="1050" b="0" dirty="0" err="1">
                <a:solidFill>
                  <a:srgbClr val="0F172A"/>
                </a:solidFill>
              </a:rPr>
              <a:t>contraste</a:t>
            </a:r>
            <a:r>
              <a:rPr sz="1050" b="0" dirty="0">
                <a:solidFill>
                  <a:srgbClr val="0F172A"/>
                </a:solidFill>
              </a:rPr>
              <a:t>, saturation)
  - </a:t>
            </a:r>
            <a:r>
              <a:rPr sz="1050" b="0" dirty="0" err="1">
                <a:solidFill>
                  <a:srgbClr val="0F172A"/>
                </a:solidFill>
              </a:rPr>
              <a:t>RandomRotation</a:t>
            </a:r>
            <a:r>
              <a:rPr sz="1050" b="0" dirty="0">
                <a:solidFill>
                  <a:srgbClr val="0F172A"/>
                </a:solidFill>
              </a:rPr>
              <a:t>(±15°) + </a:t>
            </a:r>
            <a:r>
              <a:rPr sz="1050" b="0" dirty="0" err="1">
                <a:solidFill>
                  <a:srgbClr val="0F172A"/>
                </a:solidFill>
              </a:rPr>
              <a:t>RandomErasing</a:t>
            </a:r>
            <a:r>
              <a:rPr sz="1050" b="0" dirty="0">
                <a:solidFill>
                  <a:srgbClr val="0F172A"/>
                </a:solidFill>
              </a:rPr>
              <a:t>(p=0.2)</a:t>
            </a:r>
          </a:p>
        </p:txBody>
      </p:sp>
      <p:pic>
        <p:nvPicPr>
          <p:cNvPr id="10" name="Picture 9" descr="eda_similar_classes.png"/>
          <p:cNvPicPr>
            <a:picLocks noChangeAspect="1"/>
          </p:cNvPicPr>
          <p:nvPr/>
        </p:nvPicPr>
        <p:blipFill>
          <a:blip r:embed="rId3"/>
          <a:stretch>
            <a:fillRect/>
          </a:stretch>
        </p:blipFill>
        <p:spPr>
          <a:xfrm>
            <a:off x="4719484" y="2359742"/>
            <a:ext cx="6619076" cy="3016929"/>
          </a:xfrm>
          <a:prstGeom prst="rect">
            <a:avLst/>
          </a:prstGeom>
        </p:spPr>
      </p:pic>
      <p:sp>
        <p:nvSpPr>
          <p:cNvPr id="11" name="TextBox 10"/>
          <p:cNvSpPr txBox="1"/>
          <p:nvPr/>
        </p:nvSpPr>
        <p:spPr>
          <a:xfrm>
            <a:off x="6217920" y="5897880"/>
            <a:ext cx="5120640" cy="274320"/>
          </a:xfrm>
          <a:prstGeom prst="rect">
            <a:avLst/>
          </a:prstGeom>
          <a:noFill/>
        </p:spPr>
        <p:txBody>
          <a:bodyPr wrap="none">
            <a:spAutoFit/>
          </a:bodyPr>
          <a:lstStyle/>
          <a:p>
            <a:pPr algn="ctr">
              <a:defRPr sz="950" i="1">
                <a:solidFill>
                  <a:srgbClr val="64748B"/>
                </a:solidFill>
              </a:defRPr>
            </a:pPr>
            <a:r>
              <a:t>Famille des moineaux : Silhouette identique, variations subtiles de plumage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dirty="0"/>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rPr dirty="0"/>
              <a:t>8. </a:t>
            </a:r>
            <a:r>
              <a:rPr dirty="0" err="1"/>
              <a:t>Modélisation</a:t>
            </a:r>
            <a:r>
              <a:rPr dirty="0"/>
              <a:t> Deep Learning — Les 3 Architectures </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10/22</a:t>
            </a:r>
          </a:p>
        </p:txBody>
      </p:sp>
      <p:sp>
        <p:nvSpPr>
          <p:cNvPr id="7" name="Rounded Rectangle 6"/>
          <p:cNvSpPr/>
          <p:nvPr/>
        </p:nvSpPr>
        <p:spPr>
          <a:xfrm>
            <a:off x="822960"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ectangle 7"/>
          <p:cNvSpPr/>
          <p:nvPr/>
        </p:nvSpPr>
        <p:spPr>
          <a:xfrm>
            <a:off x="822960" y="1417320"/>
            <a:ext cx="3383280" cy="640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9" name="TextBox 8"/>
          <p:cNvSpPr txBox="1"/>
          <p:nvPr/>
        </p:nvSpPr>
        <p:spPr>
          <a:xfrm>
            <a:off x="1704121" y="1481328"/>
            <a:ext cx="1620957" cy="554383"/>
          </a:xfrm>
          <a:prstGeom prst="rect">
            <a:avLst/>
          </a:prstGeom>
          <a:noFill/>
        </p:spPr>
        <p:txBody>
          <a:bodyPr wrap="none">
            <a:spAutoFit/>
          </a:bodyPr>
          <a:lstStyle/>
          <a:p>
            <a:pPr algn="ctr">
              <a:lnSpc>
                <a:spcPct val="150000"/>
              </a:lnSpc>
              <a:defRPr sz="1150" b="1">
                <a:solidFill>
                  <a:srgbClr val="FFFFFF"/>
                </a:solidFill>
              </a:defRPr>
            </a:pPr>
            <a:r>
              <a:t>ResNet-50 Pré-entraîné</a:t>
            </a:r>
          </a:p>
          <a:p>
            <a:pPr algn="ctr">
              <a:lnSpc>
                <a:spcPct val="150000"/>
              </a:lnSpc>
              <a:defRPr sz="950">
                <a:solidFill>
                  <a:srgbClr val="E2E8F0"/>
                </a:solidFill>
              </a:defRPr>
            </a:pPr>
            <a:r>
              <a:t>23.9M Paramètres</a:t>
            </a:r>
          </a:p>
        </p:txBody>
      </p:sp>
      <p:sp>
        <p:nvSpPr>
          <p:cNvPr id="10" name="TextBox 9"/>
          <p:cNvSpPr txBox="1"/>
          <p:nvPr/>
        </p:nvSpPr>
        <p:spPr>
          <a:xfrm>
            <a:off x="1005840" y="2194560"/>
            <a:ext cx="3017520" cy="1683089"/>
          </a:xfrm>
          <a:prstGeom prst="rect">
            <a:avLst/>
          </a:prstGeom>
          <a:noFill/>
        </p:spPr>
        <p:txBody>
          <a:bodyPr wrap="square">
            <a:spAutoFit/>
          </a:bodyPr>
          <a:lstStyle/>
          <a:p>
            <a:pPr>
              <a:lnSpc>
                <a:spcPct val="150000"/>
              </a:lnSpc>
            </a:pPr>
            <a:endParaRPr/>
          </a:p>
          <a:p>
            <a:pPr>
              <a:lnSpc>
                <a:spcPct val="150000"/>
              </a:lnSpc>
              <a:spcAft>
                <a:spcPts val="600"/>
              </a:spcAft>
              <a:defRPr sz="1050">
                <a:solidFill>
                  <a:srgbClr val="0F172A"/>
                </a:solidFill>
              </a:defRPr>
            </a:pPr>
            <a:r>
              <a:t>• Backbone ResNet-50 torchvision</a:t>
            </a:r>
          </a:p>
          <a:p>
            <a:pPr>
              <a:lnSpc>
                <a:spcPct val="150000"/>
              </a:lnSpc>
              <a:spcAft>
                <a:spcPts val="600"/>
              </a:spcAft>
              <a:defRPr sz="1050">
                <a:solidFill>
                  <a:srgbClr val="0F172A"/>
                </a:solidFill>
              </a:defRPr>
            </a:pPr>
            <a:r>
              <a:t>• Poids ImageNet-1k</a:t>
            </a:r>
          </a:p>
          <a:p>
            <a:pPr>
              <a:lnSpc>
                <a:spcPct val="150000"/>
              </a:lnSpc>
              <a:spcAft>
                <a:spcPts val="600"/>
              </a:spcAft>
              <a:defRPr sz="1050">
                <a:solidFill>
                  <a:srgbClr val="0F172A"/>
                </a:solidFill>
              </a:defRPr>
            </a:pPr>
            <a:r>
              <a:t>• Bloc Bottleneck avec connexions résiduelles</a:t>
            </a:r>
          </a:p>
          <a:p>
            <a:pPr>
              <a:lnSpc>
                <a:spcPct val="150000"/>
              </a:lnSpc>
              <a:spcAft>
                <a:spcPts val="600"/>
              </a:spcAft>
              <a:defRPr sz="1050">
                <a:solidFill>
                  <a:srgbClr val="0F172A"/>
                </a:solidFill>
              </a:defRPr>
            </a:pPr>
            <a:r>
              <a:t>• Tête linéaire 2048 -&gt; 200 classes</a:t>
            </a:r>
          </a:p>
        </p:txBody>
      </p:sp>
      <p:sp>
        <p:nvSpPr>
          <p:cNvPr id="11" name="Rounded Rectangle 10"/>
          <p:cNvSpPr/>
          <p:nvPr/>
        </p:nvSpPr>
        <p:spPr>
          <a:xfrm>
            <a:off x="4389120"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2" name="Rectangle 11"/>
          <p:cNvSpPr/>
          <p:nvPr/>
        </p:nvSpPr>
        <p:spPr>
          <a:xfrm>
            <a:off x="4389120" y="1417320"/>
            <a:ext cx="3383280"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3" name="TextBox 12"/>
          <p:cNvSpPr txBox="1"/>
          <p:nvPr/>
        </p:nvSpPr>
        <p:spPr>
          <a:xfrm>
            <a:off x="5261465" y="1481328"/>
            <a:ext cx="1638590" cy="554383"/>
          </a:xfrm>
          <a:prstGeom prst="rect">
            <a:avLst/>
          </a:prstGeom>
          <a:noFill/>
        </p:spPr>
        <p:txBody>
          <a:bodyPr wrap="none">
            <a:spAutoFit/>
          </a:bodyPr>
          <a:lstStyle/>
          <a:p>
            <a:pPr algn="ctr">
              <a:lnSpc>
                <a:spcPct val="150000"/>
              </a:lnSpc>
              <a:defRPr sz="1150" b="1">
                <a:solidFill>
                  <a:srgbClr val="FFFFFF"/>
                </a:solidFill>
              </a:defRPr>
            </a:pPr>
            <a:r>
              <a:t>ViT Pré-entraîné (timm)</a:t>
            </a:r>
          </a:p>
          <a:p>
            <a:pPr algn="ctr">
              <a:lnSpc>
                <a:spcPct val="150000"/>
              </a:lnSpc>
              <a:defRPr sz="950">
                <a:solidFill>
                  <a:srgbClr val="E2E8F0"/>
                </a:solidFill>
              </a:defRPr>
            </a:pPr>
            <a:r>
              <a:t>21.7M - 22.6M Paramètres</a:t>
            </a:r>
          </a:p>
        </p:txBody>
      </p:sp>
      <p:sp>
        <p:nvSpPr>
          <p:cNvPr id="14" name="TextBox 13"/>
          <p:cNvSpPr txBox="1"/>
          <p:nvPr/>
        </p:nvSpPr>
        <p:spPr>
          <a:xfrm>
            <a:off x="4572000" y="2194560"/>
            <a:ext cx="3017520" cy="1683089"/>
          </a:xfrm>
          <a:prstGeom prst="rect">
            <a:avLst/>
          </a:prstGeom>
          <a:noFill/>
        </p:spPr>
        <p:txBody>
          <a:bodyPr wrap="square">
            <a:spAutoFit/>
          </a:bodyPr>
          <a:lstStyle/>
          <a:p>
            <a:pPr>
              <a:lnSpc>
                <a:spcPct val="150000"/>
              </a:lnSpc>
            </a:pPr>
            <a:endParaRPr/>
          </a:p>
          <a:p>
            <a:pPr>
              <a:lnSpc>
                <a:spcPct val="150000"/>
              </a:lnSpc>
              <a:spcAft>
                <a:spcPts val="600"/>
              </a:spcAft>
              <a:defRPr sz="1050">
                <a:solidFill>
                  <a:srgbClr val="0F172A"/>
                </a:solidFill>
              </a:defRPr>
            </a:pPr>
            <a:r>
              <a:t>• vit_small_patch16_224 (196 tokens)</a:t>
            </a:r>
          </a:p>
          <a:p>
            <a:pPr>
              <a:lnSpc>
                <a:spcPct val="150000"/>
              </a:lnSpc>
              <a:spcAft>
                <a:spcPts val="600"/>
              </a:spcAft>
              <a:defRPr sz="1050">
                <a:solidFill>
                  <a:srgbClr val="0F172A"/>
                </a:solidFill>
              </a:defRPr>
            </a:pPr>
            <a:r>
              <a:t>• vit_small_patch32_224 (49 tokens)</a:t>
            </a:r>
          </a:p>
          <a:p>
            <a:pPr>
              <a:lnSpc>
                <a:spcPct val="150000"/>
              </a:lnSpc>
              <a:spcAft>
                <a:spcPts val="600"/>
              </a:spcAft>
              <a:defRPr sz="1050">
                <a:solidFill>
                  <a:srgbClr val="0F172A"/>
                </a:solidFill>
              </a:defRPr>
            </a:pPr>
            <a:r>
              <a:t>• Pré-entraînement ImageNet-1k</a:t>
            </a:r>
          </a:p>
          <a:p>
            <a:pPr>
              <a:lnSpc>
                <a:spcPct val="150000"/>
              </a:lnSpc>
              <a:spcAft>
                <a:spcPts val="600"/>
              </a:spcAft>
              <a:defRPr sz="1050">
                <a:solidFill>
                  <a:srgbClr val="0F172A"/>
                </a:solidFill>
              </a:defRPr>
            </a:pPr>
            <a:r>
              <a:t>• Tête linéaire 384 -&gt; 200 classes</a:t>
            </a:r>
          </a:p>
        </p:txBody>
      </p:sp>
      <p:sp>
        <p:nvSpPr>
          <p:cNvPr id="15" name="Rounded Rectangle 14"/>
          <p:cNvSpPr/>
          <p:nvPr/>
        </p:nvSpPr>
        <p:spPr>
          <a:xfrm>
            <a:off x="7955279"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6" name="Rectangle 15"/>
          <p:cNvSpPr/>
          <p:nvPr/>
        </p:nvSpPr>
        <p:spPr>
          <a:xfrm>
            <a:off x="7955279" y="1417320"/>
            <a:ext cx="3383280" cy="6400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7" name="TextBox 16"/>
          <p:cNvSpPr txBox="1"/>
          <p:nvPr/>
        </p:nvSpPr>
        <p:spPr>
          <a:xfrm>
            <a:off x="8800373" y="1481328"/>
            <a:ext cx="1693091" cy="554383"/>
          </a:xfrm>
          <a:prstGeom prst="rect">
            <a:avLst/>
          </a:prstGeom>
          <a:noFill/>
        </p:spPr>
        <p:txBody>
          <a:bodyPr wrap="none">
            <a:spAutoFit/>
          </a:bodyPr>
          <a:lstStyle/>
          <a:p>
            <a:pPr algn="ctr">
              <a:lnSpc>
                <a:spcPct val="150000"/>
              </a:lnSpc>
              <a:defRPr sz="1150" b="1">
                <a:solidFill>
                  <a:srgbClr val="FFFFFF"/>
                </a:solidFill>
              </a:defRPr>
            </a:pPr>
            <a:r>
              <a:t>ViT Custom from Scratch</a:t>
            </a:r>
          </a:p>
          <a:p>
            <a:pPr algn="ctr">
              <a:lnSpc>
                <a:spcPct val="150000"/>
              </a:lnSpc>
              <a:defRPr sz="950">
                <a:solidFill>
                  <a:srgbClr val="E2E8F0"/>
                </a:solidFill>
              </a:defRPr>
            </a:pPr>
            <a:r>
              <a:t>11.1M Paramètres</a:t>
            </a:r>
          </a:p>
        </p:txBody>
      </p:sp>
      <p:sp>
        <p:nvSpPr>
          <p:cNvPr id="18" name="TextBox 17"/>
          <p:cNvSpPr txBox="1"/>
          <p:nvPr/>
        </p:nvSpPr>
        <p:spPr>
          <a:xfrm>
            <a:off x="8138159" y="2194560"/>
            <a:ext cx="3017520" cy="1683089"/>
          </a:xfrm>
          <a:prstGeom prst="rect">
            <a:avLst/>
          </a:prstGeom>
          <a:noFill/>
        </p:spPr>
        <p:txBody>
          <a:bodyPr wrap="square">
            <a:spAutoFit/>
          </a:bodyPr>
          <a:lstStyle/>
          <a:p>
            <a:pPr>
              <a:lnSpc>
                <a:spcPct val="150000"/>
              </a:lnSpc>
            </a:pPr>
            <a:endParaRPr/>
          </a:p>
          <a:p>
            <a:pPr>
              <a:lnSpc>
                <a:spcPct val="150000"/>
              </a:lnSpc>
              <a:spcAft>
                <a:spcPts val="600"/>
              </a:spcAft>
              <a:defRPr sz="1050">
                <a:solidFill>
                  <a:srgbClr val="0F172A"/>
                </a:solidFill>
              </a:defRPr>
            </a:pPr>
            <a:r>
              <a:t>• Implémentation custom complète</a:t>
            </a:r>
          </a:p>
          <a:p>
            <a:pPr>
              <a:lnSpc>
                <a:spcPct val="150000"/>
              </a:lnSpc>
              <a:spcAft>
                <a:spcPts val="600"/>
              </a:spcAft>
              <a:defRPr sz="1050">
                <a:solidFill>
                  <a:srgbClr val="0F172A"/>
                </a:solidFill>
              </a:defRPr>
            </a:pPr>
            <a:r>
              <a:t>• Patch Embedding + [CLS] token</a:t>
            </a:r>
          </a:p>
          <a:p>
            <a:pPr>
              <a:lnSpc>
                <a:spcPct val="150000"/>
              </a:lnSpc>
              <a:spcAft>
                <a:spcPts val="600"/>
              </a:spcAft>
              <a:defRPr sz="1050">
                <a:solidFill>
                  <a:srgbClr val="0F172A"/>
                </a:solidFill>
              </a:defRPr>
            </a:pPr>
            <a:r>
              <a:t>• Positional Embedding appris</a:t>
            </a:r>
          </a:p>
          <a:p>
            <a:pPr>
              <a:lnSpc>
                <a:spcPct val="150000"/>
              </a:lnSpc>
              <a:spcAft>
                <a:spcPts val="600"/>
              </a:spcAft>
              <a:defRPr sz="1050">
                <a:solidFill>
                  <a:srgbClr val="0F172A"/>
                </a:solidFill>
              </a:defRPr>
            </a:pPr>
            <a:r>
              <a:t>• 6 Blocs Transformer (384 dim, 6 heads)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dirty="0"/>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rPr dirty="0"/>
              <a:t>9. </a:t>
            </a:r>
            <a:r>
              <a:rPr dirty="0" err="1"/>
              <a:t>Protocole</a:t>
            </a:r>
            <a:r>
              <a:rPr dirty="0"/>
              <a:t> </a:t>
            </a:r>
            <a:r>
              <a:rPr dirty="0" err="1"/>
              <a:t>d'Entraînement</a:t>
            </a:r>
            <a:r>
              <a:rPr dirty="0"/>
              <a:t> &amp; </a:t>
            </a:r>
            <a:r>
              <a:rPr dirty="0" err="1"/>
              <a:t>Traçabilité</a:t>
            </a:r>
            <a:r>
              <a:rPr dirty="0"/>
              <a:t> </a:t>
            </a:r>
            <a:r>
              <a:rPr dirty="0" err="1"/>
              <a:t>MLflow</a:t>
            </a:r>
            <a:endParaRPr dirty="0"/>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11/22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ounded Rectangle 7"/>
          <p:cNvSpPr/>
          <p:nvPr/>
        </p:nvSpPr>
        <p:spPr>
          <a:xfrm>
            <a:off x="1916801" y="1754074"/>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HYPERPARAMÈTRES HARMONISÉS</a:t>
            </a:r>
          </a:p>
        </p:txBody>
      </p:sp>
      <p:sp>
        <p:nvSpPr>
          <p:cNvPr id="9" name="TextBox 8"/>
          <p:cNvSpPr txBox="1"/>
          <p:nvPr/>
        </p:nvSpPr>
        <p:spPr>
          <a:xfrm>
            <a:off x="1051560" y="2103120"/>
            <a:ext cx="4663440" cy="2389821"/>
          </a:xfrm>
          <a:prstGeom prst="rect">
            <a:avLst/>
          </a:prstGeom>
          <a:noFill/>
        </p:spPr>
        <p:txBody>
          <a:bodyPr wrap="square">
            <a:spAutoFit/>
          </a:bodyPr>
          <a:lstStyle/>
          <a:p>
            <a:pPr>
              <a:lnSpc>
                <a:spcPct val="150000"/>
              </a:lnSpc>
            </a:pPr>
            <a:endParaRPr dirty="0"/>
          </a:p>
          <a:p>
            <a:pPr>
              <a:lnSpc>
                <a:spcPct val="150000"/>
              </a:lnSpc>
              <a:spcAft>
                <a:spcPts val="600"/>
              </a:spcAft>
            </a:pPr>
            <a:r>
              <a:rPr sz="1100" b="1" dirty="0">
                <a:solidFill>
                  <a:srgbClr val="0F172A"/>
                </a:solidFill>
              </a:rPr>
              <a:t>• </a:t>
            </a:r>
            <a:r>
              <a:rPr sz="1100" b="1" dirty="0" err="1">
                <a:solidFill>
                  <a:srgbClr val="0F172A"/>
                </a:solidFill>
              </a:rPr>
              <a:t>Optimiseur</a:t>
            </a:r>
            <a:r>
              <a:rPr sz="1100" b="1" dirty="0">
                <a:solidFill>
                  <a:srgbClr val="0F172A"/>
                </a:solidFill>
              </a:rPr>
              <a:t> :</a:t>
            </a:r>
            <a:r>
              <a:rPr sz="1050" b="0" dirty="0">
                <a:solidFill>
                  <a:srgbClr val="0F172A"/>
                </a:solidFill>
              </a:rPr>
              <a:t> </a:t>
            </a:r>
            <a:r>
              <a:rPr sz="1050" b="0" dirty="0" err="1">
                <a:solidFill>
                  <a:srgbClr val="0F172A"/>
                </a:solidFill>
              </a:rPr>
              <a:t>AdamW</a:t>
            </a:r>
            <a:r>
              <a:rPr sz="1050" b="0" dirty="0">
                <a:solidFill>
                  <a:srgbClr val="0F172A"/>
                </a:solidFill>
              </a:rPr>
              <a:t> (</a:t>
            </a:r>
            <a:r>
              <a:rPr sz="1050" b="0" dirty="0" err="1">
                <a:solidFill>
                  <a:srgbClr val="0F172A"/>
                </a:solidFill>
              </a:rPr>
              <a:t>lr</a:t>
            </a:r>
            <a:r>
              <a:rPr sz="1050" b="0" dirty="0">
                <a:solidFill>
                  <a:srgbClr val="0F172A"/>
                </a:solidFill>
              </a:rPr>
              <a:t> = 1e-4, weight decay = 0.01)</a:t>
            </a:r>
          </a:p>
          <a:p>
            <a:pPr>
              <a:lnSpc>
                <a:spcPct val="150000"/>
              </a:lnSpc>
              <a:spcAft>
                <a:spcPts val="600"/>
              </a:spcAft>
            </a:pPr>
            <a:r>
              <a:rPr sz="1100" b="1" dirty="0">
                <a:solidFill>
                  <a:srgbClr val="0F172A"/>
                </a:solidFill>
              </a:rPr>
              <a:t>• </a:t>
            </a:r>
            <a:r>
              <a:rPr sz="1100" b="1" dirty="0" err="1">
                <a:solidFill>
                  <a:srgbClr val="0F172A"/>
                </a:solidFill>
              </a:rPr>
              <a:t>Fonction</a:t>
            </a:r>
            <a:r>
              <a:rPr sz="1100" b="1" dirty="0">
                <a:solidFill>
                  <a:srgbClr val="0F172A"/>
                </a:solidFill>
              </a:rPr>
              <a:t> de Perte :</a:t>
            </a:r>
            <a:r>
              <a:rPr sz="1050" b="0" dirty="0">
                <a:solidFill>
                  <a:srgbClr val="0F172A"/>
                </a:solidFill>
              </a:rPr>
              <a:t> Cross-Entropy Loss</a:t>
            </a:r>
          </a:p>
          <a:p>
            <a:pPr>
              <a:lnSpc>
                <a:spcPct val="150000"/>
              </a:lnSpc>
              <a:spcAft>
                <a:spcPts val="600"/>
              </a:spcAft>
            </a:pPr>
            <a:r>
              <a:rPr sz="1100" b="1" dirty="0">
                <a:solidFill>
                  <a:srgbClr val="0F172A"/>
                </a:solidFill>
              </a:rPr>
              <a:t>• Batch Size &amp; </a:t>
            </a:r>
            <a:r>
              <a:rPr sz="1100" b="1" dirty="0" err="1">
                <a:solidFill>
                  <a:srgbClr val="0F172A"/>
                </a:solidFill>
              </a:rPr>
              <a:t>Résolution</a:t>
            </a:r>
            <a:r>
              <a:rPr sz="1100" b="1" dirty="0">
                <a:solidFill>
                  <a:srgbClr val="0F172A"/>
                </a:solidFill>
              </a:rPr>
              <a:t> :</a:t>
            </a:r>
            <a:r>
              <a:rPr sz="1050" b="0" dirty="0">
                <a:solidFill>
                  <a:srgbClr val="0F172A"/>
                </a:solidFill>
              </a:rPr>
              <a:t> 32 images / batch, </a:t>
            </a:r>
            <a:r>
              <a:rPr sz="1050" b="0" dirty="0" err="1">
                <a:solidFill>
                  <a:srgbClr val="0F172A"/>
                </a:solidFill>
              </a:rPr>
              <a:t>résolution</a:t>
            </a:r>
            <a:r>
              <a:rPr sz="1050" b="0" dirty="0">
                <a:solidFill>
                  <a:srgbClr val="0F172A"/>
                </a:solidFill>
              </a:rPr>
              <a:t> 224×224</a:t>
            </a:r>
          </a:p>
          <a:p>
            <a:pPr>
              <a:lnSpc>
                <a:spcPct val="150000"/>
              </a:lnSpc>
              <a:spcAft>
                <a:spcPts val="600"/>
              </a:spcAft>
            </a:pPr>
            <a:r>
              <a:rPr sz="1100" b="1" dirty="0">
                <a:solidFill>
                  <a:srgbClr val="0F172A"/>
                </a:solidFill>
              </a:rPr>
              <a:t>• Durée :</a:t>
            </a:r>
            <a:r>
              <a:rPr sz="1050" b="0" dirty="0">
                <a:solidFill>
                  <a:srgbClr val="0F172A"/>
                </a:solidFill>
              </a:rPr>
              <a:t> 3 époques (</a:t>
            </a:r>
            <a:r>
              <a:rPr sz="1050" b="0" dirty="0" err="1">
                <a:solidFill>
                  <a:srgbClr val="0F172A"/>
                </a:solidFill>
              </a:rPr>
              <a:t>fixée</a:t>
            </a:r>
            <a:r>
              <a:rPr sz="1050" b="0" dirty="0">
                <a:solidFill>
                  <a:srgbClr val="0F172A"/>
                </a:solidFill>
              </a:rPr>
              <a:t> pour </a:t>
            </a:r>
            <a:r>
              <a:rPr sz="1050" b="0" dirty="0" err="1">
                <a:solidFill>
                  <a:srgbClr val="0F172A"/>
                </a:solidFill>
              </a:rPr>
              <a:t>contrainte</a:t>
            </a:r>
            <a:r>
              <a:rPr sz="1050" b="0" dirty="0">
                <a:solidFill>
                  <a:srgbClr val="0F172A"/>
                </a:solidFill>
              </a:rPr>
              <a:t> de temps de </a:t>
            </a:r>
            <a:r>
              <a:rPr sz="1050" b="0" dirty="0" err="1">
                <a:solidFill>
                  <a:srgbClr val="0F172A"/>
                </a:solidFill>
              </a:rPr>
              <a:t>calcul</a:t>
            </a:r>
            <a:r>
              <a:rPr sz="1050" b="0" dirty="0">
                <a:solidFill>
                  <a:srgbClr val="0F172A"/>
                </a:solidFill>
              </a:rPr>
              <a:t>)</a:t>
            </a:r>
          </a:p>
          <a:p>
            <a:pPr>
              <a:lnSpc>
                <a:spcPct val="150000"/>
              </a:lnSpc>
              <a:spcAft>
                <a:spcPts val="600"/>
              </a:spcAft>
            </a:pPr>
            <a:r>
              <a:rPr sz="1100" b="1" dirty="0">
                <a:solidFill>
                  <a:srgbClr val="0F172A"/>
                </a:solidFill>
              </a:rPr>
              <a:t>• </a:t>
            </a:r>
            <a:r>
              <a:rPr sz="1100" b="1" dirty="0" err="1">
                <a:solidFill>
                  <a:srgbClr val="0F172A"/>
                </a:solidFill>
              </a:rPr>
              <a:t>Sélection</a:t>
            </a:r>
            <a:r>
              <a:rPr sz="1100" b="1" dirty="0">
                <a:solidFill>
                  <a:srgbClr val="0F172A"/>
                </a:solidFill>
              </a:rPr>
              <a:t> du </a:t>
            </a:r>
            <a:r>
              <a:rPr sz="1100" b="1" dirty="0" err="1">
                <a:solidFill>
                  <a:srgbClr val="0F172A"/>
                </a:solidFill>
              </a:rPr>
              <a:t>Modèle</a:t>
            </a:r>
            <a:r>
              <a:rPr sz="1100" b="1" dirty="0">
                <a:solidFill>
                  <a:srgbClr val="0F172A"/>
                </a:solidFill>
              </a:rPr>
              <a:t> :</a:t>
            </a:r>
            <a:r>
              <a:rPr sz="1050" b="0" dirty="0">
                <a:solidFill>
                  <a:srgbClr val="0F172A"/>
                </a:solidFill>
              </a:rPr>
              <a:t> Meilleur checkpoint </a:t>
            </a:r>
            <a:r>
              <a:rPr sz="1050" b="0" dirty="0" err="1">
                <a:solidFill>
                  <a:srgbClr val="0F172A"/>
                </a:solidFill>
              </a:rPr>
              <a:t>sauvegardé</a:t>
            </a:r>
            <a:r>
              <a:rPr sz="1050" b="0" dirty="0">
                <a:solidFill>
                  <a:srgbClr val="0F172A"/>
                </a:solidFill>
              </a:rPr>
              <a:t> sur Val Accuracy</a:t>
            </a:r>
          </a:p>
          <a:p>
            <a:pPr>
              <a:lnSpc>
                <a:spcPct val="150000"/>
              </a:lnSpc>
              <a:spcAft>
                <a:spcPts val="600"/>
              </a:spcAft>
            </a:pPr>
            <a:r>
              <a:rPr sz="1100" b="1" dirty="0">
                <a:solidFill>
                  <a:srgbClr val="0F172A"/>
                </a:solidFill>
              </a:rPr>
              <a:t>• Seed Fixe :</a:t>
            </a:r>
            <a:r>
              <a:rPr sz="1050" b="0" dirty="0">
                <a:solidFill>
                  <a:srgbClr val="0F172A"/>
                </a:solidFill>
              </a:rPr>
              <a:t> 42 sur </a:t>
            </a:r>
            <a:r>
              <a:rPr sz="1050" b="0" dirty="0" err="1">
                <a:solidFill>
                  <a:srgbClr val="0F172A"/>
                </a:solidFill>
              </a:rPr>
              <a:t>l'ensemble</a:t>
            </a:r>
            <a:r>
              <a:rPr sz="1050" b="0" dirty="0">
                <a:solidFill>
                  <a:srgbClr val="0F172A"/>
                </a:solidFill>
              </a:rPr>
              <a:t> des 12 </a:t>
            </a:r>
            <a:r>
              <a:rPr sz="1050" b="0" dirty="0" err="1">
                <a:solidFill>
                  <a:srgbClr val="0F172A"/>
                </a:solidFill>
              </a:rPr>
              <a:t>expérimentations</a:t>
            </a:r>
            <a:endParaRPr sz="1050" b="0" dirty="0">
              <a:solidFill>
                <a:srgbClr val="0F172A"/>
              </a:solidFill>
            </a:endParaRPr>
          </a:p>
        </p:txBody>
      </p:sp>
      <p:sp>
        <p:nvSpPr>
          <p:cNvPr id="10" name="Rounded Rectangle 9"/>
          <p:cNvSpPr/>
          <p:nvPr/>
        </p:nvSpPr>
        <p:spPr>
          <a:xfrm>
            <a:off x="621792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1" name="Rounded Rectangle 10"/>
          <p:cNvSpPr/>
          <p:nvPr/>
        </p:nvSpPr>
        <p:spPr>
          <a:xfrm>
            <a:off x="7311761" y="1754074"/>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TRAÇABILITÉ AVEC MLFLOW</a:t>
            </a:r>
          </a:p>
        </p:txBody>
      </p:sp>
      <p:sp>
        <p:nvSpPr>
          <p:cNvPr id="12" name="TextBox 11"/>
          <p:cNvSpPr txBox="1"/>
          <p:nvPr/>
        </p:nvSpPr>
        <p:spPr>
          <a:xfrm>
            <a:off x="6446520" y="2103120"/>
            <a:ext cx="4663440" cy="3491277"/>
          </a:xfrm>
          <a:prstGeom prst="rect">
            <a:avLst/>
          </a:prstGeom>
          <a:noFill/>
        </p:spPr>
        <p:txBody>
          <a:bodyPr wrap="square">
            <a:spAutoFit/>
          </a:bodyPr>
          <a:lstStyle/>
          <a:p>
            <a:pPr>
              <a:lnSpc>
                <a:spcPct val="150000"/>
              </a:lnSpc>
            </a:pPr>
            <a:endParaRPr/>
          </a:p>
          <a:p>
            <a:pPr>
              <a:lnSpc>
                <a:spcPct val="150000"/>
              </a:lnSpc>
              <a:spcAft>
                <a:spcPts val="600"/>
              </a:spcAft>
            </a:pPr>
            <a:r>
              <a:rPr sz="1100" b="1">
                <a:solidFill>
                  <a:srgbClr val="0F172A"/>
                </a:solidFill>
              </a:rPr>
              <a:t>• Expérience centralisée :</a:t>
            </a:r>
            <a:r>
              <a:rPr sz="1050" b="0">
                <a:solidFill>
                  <a:srgbClr val="0F172A"/>
                </a:solidFill>
              </a:rPr>
              <a:t>
  Nom : CUB-200-2011_ablation dans mlflow.db</a:t>
            </a:r>
          </a:p>
          <a:p>
            <a:pPr>
              <a:lnSpc>
                <a:spcPct val="150000"/>
              </a:lnSpc>
              <a:spcAft>
                <a:spcPts val="600"/>
              </a:spcAft>
            </a:pPr>
            <a:r>
              <a:rPr sz="1100" b="1">
                <a:solidFill>
                  <a:srgbClr val="0F172A"/>
                </a:solidFill>
              </a:rPr>
              <a:t>• 12 Runs enregistrés :</a:t>
            </a:r>
            <a:r>
              <a:rPr sz="1050" b="0">
                <a:solidFill>
                  <a:srgbClr val="0F172A"/>
                </a:solidFill>
              </a:rPr>
              <a:t>
  Toutes les configurations (10%, 25%, 50%, 100%, patch 16/32, scratch/pré-entraîné).</a:t>
            </a:r>
          </a:p>
          <a:p>
            <a:pPr>
              <a:lnSpc>
                <a:spcPct val="150000"/>
              </a:lnSpc>
              <a:spcAft>
                <a:spcPts val="600"/>
              </a:spcAft>
            </a:pPr>
            <a:r>
              <a:rPr sz="1100" b="1">
                <a:solidFill>
                  <a:srgbClr val="0F172A"/>
                </a:solidFill>
              </a:rPr>
              <a:t>• Métriques enregistrées :</a:t>
            </a:r>
            <a:r>
              <a:rPr sz="1050" b="0">
                <a:solidFill>
                  <a:srgbClr val="0F172A"/>
                </a:solidFill>
              </a:rPr>
              <a:t>
  Top-1 test accuracy, Top-5 test accuracy, test loss, temps d'évaluation, nombre de paramètres.</a:t>
            </a:r>
          </a:p>
          <a:p>
            <a:pPr>
              <a:lnSpc>
                <a:spcPct val="150000"/>
              </a:lnSpc>
              <a:spcAft>
                <a:spcPts val="600"/>
              </a:spcAft>
            </a:pPr>
            <a:r>
              <a:rPr sz="1100" b="1">
                <a:solidFill>
                  <a:srgbClr val="0F172A"/>
                </a:solidFill>
              </a:rPr>
              <a:t>• Modèles PyTorch packagés :</a:t>
            </a:r>
            <a:r>
              <a:rPr sz="1050" b="0">
                <a:solidFill>
                  <a:srgbClr val="0F172A"/>
                </a:solidFill>
              </a:rPr>
              <a:t>
  Export direct des meilleurs modèles dans MLflow Model Registry.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t>10. Synthèse des Résultats Expérimentaux (5 794 Images Test)</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12/22</a:t>
            </a:r>
          </a:p>
        </p:txBody>
      </p:sp>
      <p:sp>
        <p:nvSpPr>
          <p:cNvPr id="7" name="Rounded Rectangle 6"/>
          <p:cNvSpPr/>
          <p:nvPr/>
        </p:nvSpPr>
        <p:spPr>
          <a:xfrm>
            <a:off x="822960" y="1417320"/>
            <a:ext cx="25146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9" name="TextBox 8"/>
          <p:cNvSpPr txBox="1"/>
          <p:nvPr/>
        </p:nvSpPr>
        <p:spPr>
          <a:xfrm>
            <a:off x="1495004" y="1508760"/>
            <a:ext cx="1170512" cy="1050672"/>
          </a:xfrm>
          <a:prstGeom prst="rect">
            <a:avLst/>
          </a:prstGeom>
          <a:noFill/>
        </p:spPr>
        <p:txBody>
          <a:bodyPr wrap="none">
            <a:spAutoFit/>
          </a:bodyPr>
          <a:lstStyle/>
          <a:p>
            <a:pPr algn="ctr">
              <a:lnSpc>
                <a:spcPct val="150000"/>
              </a:lnSpc>
              <a:defRPr sz="2200" b="1">
                <a:solidFill>
                  <a:srgbClr val="2563EB"/>
                </a:solidFill>
              </a:defRPr>
            </a:pPr>
            <a:r>
              <a:t>71.87 %</a:t>
            </a:r>
          </a:p>
          <a:p>
            <a:pPr algn="ctr">
              <a:lnSpc>
                <a:spcPct val="150000"/>
              </a:lnSpc>
              <a:defRPr sz="1100" b="1">
                <a:solidFill>
                  <a:srgbClr val="0F172A"/>
                </a:solidFill>
              </a:defRPr>
            </a:pPr>
            <a:r>
              <a:t>ResNet-50 Top-1</a:t>
            </a:r>
          </a:p>
          <a:p>
            <a:pPr algn="ctr">
              <a:lnSpc>
                <a:spcPct val="150000"/>
              </a:lnSpc>
              <a:defRPr sz="950">
                <a:solidFill>
                  <a:srgbClr val="64748B"/>
                </a:solidFill>
              </a:defRPr>
            </a:pPr>
            <a:r>
              <a:t>100% données train</a:t>
            </a:r>
          </a:p>
        </p:txBody>
      </p:sp>
      <p:sp>
        <p:nvSpPr>
          <p:cNvPr id="10" name="Rounded Rectangle 9"/>
          <p:cNvSpPr/>
          <p:nvPr/>
        </p:nvSpPr>
        <p:spPr>
          <a:xfrm>
            <a:off x="3520440" y="1417320"/>
            <a:ext cx="25146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2" name="TextBox 11"/>
          <p:cNvSpPr txBox="1"/>
          <p:nvPr/>
        </p:nvSpPr>
        <p:spPr>
          <a:xfrm>
            <a:off x="4197292" y="1508760"/>
            <a:ext cx="1160895" cy="1050672"/>
          </a:xfrm>
          <a:prstGeom prst="rect">
            <a:avLst/>
          </a:prstGeom>
          <a:noFill/>
        </p:spPr>
        <p:txBody>
          <a:bodyPr wrap="none">
            <a:spAutoFit/>
          </a:bodyPr>
          <a:lstStyle/>
          <a:p>
            <a:pPr algn="ctr">
              <a:lnSpc>
                <a:spcPct val="150000"/>
              </a:lnSpc>
              <a:defRPr sz="2200" b="1">
                <a:solidFill>
                  <a:srgbClr val="0F172A"/>
                </a:solidFill>
              </a:defRPr>
            </a:pPr>
            <a:r>
              <a:t>93.58 %</a:t>
            </a:r>
          </a:p>
          <a:p>
            <a:pPr algn="ctr">
              <a:lnSpc>
                <a:spcPct val="150000"/>
              </a:lnSpc>
              <a:defRPr sz="1100" b="1">
                <a:solidFill>
                  <a:srgbClr val="0F172A"/>
                </a:solidFill>
              </a:defRPr>
            </a:pPr>
            <a:r>
              <a:t>ResNet-50 Top-5</a:t>
            </a:r>
          </a:p>
          <a:p>
            <a:pPr algn="ctr">
              <a:lnSpc>
                <a:spcPct val="150000"/>
              </a:lnSpc>
              <a:defRPr sz="950">
                <a:solidFill>
                  <a:srgbClr val="64748B"/>
                </a:solidFill>
              </a:defRPr>
            </a:pPr>
            <a:r>
              <a:t>Précision top-5</a:t>
            </a:r>
          </a:p>
        </p:txBody>
      </p:sp>
      <p:sp>
        <p:nvSpPr>
          <p:cNvPr id="13" name="Rounded Rectangle 12"/>
          <p:cNvSpPr/>
          <p:nvPr/>
        </p:nvSpPr>
        <p:spPr>
          <a:xfrm>
            <a:off x="6217920" y="1417320"/>
            <a:ext cx="25146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5" name="TextBox 14"/>
          <p:cNvSpPr txBox="1"/>
          <p:nvPr/>
        </p:nvSpPr>
        <p:spPr>
          <a:xfrm>
            <a:off x="6817828" y="1508760"/>
            <a:ext cx="1314784" cy="1050672"/>
          </a:xfrm>
          <a:prstGeom prst="rect">
            <a:avLst/>
          </a:prstGeom>
          <a:noFill/>
        </p:spPr>
        <p:txBody>
          <a:bodyPr wrap="none">
            <a:spAutoFit/>
          </a:bodyPr>
          <a:lstStyle/>
          <a:p>
            <a:pPr algn="ctr">
              <a:lnSpc>
                <a:spcPct val="150000"/>
              </a:lnSpc>
              <a:defRPr sz="2200" b="1">
                <a:solidFill>
                  <a:srgbClr val="0F172A"/>
                </a:solidFill>
              </a:defRPr>
            </a:pPr>
            <a:r>
              <a:t>53.85 %</a:t>
            </a:r>
          </a:p>
          <a:p>
            <a:pPr algn="ctr">
              <a:lnSpc>
                <a:spcPct val="150000"/>
              </a:lnSpc>
              <a:defRPr sz="1100" b="1">
                <a:solidFill>
                  <a:srgbClr val="0F172A"/>
                </a:solidFill>
              </a:defRPr>
            </a:pPr>
            <a:r>
              <a:t>ViT Patch32 Top-1</a:t>
            </a:r>
          </a:p>
          <a:p>
            <a:pPr algn="ctr">
              <a:lnSpc>
                <a:spcPct val="150000"/>
              </a:lnSpc>
              <a:defRPr sz="950">
                <a:solidFill>
                  <a:srgbClr val="64748B"/>
                </a:solidFill>
              </a:defRPr>
            </a:pPr>
            <a:r>
              <a:t>Pré-entraîné ImageNet</a:t>
            </a:r>
          </a:p>
        </p:txBody>
      </p:sp>
      <p:sp>
        <p:nvSpPr>
          <p:cNvPr id="16" name="Rounded Rectangle 15"/>
          <p:cNvSpPr/>
          <p:nvPr/>
        </p:nvSpPr>
        <p:spPr>
          <a:xfrm>
            <a:off x="8915400" y="1417320"/>
            <a:ext cx="251460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8" name="TextBox 17"/>
          <p:cNvSpPr txBox="1"/>
          <p:nvPr/>
        </p:nvSpPr>
        <p:spPr>
          <a:xfrm>
            <a:off x="9200318" y="1508760"/>
            <a:ext cx="1944763" cy="1050672"/>
          </a:xfrm>
          <a:prstGeom prst="rect">
            <a:avLst/>
          </a:prstGeom>
          <a:noFill/>
        </p:spPr>
        <p:txBody>
          <a:bodyPr wrap="none">
            <a:spAutoFit/>
          </a:bodyPr>
          <a:lstStyle/>
          <a:p>
            <a:pPr algn="ctr">
              <a:lnSpc>
                <a:spcPct val="150000"/>
              </a:lnSpc>
              <a:defRPr sz="2200" b="1">
                <a:solidFill>
                  <a:srgbClr val="0F172A"/>
                </a:solidFill>
              </a:defRPr>
            </a:pPr>
            <a:r>
              <a:t>1.07 % - 2.00 %</a:t>
            </a:r>
          </a:p>
          <a:p>
            <a:pPr algn="ctr">
              <a:lnSpc>
                <a:spcPct val="150000"/>
              </a:lnSpc>
              <a:defRPr sz="1100" b="1">
                <a:solidFill>
                  <a:srgbClr val="0F172A"/>
                </a:solidFill>
              </a:defRPr>
            </a:pPr>
            <a:r>
              <a:t>ViT Scratch Top-1</a:t>
            </a:r>
          </a:p>
          <a:p>
            <a:pPr algn="ctr">
              <a:lnSpc>
                <a:spcPct val="150000"/>
              </a:lnSpc>
              <a:defRPr sz="950">
                <a:solidFill>
                  <a:srgbClr val="64748B"/>
                </a:solidFill>
              </a:defRPr>
            </a:pPr>
            <a:r>
              <a:t>Niveau du hasard (~0.5%)</a:t>
            </a:r>
          </a:p>
        </p:txBody>
      </p:sp>
      <p:sp>
        <p:nvSpPr>
          <p:cNvPr id="19" name="Rounded Rectangle 18"/>
          <p:cNvSpPr/>
          <p:nvPr/>
        </p:nvSpPr>
        <p:spPr>
          <a:xfrm>
            <a:off x="822960" y="2926080"/>
            <a:ext cx="10545775" cy="32004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20" name="Rounded Rectangle 19"/>
          <p:cNvSpPr/>
          <p:nvPr/>
        </p:nvSpPr>
        <p:spPr>
          <a:xfrm>
            <a:off x="1051560" y="3154680"/>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1000" b="1">
                <a:solidFill>
                  <a:srgbClr val="FFFFFF"/>
                </a:solidFill>
                <a:latin typeface="Arial"/>
              </a:defRPr>
            </a:pPr>
            <a:r>
              <a:t>FAITS MARQUANTS POUR LE JURY</a:t>
            </a:r>
          </a:p>
        </p:txBody>
      </p:sp>
      <p:sp>
        <p:nvSpPr>
          <p:cNvPr id="21" name="TextBox 20"/>
          <p:cNvSpPr txBox="1"/>
          <p:nvPr/>
        </p:nvSpPr>
        <p:spPr>
          <a:xfrm>
            <a:off x="1051560" y="3611880"/>
            <a:ext cx="10058400" cy="1773049"/>
          </a:xfrm>
          <a:prstGeom prst="rect">
            <a:avLst/>
          </a:prstGeom>
          <a:noFill/>
        </p:spPr>
        <p:txBody>
          <a:bodyPr wrap="square">
            <a:spAutoFit/>
          </a:bodyPr>
          <a:lstStyle/>
          <a:p>
            <a:pPr>
              <a:lnSpc>
                <a:spcPct val="150000"/>
              </a:lnSpc>
            </a:pPr>
            <a:endParaRPr dirty="0"/>
          </a:p>
          <a:p>
            <a:pPr>
              <a:lnSpc>
                <a:spcPct val="150000"/>
              </a:lnSpc>
              <a:spcAft>
                <a:spcPts val="600"/>
              </a:spcAft>
            </a:pPr>
            <a:r>
              <a:rPr sz="1150" b="1" dirty="0">
                <a:solidFill>
                  <a:srgbClr val="0F172A"/>
                </a:solidFill>
              </a:rPr>
              <a:t>1. Domination de ResNet-50 :</a:t>
            </a:r>
            <a:r>
              <a:rPr sz="1100" b="0" dirty="0">
                <a:solidFill>
                  <a:srgbClr val="0F172A"/>
                </a:solidFill>
              </a:rPr>
              <a:t> Avec 71.87% Top-1 et 93.58% Top-5, le CNN </a:t>
            </a:r>
            <a:r>
              <a:rPr sz="1100" b="0" dirty="0" err="1">
                <a:solidFill>
                  <a:srgbClr val="0F172A"/>
                </a:solidFill>
              </a:rPr>
              <a:t>surpasse</a:t>
            </a:r>
            <a:r>
              <a:rPr sz="1100" b="0" dirty="0">
                <a:solidFill>
                  <a:srgbClr val="0F172A"/>
                </a:solidFill>
              </a:rPr>
              <a:t> </a:t>
            </a:r>
            <a:r>
              <a:rPr sz="1100" b="0" dirty="0" err="1">
                <a:solidFill>
                  <a:srgbClr val="0F172A"/>
                </a:solidFill>
              </a:rPr>
              <a:t>toutes</a:t>
            </a:r>
            <a:r>
              <a:rPr sz="1100" b="0" dirty="0">
                <a:solidFill>
                  <a:srgbClr val="0F172A"/>
                </a:solidFill>
              </a:rPr>
              <a:t> les </a:t>
            </a:r>
            <a:r>
              <a:rPr sz="1100" b="0" dirty="0" err="1">
                <a:solidFill>
                  <a:srgbClr val="0F172A"/>
                </a:solidFill>
              </a:rPr>
              <a:t>variantes</a:t>
            </a:r>
            <a:r>
              <a:rPr sz="1100" b="0" dirty="0">
                <a:solidFill>
                  <a:srgbClr val="0F172A"/>
                </a:solidFill>
              </a:rPr>
              <a:t> grâce à son </a:t>
            </a:r>
            <a:r>
              <a:rPr sz="1100" b="0" dirty="0" err="1">
                <a:solidFill>
                  <a:srgbClr val="0F172A"/>
                </a:solidFill>
              </a:rPr>
              <a:t>biais</a:t>
            </a:r>
            <a:r>
              <a:rPr sz="1100" b="0" dirty="0">
                <a:solidFill>
                  <a:srgbClr val="0F172A"/>
                </a:solidFill>
              </a:rPr>
              <a:t> </a:t>
            </a:r>
            <a:r>
              <a:rPr sz="1100" b="0" dirty="0" err="1">
                <a:solidFill>
                  <a:srgbClr val="0F172A"/>
                </a:solidFill>
              </a:rPr>
              <a:t>inductif</a:t>
            </a:r>
            <a:r>
              <a:rPr sz="1100" b="0" dirty="0">
                <a:solidFill>
                  <a:srgbClr val="0F172A"/>
                </a:solidFill>
              </a:rPr>
              <a:t> de </a:t>
            </a:r>
            <a:r>
              <a:rPr sz="1100" b="0" dirty="0" err="1">
                <a:solidFill>
                  <a:srgbClr val="0F172A"/>
                </a:solidFill>
              </a:rPr>
              <a:t>localité</a:t>
            </a:r>
            <a:r>
              <a:rPr sz="1100" b="0" dirty="0">
                <a:solidFill>
                  <a:srgbClr val="0F172A"/>
                </a:solidFill>
              </a:rPr>
              <a:t>.</a:t>
            </a:r>
          </a:p>
          <a:p>
            <a:pPr>
              <a:lnSpc>
                <a:spcPct val="150000"/>
              </a:lnSpc>
              <a:spcAft>
                <a:spcPts val="600"/>
              </a:spcAft>
            </a:pPr>
            <a:r>
              <a:rPr sz="1150" b="1" dirty="0">
                <a:solidFill>
                  <a:srgbClr val="0F172A"/>
                </a:solidFill>
              </a:rPr>
              <a:t>2. </a:t>
            </a:r>
            <a:r>
              <a:rPr sz="1150" b="1" dirty="0" err="1">
                <a:solidFill>
                  <a:srgbClr val="0F172A"/>
                </a:solidFill>
              </a:rPr>
              <a:t>Rôle</a:t>
            </a:r>
            <a:r>
              <a:rPr sz="1150" b="1" dirty="0">
                <a:solidFill>
                  <a:srgbClr val="0F172A"/>
                </a:solidFill>
              </a:rPr>
              <a:t> vital du Pré-</a:t>
            </a:r>
            <a:r>
              <a:rPr sz="1150" b="1" dirty="0" err="1">
                <a:solidFill>
                  <a:srgbClr val="0F172A"/>
                </a:solidFill>
              </a:rPr>
              <a:t>entraînement</a:t>
            </a:r>
            <a:r>
              <a:rPr sz="1150" b="1" dirty="0">
                <a:solidFill>
                  <a:srgbClr val="0F172A"/>
                </a:solidFill>
              </a:rPr>
              <a:t> :</a:t>
            </a:r>
            <a:r>
              <a:rPr sz="1100" b="0" dirty="0">
                <a:solidFill>
                  <a:srgbClr val="0F172A"/>
                </a:solidFill>
              </a:rPr>
              <a:t> Le </a:t>
            </a:r>
            <a:r>
              <a:rPr sz="1100" b="0" dirty="0" err="1">
                <a:solidFill>
                  <a:srgbClr val="0F172A"/>
                </a:solidFill>
              </a:rPr>
              <a:t>transfert</a:t>
            </a:r>
            <a:r>
              <a:rPr sz="1100" b="0" dirty="0">
                <a:solidFill>
                  <a:srgbClr val="0F172A"/>
                </a:solidFill>
              </a:rPr>
              <a:t> ImageNet </a:t>
            </a:r>
            <a:r>
              <a:rPr sz="1100" b="0" dirty="0" err="1">
                <a:solidFill>
                  <a:srgbClr val="0F172A"/>
                </a:solidFill>
              </a:rPr>
              <a:t>permet</a:t>
            </a:r>
            <a:r>
              <a:rPr sz="1100" b="0" dirty="0">
                <a:solidFill>
                  <a:srgbClr val="0F172A"/>
                </a:solidFill>
              </a:rPr>
              <a:t> au </a:t>
            </a:r>
            <a:r>
              <a:rPr sz="1100" b="0" dirty="0" err="1">
                <a:solidFill>
                  <a:srgbClr val="0F172A"/>
                </a:solidFill>
              </a:rPr>
              <a:t>ViT</a:t>
            </a:r>
            <a:r>
              <a:rPr sz="1100" b="0" dirty="0">
                <a:solidFill>
                  <a:srgbClr val="0F172A"/>
                </a:solidFill>
              </a:rPr>
              <a:t> de passer de 1.07% à 53.85% (gain de +52.78 points).</a:t>
            </a:r>
          </a:p>
          <a:p>
            <a:pPr>
              <a:lnSpc>
                <a:spcPct val="150000"/>
              </a:lnSpc>
              <a:spcAft>
                <a:spcPts val="600"/>
              </a:spcAft>
            </a:pPr>
            <a:r>
              <a:rPr sz="1150" b="1" dirty="0">
                <a:solidFill>
                  <a:srgbClr val="0F172A"/>
                </a:solidFill>
              </a:rPr>
              <a:t>3. </a:t>
            </a:r>
            <a:r>
              <a:rPr sz="1150" b="1" dirty="0" err="1">
                <a:solidFill>
                  <a:srgbClr val="0F172A"/>
                </a:solidFill>
              </a:rPr>
              <a:t>Sensibilité</a:t>
            </a:r>
            <a:r>
              <a:rPr sz="1150" b="1" dirty="0">
                <a:solidFill>
                  <a:srgbClr val="0F172A"/>
                </a:solidFill>
              </a:rPr>
              <a:t> à la taille de patch :</a:t>
            </a:r>
            <a:r>
              <a:rPr sz="1100" b="0" dirty="0">
                <a:solidFill>
                  <a:srgbClr val="0F172A"/>
                </a:solidFill>
              </a:rPr>
              <a:t> En 3 époques, le patch 32 (49 tokens) converge </a:t>
            </a:r>
            <a:r>
              <a:rPr sz="1100" b="0" dirty="0" err="1">
                <a:solidFill>
                  <a:srgbClr val="0F172A"/>
                </a:solidFill>
              </a:rPr>
              <a:t>nettement</a:t>
            </a:r>
            <a:r>
              <a:rPr sz="1100" b="0" dirty="0">
                <a:solidFill>
                  <a:srgbClr val="0F172A"/>
                </a:solidFill>
              </a:rPr>
              <a:t> plus </a:t>
            </a:r>
            <a:r>
              <a:rPr sz="1100" b="0" dirty="0" err="1">
                <a:solidFill>
                  <a:srgbClr val="0F172A"/>
                </a:solidFill>
              </a:rPr>
              <a:t>vite</a:t>
            </a:r>
            <a:r>
              <a:rPr sz="1100" b="0" dirty="0">
                <a:solidFill>
                  <a:srgbClr val="0F172A"/>
                </a:solidFill>
              </a:rPr>
              <a:t> (53.85%) </a:t>
            </a:r>
            <a:r>
              <a:rPr sz="1100" b="0" dirty="0" err="1">
                <a:solidFill>
                  <a:srgbClr val="0F172A"/>
                </a:solidFill>
              </a:rPr>
              <a:t>que</a:t>
            </a:r>
            <a:r>
              <a:rPr sz="1100" b="0" dirty="0">
                <a:solidFill>
                  <a:srgbClr val="0F172A"/>
                </a:solidFill>
              </a:rPr>
              <a:t> le patch 16 (9.94% pour 196 tokens).</a:t>
            </a:r>
          </a:p>
          <a:p>
            <a:pPr>
              <a:lnSpc>
                <a:spcPct val="150000"/>
              </a:lnSpc>
              <a:spcAft>
                <a:spcPts val="600"/>
              </a:spcAft>
            </a:pPr>
            <a:r>
              <a:rPr sz="1150" b="1" dirty="0">
                <a:solidFill>
                  <a:srgbClr val="0F172A"/>
                </a:solidFill>
              </a:rPr>
              <a:t>4. </a:t>
            </a:r>
            <a:r>
              <a:rPr sz="1150" b="1" dirty="0" err="1">
                <a:solidFill>
                  <a:srgbClr val="0F172A"/>
                </a:solidFill>
              </a:rPr>
              <a:t>Comportement</a:t>
            </a:r>
            <a:r>
              <a:rPr sz="1150" b="1" dirty="0">
                <a:solidFill>
                  <a:srgbClr val="0F172A"/>
                </a:solidFill>
              </a:rPr>
              <a:t> du </a:t>
            </a:r>
            <a:r>
              <a:rPr sz="1150" b="1" dirty="0" err="1">
                <a:solidFill>
                  <a:srgbClr val="0F172A"/>
                </a:solidFill>
              </a:rPr>
              <a:t>ViT</a:t>
            </a:r>
            <a:r>
              <a:rPr sz="1150" b="1" dirty="0">
                <a:solidFill>
                  <a:srgbClr val="0F172A"/>
                </a:solidFill>
              </a:rPr>
              <a:t> scratch :</a:t>
            </a:r>
            <a:r>
              <a:rPr sz="1100" b="0" dirty="0">
                <a:solidFill>
                  <a:srgbClr val="0F172A"/>
                </a:solidFill>
              </a:rPr>
              <a:t> Sans </a:t>
            </a:r>
            <a:r>
              <a:rPr sz="1100" b="0" dirty="0" err="1">
                <a:solidFill>
                  <a:srgbClr val="0F172A"/>
                </a:solidFill>
              </a:rPr>
              <a:t>pré-entraînement</a:t>
            </a:r>
            <a:r>
              <a:rPr sz="1100" b="0" dirty="0">
                <a:solidFill>
                  <a:srgbClr val="0F172A"/>
                </a:solidFill>
              </a:rPr>
              <a:t>, le </a:t>
            </a:r>
            <a:r>
              <a:rPr sz="1100" b="0" dirty="0" err="1">
                <a:solidFill>
                  <a:srgbClr val="0F172A"/>
                </a:solidFill>
              </a:rPr>
              <a:t>ViT</a:t>
            </a:r>
            <a:r>
              <a:rPr sz="1100" b="0" dirty="0">
                <a:solidFill>
                  <a:srgbClr val="0F172A"/>
                </a:solidFill>
              </a:rPr>
              <a:t> ne </a:t>
            </a:r>
            <a:r>
              <a:rPr sz="1100" b="0" dirty="0" err="1">
                <a:solidFill>
                  <a:srgbClr val="0F172A"/>
                </a:solidFill>
              </a:rPr>
              <a:t>peut</a:t>
            </a:r>
            <a:r>
              <a:rPr sz="1100" b="0" dirty="0">
                <a:solidFill>
                  <a:srgbClr val="0F172A"/>
                </a:solidFill>
              </a:rPr>
              <a:t> pas </a:t>
            </a:r>
            <a:r>
              <a:rPr sz="1100" b="0" dirty="0" err="1">
                <a:solidFill>
                  <a:srgbClr val="0F172A"/>
                </a:solidFill>
              </a:rPr>
              <a:t>apprendre</a:t>
            </a:r>
            <a:r>
              <a:rPr sz="1100" b="0" dirty="0">
                <a:solidFill>
                  <a:srgbClr val="0F172A"/>
                </a:solidFill>
              </a:rPr>
              <a:t> les </a:t>
            </a:r>
            <a:r>
              <a:rPr sz="1100" b="0" dirty="0" err="1">
                <a:solidFill>
                  <a:srgbClr val="0F172A"/>
                </a:solidFill>
              </a:rPr>
              <a:t>représentations</a:t>
            </a:r>
            <a:r>
              <a:rPr sz="1100" b="0" dirty="0">
                <a:solidFill>
                  <a:srgbClr val="0F172A"/>
                </a:solidFill>
              </a:rPr>
              <a:t> </a:t>
            </a:r>
            <a:r>
              <a:rPr sz="1100" b="0" dirty="0" err="1">
                <a:solidFill>
                  <a:srgbClr val="0F172A"/>
                </a:solidFill>
              </a:rPr>
              <a:t>visuelles</a:t>
            </a:r>
            <a:r>
              <a:rPr sz="1100" b="0" dirty="0">
                <a:solidFill>
                  <a:srgbClr val="0F172A"/>
                </a:solidFill>
              </a:rPr>
              <a:t> sur 5 094 images.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11. Matrice Expérimentale Détaillée des 12 Configurations</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13/22</a:t>
            </a:r>
          </a:p>
        </p:txBody>
      </p:sp>
      <p:graphicFrame>
        <p:nvGraphicFramePr>
          <p:cNvPr id="8" name="Table 7"/>
          <p:cNvGraphicFramePr>
            <a:graphicFrameLocks noGrp="1"/>
          </p:cNvGraphicFramePr>
          <p:nvPr>
            <p:extLst>
              <p:ext uri="{D42A27DB-BD31-4B8C-83A1-F6EECF244321}">
                <p14:modId xmlns:p14="http://schemas.microsoft.com/office/powerpoint/2010/main" val="3593234172"/>
              </p:ext>
            </p:extLst>
          </p:nvPr>
        </p:nvGraphicFramePr>
        <p:xfrm>
          <a:off x="1051560" y="1645920"/>
          <a:ext cx="10058400" cy="420624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600891">
                <a:tc>
                  <a:txBody>
                    <a:bodyPr/>
                    <a:lstStyle/>
                    <a:p>
                      <a:pPr algn="ctr">
                        <a:lnSpc>
                          <a:spcPct val="150000"/>
                        </a:lnSpc>
                        <a:defRPr sz="1150" b="1">
                          <a:solidFill>
                            <a:srgbClr val="FFFFFF"/>
                          </a:solidFill>
                        </a:defRPr>
                      </a:pPr>
                      <a:r>
                        <a:t>Configuration / Modèle</a:t>
                      </a:r>
                    </a:p>
                  </a:txBody>
                  <a:tcPr>
                    <a:solidFill>
                      <a:srgbClr val="0F172A"/>
                    </a:solidFill>
                  </a:tcPr>
                </a:tc>
                <a:tc>
                  <a:txBody>
                    <a:bodyPr/>
                    <a:lstStyle/>
                    <a:p>
                      <a:pPr algn="ctr">
                        <a:lnSpc>
                          <a:spcPct val="150000"/>
                        </a:lnSpc>
                        <a:defRPr sz="1150" b="1">
                          <a:solidFill>
                            <a:srgbClr val="FFFFFF"/>
                          </a:solidFill>
                        </a:defRPr>
                      </a:pPr>
                      <a:r>
                        <a:t>Top-1 Accuracy</a:t>
                      </a:r>
                    </a:p>
                  </a:txBody>
                  <a:tcPr>
                    <a:solidFill>
                      <a:srgbClr val="0F172A"/>
                    </a:solidFill>
                  </a:tcPr>
                </a:tc>
                <a:tc>
                  <a:txBody>
                    <a:bodyPr/>
                    <a:lstStyle/>
                    <a:p>
                      <a:pPr algn="ctr">
                        <a:lnSpc>
                          <a:spcPct val="150000"/>
                        </a:lnSpc>
                        <a:defRPr sz="1150" b="1">
                          <a:solidFill>
                            <a:srgbClr val="FFFFFF"/>
                          </a:solidFill>
                        </a:defRPr>
                      </a:pPr>
                      <a:r>
                        <a:t>Top-5 Accuracy</a:t>
                      </a:r>
                    </a:p>
                  </a:txBody>
                  <a:tcPr>
                    <a:solidFill>
                      <a:srgbClr val="0F172A"/>
                    </a:solidFill>
                  </a:tcPr>
                </a:tc>
                <a:tc>
                  <a:txBody>
                    <a:bodyPr/>
                    <a:lstStyle/>
                    <a:p>
                      <a:pPr algn="ctr">
                        <a:lnSpc>
                          <a:spcPct val="150000"/>
                        </a:lnSpc>
                        <a:defRPr sz="1150" b="1">
                          <a:solidFill>
                            <a:srgbClr val="FFFFFF"/>
                          </a:solidFill>
                        </a:defRPr>
                      </a:pPr>
                      <a:r>
                        <a:t>Test Loss</a:t>
                      </a:r>
                    </a:p>
                  </a:txBody>
                  <a:tcPr>
                    <a:solidFill>
                      <a:srgbClr val="0F172A"/>
                    </a:solidFill>
                  </a:tcPr>
                </a:tc>
                <a:tc>
                  <a:txBody>
                    <a:bodyPr/>
                    <a:lstStyle/>
                    <a:p>
                      <a:pPr algn="ctr">
                        <a:lnSpc>
                          <a:spcPct val="150000"/>
                        </a:lnSpc>
                        <a:defRPr sz="1150" b="1">
                          <a:solidFill>
                            <a:srgbClr val="FFFFFF"/>
                          </a:solidFill>
                        </a:defRPr>
                      </a:pPr>
                      <a:r>
                        <a:t>Paramètres</a:t>
                      </a:r>
                    </a:p>
                  </a:txBody>
                  <a:tcPr>
                    <a:solidFill>
                      <a:srgbClr val="0F172A"/>
                    </a:solidFill>
                  </a:tcPr>
                </a:tc>
                <a:extLst>
                  <a:ext uri="{0D108BD9-81ED-4DB2-BD59-A6C34878D82A}">
                    <a16:rowId xmlns:a16="http://schemas.microsoft.com/office/drawing/2014/main" val="10000"/>
                  </a:ext>
                </a:extLst>
              </a:tr>
              <a:tr h="600891">
                <a:tc>
                  <a:txBody>
                    <a:bodyPr/>
                    <a:lstStyle/>
                    <a:p>
                      <a:pPr algn="l">
                        <a:lnSpc>
                          <a:spcPct val="150000"/>
                        </a:lnSpc>
                        <a:defRPr sz="1100" b="1">
                          <a:solidFill>
                            <a:srgbClr val="0F172A"/>
                          </a:solidFill>
                        </a:defRPr>
                      </a:pPr>
                      <a:r>
                        <a:t>ResNet-50 (Pré-entraîné — 100% données)</a:t>
                      </a:r>
                    </a:p>
                  </a:txBody>
                  <a:tcPr>
                    <a:solidFill>
                      <a:srgbClr val="FFFFFF"/>
                    </a:solidFill>
                  </a:tcPr>
                </a:tc>
                <a:tc>
                  <a:txBody>
                    <a:bodyPr/>
                    <a:lstStyle/>
                    <a:p>
                      <a:pPr algn="ctr">
                        <a:lnSpc>
                          <a:spcPct val="150000"/>
                        </a:lnSpc>
                        <a:defRPr sz="1100">
                          <a:solidFill>
                            <a:srgbClr val="0F172A"/>
                          </a:solidFill>
                        </a:defRPr>
                      </a:pPr>
                      <a:r>
                        <a:t>71.87 %</a:t>
                      </a:r>
                    </a:p>
                  </a:txBody>
                  <a:tcPr>
                    <a:solidFill>
                      <a:srgbClr val="FFFFFF"/>
                    </a:solidFill>
                  </a:tcPr>
                </a:tc>
                <a:tc>
                  <a:txBody>
                    <a:bodyPr/>
                    <a:lstStyle/>
                    <a:p>
                      <a:pPr algn="ctr">
                        <a:lnSpc>
                          <a:spcPct val="150000"/>
                        </a:lnSpc>
                        <a:defRPr sz="1100">
                          <a:solidFill>
                            <a:srgbClr val="0F172A"/>
                          </a:solidFill>
                        </a:defRPr>
                      </a:pPr>
                      <a:r>
                        <a:t>93.58 %</a:t>
                      </a:r>
                    </a:p>
                  </a:txBody>
                  <a:tcPr>
                    <a:solidFill>
                      <a:srgbClr val="FFFFFF"/>
                    </a:solidFill>
                  </a:tcPr>
                </a:tc>
                <a:tc>
                  <a:txBody>
                    <a:bodyPr/>
                    <a:lstStyle/>
                    <a:p>
                      <a:pPr algn="ctr">
                        <a:lnSpc>
                          <a:spcPct val="150000"/>
                        </a:lnSpc>
                        <a:defRPr sz="1100">
                          <a:solidFill>
                            <a:srgbClr val="0F172A"/>
                          </a:solidFill>
                        </a:defRPr>
                      </a:pPr>
                      <a:r>
                        <a:t>1.05</a:t>
                      </a:r>
                    </a:p>
                  </a:txBody>
                  <a:tcPr>
                    <a:solidFill>
                      <a:srgbClr val="FFFFFF"/>
                    </a:solidFill>
                  </a:tcPr>
                </a:tc>
                <a:tc>
                  <a:txBody>
                    <a:bodyPr/>
                    <a:lstStyle/>
                    <a:p>
                      <a:pPr algn="ctr">
                        <a:lnSpc>
                          <a:spcPct val="150000"/>
                        </a:lnSpc>
                        <a:defRPr sz="1100">
                          <a:solidFill>
                            <a:srgbClr val="0F172A"/>
                          </a:solidFill>
                        </a:defRPr>
                      </a:pPr>
                      <a:r>
                        <a:t>23.9 M</a:t>
                      </a:r>
                    </a:p>
                  </a:txBody>
                  <a:tcPr>
                    <a:solidFill>
                      <a:srgbClr val="FFFFFF"/>
                    </a:solidFill>
                  </a:tcPr>
                </a:tc>
                <a:extLst>
                  <a:ext uri="{0D108BD9-81ED-4DB2-BD59-A6C34878D82A}">
                    <a16:rowId xmlns:a16="http://schemas.microsoft.com/office/drawing/2014/main" val="10001"/>
                  </a:ext>
                </a:extLst>
              </a:tr>
              <a:tr h="600891">
                <a:tc>
                  <a:txBody>
                    <a:bodyPr/>
                    <a:lstStyle/>
                    <a:p>
                      <a:pPr algn="l">
                        <a:lnSpc>
                          <a:spcPct val="150000"/>
                        </a:lnSpc>
                        <a:defRPr sz="1100" b="0">
                          <a:solidFill>
                            <a:srgbClr val="0F172A"/>
                          </a:solidFill>
                        </a:defRPr>
                      </a:pPr>
                      <a:r>
                        <a:t>ResNet-50 (Pré-entraîné — 50% données)</a:t>
                      </a:r>
                    </a:p>
                  </a:txBody>
                  <a:tcPr>
                    <a:solidFill>
                      <a:srgbClr val="F8FAFC"/>
                    </a:solidFill>
                  </a:tcPr>
                </a:tc>
                <a:tc>
                  <a:txBody>
                    <a:bodyPr/>
                    <a:lstStyle/>
                    <a:p>
                      <a:pPr algn="ctr">
                        <a:lnSpc>
                          <a:spcPct val="150000"/>
                        </a:lnSpc>
                        <a:defRPr sz="1100">
                          <a:solidFill>
                            <a:srgbClr val="0F172A"/>
                          </a:solidFill>
                        </a:defRPr>
                      </a:pPr>
                      <a:r>
                        <a:rPr dirty="0"/>
                        <a:t>48.74 %</a:t>
                      </a:r>
                    </a:p>
                  </a:txBody>
                  <a:tcPr>
                    <a:solidFill>
                      <a:srgbClr val="F8FAFC"/>
                    </a:solidFill>
                  </a:tcPr>
                </a:tc>
                <a:tc>
                  <a:txBody>
                    <a:bodyPr/>
                    <a:lstStyle/>
                    <a:p>
                      <a:pPr algn="ctr">
                        <a:lnSpc>
                          <a:spcPct val="150000"/>
                        </a:lnSpc>
                        <a:defRPr sz="1100">
                          <a:solidFill>
                            <a:srgbClr val="0F172A"/>
                          </a:solidFill>
                        </a:defRPr>
                      </a:pPr>
                      <a:r>
                        <a:t>81.12 %</a:t>
                      </a:r>
                    </a:p>
                  </a:txBody>
                  <a:tcPr>
                    <a:solidFill>
                      <a:srgbClr val="F8FAFC"/>
                    </a:solidFill>
                  </a:tcPr>
                </a:tc>
                <a:tc>
                  <a:txBody>
                    <a:bodyPr/>
                    <a:lstStyle/>
                    <a:p>
                      <a:pPr algn="ctr">
                        <a:lnSpc>
                          <a:spcPct val="150000"/>
                        </a:lnSpc>
                        <a:defRPr sz="1100">
                          <a:solidFill>
                            <a:srgbClr val="0F172A"/>
                          </a:solidFill>
                        </a:defRPr>
                      </a:pPr>
                      <a:r>
                        <a:t>2.09</a:t>
                      </a:r>
                    </a:p>
                  </a:txBody>
                  <a:tcPr>
                    <a:solidFill>
                      <a:srgbClr val="F8FAFC"/>
                    </a:solidFill>
                  </a:tcPr>
                </a:tc>
                <a:tc>
                  <a:txBody>
                    <a:bodyPr/>
                    <a:lstStyle/>
                    <a:p>
                      <a:pPr algn="ctr">
                        <a:lnSpc>
                          <a:spcPct val="150000"/>
                        </a:lnSpc>
                        <a:defRPr sz="1100">
                          <a:solidFill>
                            <a:srgbClr val="0F172A"/>
                          </a:solidFill>
                        </a:defRPr>
                      </a:pPr>
                      <a:r>
                        <a:t>23.9 M</a:t>
                      </a:r>
                    </a:p>
                  </a:txBody>
                  <a:tcPr>
                    <a:solidFill>
                      <a:srgbClr val="F8FAFC"/>
                    </a:solidFill>
                  </a:tcPr>
                </a:tc>
                <a:extLst>
                  <a:ext uri="{0D108BD9-81ED-4DB2-BD59-A6C34878D82A}">
                    <a16:rowId xmlns:a16="http://schemas.microsoft.com/office/drawing/2014/main" val="10002"/>
                  </a:ext>
                </a:extLst>
              </a:tr>
              <a:tr h="600891">
                <a:tc>
                  <a:txBody>
                    <a:bodyPr/>
                    <a:lstStyle/>
                    <a:p>
                      <a:pPr algn="l">
                        <a:lnSpc>
                          <a:spcPct val="150000"/>
                        </a:lnSpc>
                        <a:defRPr sz="1100" b="0">
                          <a:solidFill>
                            <a:srgbClr val="0F172A"/>
                          </a:solidFill>
                        </a:defRPr>
                      </a:pPr>
                      <a:r>
                        <a:t>ResNet-50 (Pré-entraîné — 25% données)</a:t>
                      </a:r>
                    </a:p>
                  </a:txBody>
                  <a:tcPr>
                    <a:solidFill>
                      <a:srgbClr val="FFFFFF"/>
                    </a:solidFill>
                  </a:tcPr>
                </a:tc>
                <a:tc>
                  <a:txBody>
                    <a:bodyPr/>
                    <a:lstStyle/>
                    <a:p>
                      <a:pPr algn="ctr">
                        <a:lnSpc>
                          <a:spcPct val="150000"/>
                        </a:lnSpc>
                        <a:defRPr sz="1100">
                          <a:solidFill>
                            <a:srgbClr val="0F172A"/>
                          </a:solidFill>
                        </a:defRPr>
                      </a:pPr>
                      <a:r>
                        <a:t>23.47 %</a:t>
                      </a:r>
                    </a:p>
                  </a:txBody>
                  <a:tcPr>
                    <a:solidFill>
                      <a:srgbClr val="FFFFFF"/>
                    </a:solidFill>
                  </a:tcPr>
                </a:tc>
                <a:tc>
                  <a:txBody>
                    <a:bodyPr/>
                    <a:lstStyle/>
                    <a:p>
                      <a:pPr algn="ctr">
                        <a:lnSpc>
                          <a:spcPct val="150000"/>
                        </a:lnSpc>
                        <a:defRPr sz="1100">
                          <a:solidFill>
                            <a:srgbClr val="0F172A"/>
                          </a:solidFill>
                        </a:defRPr>
                      </a:pPr>
                      <a:r>
                        <a:t>48.88 %</a:t>
                      </a:r>
                    </a:p>
                  </a:txBody>
                  <a:tcPr>
                    <a:solidFill>
                      <a:srgbClr val="FFFFFF"/>
                    </a:solidFill>
                  </a:tcPr>
                </a:tc>
                <a:tc>
                  <a:txBody>
                    <a:bodyPr/>
                    <a:lstStyle/>
                    <a:p>
                      <a:pPr algn="ctr">
                        <a:lnSpc>
                          <a:spcPct val="150000"/>
                        </a:lnSpc>
                        <a:defRPr sz="1100">
                          <a:solidFill>
                            <a:srgbClr val="0F172A"/>
                          </a:solidFill>
                        </a:defRPr>
                      </a:pPr>
                      <a:r>
                        <a:t>3.65</a:t>
                      </a:r>
                    </a:p>
                  </a:txBody>
                  <a:tcPr>
                    <a:solidFill>
                      <a:srgbClr val="FFFFFF"/>
                    </a:solidFill>
                  </a:tcPr>
                </a:tc>
                <a:tc>
                  <a:txBody>
                    <a:bodyPr/>
                    <a:lstStyle/>
                    <a:p>
                      <a:pPr algn="ctr">
                        <a:lnSpc>
                          <a:spcPct val="150000"/>
                        </a:lnSpc>
                        <a:defRPr sz="1100">
                          <a:solidFill>
                            <a:srgbClr val="0F172A"/>
                          </a:solidFill>
                        </a:defRPr>
                      </a:pPr>
                      <a:r>
                        <a:t>23.9 M</a:t>
                      </a:r>
                    </a:p>
                  </a:txBody>
                  <a:tcPr>
                    <a:solidFill>
                      <a:srgbClr val="FFFFFF"/>
                    </a:solidFill>
                  </a:tcPr>
                </a:tc>
                <a:extLst>
                  <a:ext uri="{0D108BD9-81ED-4DB2-BD59-A6C34878D82A}">
                    <a16:rowId xmlns:a16="http://schemas.microsoft.com/office/drawing/2014/main" val="10003"/>
                  </a:ext>
                </a:extLst>
              </a:tr>
              <a:tr h="600891">
                <a:tc>
                  <a:txBody>
                    <a:bodyPr/>
                    <a:lstStyle/>
                    <a:p>
                      <a:pPr algn="l">
                        <a:lnSpc>
                          <a:spcPct val="150000"/>
                        </a:lnSpc>
                        <a:defRPr sz="1100" b="1">
                          <a:solidFill>
                            <a:srgbClr val="0F172A"/>
                          </a:solidFill>
                        </a:defRPr>
                      </a:pPr>
                      <a:r>
                        <a:t>ViT Pré-entraîné (Patch 32 — 100% données)</a:t>
                      </a:r>
                    </a:p>
                  </a:txBody>
                  <a:tcPr>
                    <a:solidFill>
                      <a:srgbClr val="F8FAFC"/>
                    </a:solidFill>
                  </a:tcPr>
                </a:tc>
                <a:tc>
                  <a:txBody>
                    <a:bodyPr/>
                    <a:lstStyle/>
                    <a:p>
                      <a:pPr algn="ctr">
                        <a:lnSpc>
                          <a:spcPct val="150000"/>
                        </a:lnSpc>
                        <a:defRPr sz="1100">
                          <a:solidFill>
                            <a:srgbClr val="0F172A"/>
                          </a:solidFill>
                        </a:defRPr>
                      </a:pPr>
                      <a:r>
                        <a:t>53.85 %</a:t>
                      </a:r>
                    </a:p>
                  </a:txBody>
                  <a:tcPr>
                    <a:solidFill>
                      <a:srgbClr val="F8FAFC"/>
                    </a:solidFill>
                  </a:tcPr>
                </a:tc>
                <a:tc>
                  <a:txBody>
                    <a:bodyPr/>
                    <a:lstStyle/>
                    <a:p>
                      <a:pPr algn="ctr">
                        <a:lnSpc>
                          <a:spcPct val="150000"/>
                        </a:lnSpc>
                        <a:defRPr sz="1100">
                          <a:solidFill>
                            <a:srgbClr val="0F172A"/>
                          </a:solidFill>
                        </a:defRPr>
                      </a:pPr>
                      <a:r>
                        <a:t>83.50 %</a:t>
                      </a:r>
                    </a:p>
                  </a:txBody>
                  <a:tcPr>
                    <a:solidFill>
                      <a:srgbClr val="F8FAFC"/>
                    </a:solidFill>
                  </a:tcPr>
                </a:tc>
                <a:tc>
                  <a:txBody>
                    <a:bodyPr/>
                    <a:lstStyle/>
                    <a:p>
                      <a:pPr algn="ctr">
                        <a:lnSpc>
                          <a:spcPct val="150000"/>
                        </a:lnSpc>
                        <a:defRPr sz="1100">
                          <a:solidFill>
                            <a:srgbClr val="0F172A"/>
                          </a:solidFill>
                        </a:defRPr>
                      </a:pPr>
                      <a:r>
                        <a:t>1.81</a:t>
                      </a:r>
                    </a:p>
                  </a:txBody>
                  <a:tcPr>
                    <a:solidFill>
                      <a:srgbClr val="F8FAFC"/>
                    </a:solidFill>
                  </a:tcPr>
                </a:tc>
                <a:tc>
                  <a:txBody>
                    <a:bodyPr/>
                    <a:lstStyle/>
                    <a:p>
                      <a:pPr algn="ctr">
                        <a:lnSpc>
                          <a:spcPct val="150000"/>
                        </a:lnSpc>
                        <a:defRPr sz="1100">
                          <a:solidFill>
                            <a:srgbClr val="0F172A"/>
                          </a:solidFill>
                        </a:defRPr>
                      </a:pPr>
                      <a:r>
                        <a:t>22.6 M</a:t>
                      </a:r>
                    </a:p>
                  </a:txBody>
                  <a:tcPr>
                    <a:solidFill>
                      <a:srgbClr val="F8FAFC"/>
                    </a:solidFill>
                  </a:tcPr>
                </a:tc>
                <a:extLst>
                  <a:ext uri="{0D108BD9-81ED-4DB2-BD59-A6C34878D82A}">
                    <a16:rowId xmlns:a16="http://schemas.microsoft.com/office/drawing/2014/main" val="10004"/>
                  </a:ext>
                </a:extLst>
              </a:tr>
              <a:tr h="600891">
                <a:tc>
                  <a:txBody>
                    <a:bodyPr/>
                    <a:lstStyle/>
                    <a:p>
                      <a:pPr algn="l">
                        <a:lnSpc>
                          <a:spcPct val="150000"/>
                        </a:lnSpc>
                        <a:defRPr sz="1100" b="0">
                          <a:solidFill>
                            <a:srgbClr val="0F172A"/>
                          </a:solidFill>
                        </a:defRPr>
                      </a:pPr>
                      <a:r>
                        <a:t>ViT Pré-entraîné (Patch 16 — 100% données)</a:t>
                      </a:r>
                    </a:p>
                  </a:txBody>
                  <a:tcPr>
                    <a:solidFill>
                      <a:srgbClr val="FFFFFF"/>
                    </a:solidFill>
                  </a:tcPr>
                </a:tc>
                <a:tc>
                  <a:txBody>
                    <a:bodyPr/>
                    <a:lstStyle/>
                    <a:p>
                      <a:pPr algn="ctr">
                        <a:lnSpc>
                          <a:spcPct val="150000"/>
                        </a:lnSpc>
                        <a:defRPr sz="1100">
                          <a:solidFill>
                            <a:srgbClr val="0F172A"/>
                          </a:solidFill>
                        </a:defRPr>
                      </a:pPr>
                      <a:r>
                        <a:t>9.94 %</a:t>
                      </a:r>
                    </a:p>
                  </a:txBody>
                  <a:tcPr>
                    <a:solidFill>
                      <a:srgbClr val="FFFFFF"/>
                    </a:solidFill>
                  </a:tcPr>
                </a:tc>
                <a:tc>
                  <a:txBody>
                    <a:bodyPr/>
                    <a:lstStyle/>
                    <a:p>
                      <a:pPr algn="ctr">
                        <a:lnSpc>
                          <a:spcPct val="150000"/>
                        </a:lnSpc>
                        <a:defRPr sz="1100">
                          <a:solidFill>
                            <a:srgbClr val="0F172A"/>
                          </a:solidFill>
                        </a:defRPr>
                      </a:pPr>
                      <a:r>
                        <a:t>25.37 %</a:t>
                      </a:r>
                    </a:p>
                  </a:txBody>
                  <a:tcPr>
                    <a:solidFill>
                      <a:srgbClr val="FFFFFF"/>
                    </a:solidFill>
                  </a:tcPr>
                </a:tc>
                <a:tc>
                  <a:txBody>
                    <a:bodyPr/>
                    <a:lstStyle/>
                    <a:p>
                      <a:pPr algn="ctr">
                        <a:lnSpc>
                          <a:spcPct val="150000"/>
                        </a:lnSpc>
                        <a:defRPr sz="1100">
                          <a:solidFill>
                            <a:srgbClr val="0F172A"/>
                          </a:solidFill>
                        </a:defRPr>
                      </a:pPr>
                      <a:r>
                        <a:t>4.65</a:t>
                      </a:r>
                    </a:p>
                  </a:txBody>
                  <a:tcPr>
                    <a:solidFill>
                      <a:srgbClr val="FFFFFF"/>
                    </a:solidFill>
                  </a:tcPr>
                </a:tc>
                <a:tc>
                  <a:txBody>
                    <a:bodyPr/>
                    <a:lstStyle/>
                    <a:p>
                      <a:pPr algn="ctr">
                        <a:lnSpc>
                          <a:spcPct val="150000"/>
                        </a:lnSpc>
                        <a:defRPr sz="1100">
                          <a:solidFill>
                            <a:srgbClr val="0F172A"/>
                          </a:solidFill>
                        </a:defRPr>
                      </a:pPr>
                      <a:r>
                        <a:t>21.7 M</a:t>
                      </a:r>
                    </a:p>
                  </a:txBody>
                  <a:tcPr>
                    <a:solidFill>
                      <a:srgbClr val="FFFFFF"/>
                    </a:solidFill>
                  </a:tcPr>
                </a:tc>
                <a:extLst>
                  <a:ext uri="{0D108BD9-81ED-4DB2-BD59-A6C34878D82A}">
                    <a16:rowId xmlns:a16="http://schemas.microsoft.com/office/drawing/2014/main" val="10005"/>
                  </a:ext>
                </a:extLst>
              </a:tr>
              <a:tr h="600894">
                <a:tc>
                  <a:txBody>
                    <a:bodyPr/>
                    <a:lstStyle/>
                    <a:p>
                      <a:pPr algn="l">
                        <a:lnSpc>
                          <a:spcPct val="150000"/>
                        </a:lnSpc>
                        <a:defRPr sz="1100" b="0">
                          <a:solidFill>
                            <a:srgbClr val="0F172A"/>
                          </a:solidFill>
                        </a:defRPr>
                      </a:pPr>
                      <a:r>
                        <a:t>ViT from Scratch (Patch 16/32 — 100% données)</a:t>
                      </a:r>
                    </a:p>
                  </a:txBody>
                  <a:tcPr>
                    <a:solidFill>
                      <a:srgbClr val="F8FAFC"/>
                    </a:solidFill>
                  </a:tcPr>
                </a:tc>
                <a:tc>
                  <a:txBody>
                    <a:bodyPr/>
                    <a:lstStyle/>
                    <a:p>
                      <a:pPr algn="ctr">
                        <a:lnSpc>
                          <a:spcPct val="150000"/>
                        </a:lnSpc>
                        <a:defRPr sz="1100">
                          <a:solidFill>
                            <a:srgbClr val="0F172A"/>
                          </a:solidFill>
                        </a:defRPr>
                      </a:pPr>
                      <a:r>
                        <a:t>1.07 % - 2.00 %</a:t>
                      </a:r>
                    </a:p>
                  </a:txBody>
                  <a:tcPr>
                    <a:solidFill>
                      <a:srgbClr val="F8FAFC"/>
                    </a:solidFill>
                  </a:tcPr>
                </a:tc>
                <a:tc>
                  <a:txBody>
                    <a:bodyPr/>
                    <a:lstStyle/>
                    <a:p>
                      <a:pPr algn="ctr">
                        <a:lnSpc>
                          <a:spcPct val="150000"/>
                        </a:lnSpc>
                        <a:defRPr sz="1100">
                          <a:solidFill>
                            <a:srgbClr val="0F172A"/>
                          </a:solidFill>
                        </a:defRPr>
                      </a:pPr>
                      <a:r>
                        <a:t>4.75 % - 8.46 %</a:t>
                      </a:r>
                    </a:p>
                  </a:txBody>
                  <a:tcPr>
                    <a:solidFill>
                      <a:srgbClr val="F8FAFC"/>
                    </a:solidFill>
                  </a:tcPr>
                </a:tc>
                <a:tc>
                  <a:txBody>
                    <a:bodyPr/>
                    <a:lstStyle/>
                    <a:p>
                      <a:pPr algn="ctr">
                        <a:lnSpc>
                          <a:spcPct val="150000"/>
                        </a:lnSpc>
                        <a:defRPr sz="1100">
                          <a:solidFill>
                            <a:srgbClr val="0F172A"/>
                          </a:solidFill>
                        </a:defRPr>
                      </a:pPr>
                      <a:r>
                        <a:t>~5.15</a:t>
                      </a:r>
                    </a:p>
                  </a:txBody>
                  <a:tcPr>
                    <a:solidFill>
                      <a:srgbClr val="F8FAFC"/>
                    </a:solidFill>
                  </a:tcPr>
                </a:tc>
                <a:tc>
                  <a:txBody>
                    <a:bodyPr/>
                    <a:lstStyle/>
                    <a:p>
                      <a:pPr algn="ctr">
                        <a:lnSpc>
                          <a:spcPct val="150000"/>
                        </a:lnSpc>
                        <a:defRPr sz="1100">
                          <a:solidFill>
                            <a:srgbClr val="0F172A"/>
                          </a:solidFill>
                        </a:defRPr>
                      </a:pPr>
                      <a:r>
                        <a:rPr dirty="0"/>
                        <a:t>11.1 M</a:t>
                      </a:r>
                    </a:p>
                  </a:txBody>
                  <a:tcPr>
                    <a:solidFill>
                      <a:srgbClr val="F8FA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12. Étude d'Ablation : Comportement « Data-Hungry »</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14/22</a:t>
            </a:r>
          </a:p>
        </p:txBody>
      </p:sp>
      <p:sp>
        <p:nvSpPr>
          <p:cNvPr id="7" name="Rounded Rectangle 6"/>
          <p:cNvSpPr/>
          <p:nvPr/>
        </p:nvSpPr>
        <p:spPr>
          <a:xfrm>
            <a:off x="252692" y="1417320"/>
            <a:ext cx="48920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169544" y="1596760"/>
            <a:ext cx="274320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ANALYSE DE SENSIBILITÉ</a:t>
            </a:r>
          </a:p>
        </p:txBody>
      </p:sp>
      <p:sp>
        <p:nvSpPr>
          <p:cNvPr id="9" name="TextBox 8"/>
          <p:cNvSpPr txBox="1"/>
          <p:nvPr/>
        </p:nvSpPr>
        <p:spPr>
          <a:xfrm>
            <a:off x="481292" y="2046695"/>
            <a:ext cx="4663440" cy="3805465"/>
          </a:xfrm>
          <a:prstGeom prst="rect">
            <a:avLst/>
          </a:prstGeom>
          <a:noFill/>
        </p:spPr>
        <p:txBody>
          <a:bodyPr wrap="square">
            <a:spAutoFit/>
          </a:bodyPr>
          <a:lstStyle/>
          <a:p>
            <a:pPr>
              <a:lnSpc>
                <a:spcPct val="150000"/>
              </a:lnSpc>
              <a:spcAft>
                <a:spcPts val="1000"/>
              </a:spcAft>
            </a:pPr>
            <a:r>
              <a:rPr sz="1150" b="1" dirty="0">
                <a:solidFill>
                  <a:srgbClr val="0F172A"/>
                </a:solidFill>
              </a:rPr>
              <a:t>Progression Monotone de ResNet-50 :</a:t>
            </a:r>
            <a:r>
              <a:rPr sz="1050" b="0" dirty="0">
                <a:solidFill>
                  <a:srgbClr val="0F172A"/>
                </a:solidFill>
              </a:rPr>
              <a:t>
  • 10% (509 </a:t>
            </a:r>
            <a:r>
              <a:rPr sz="1050" b="0" dirty="0" err="1">
                <a:solidFill>
                  <a:srgbClr val="0F172A"/>
                </a:solidFill>
              </a:rPr>
              <a:t>imgs</a:t>
            </a:r>
            <a:r>
              <a:rPr sz="1050" b="0" dirty="0">
                <a:solidFill>
                  <a:srgbClr val="0F172A"/>
                </a:solidFill>
              </a:rPr>
              <a:t>)   : 5.11 % Top-1
  • 25% (1 273 </a:t>
            </a:r>
            <a:r>
              <a:rPr sz="1050" b="0" dirty="0" err="1">
                <a:solidFill>
                  <a:srgbClr val="0F172A"/>
                </a:solidFill>
              </a:rPr>
              <a:t>imgs</a:t>
            </a:r>
            <a:r>
              <a:rPr sz="1050" b="0" dirty="0">
                <a:solidFill>
                  <a:srgbClr val="0F172A"/>
                </a:solidFill>
              </a:rPr>
              <a:t>) : 23.47 % Top-1
  • 50% (2 547 </a:t>
            </a:r>
            <a:r>
              <a:rPr sz="1050" b="0" dirty="0" err="1">
                <a:solidFill>
                  <a:srgbClr val="0F172A"/>
                </a:solidFill>
              </a:rPr>
              <a:t>imgs</a:t>
            </a:r>
            <a:r>
              <a:rPr sz="1050" b="0" dirty="0">
                <a:solidFill>
                  <a:srgbClr val="0F172A"/>
                </a:solidFill>
              </a:rPr>
              <a:t>) : 48.74 % Top-1
  • 100% (5 094 </a:t>
            </a:r>
            <a:r>
              <a:rPr sz="1050" b="0" dirty="0" err="1">
                <a:solidFill>
                  <a:srgbClr val="0F172A"/>
                </a:solidFill>
              </a:rPr>
              <a:t>imgs</a:t>
            </a:r>
            <a:r>
              <a:rPr sz="1050" b="0" dirty="0">
                <a:solidFill>
                  <a:srgbClr val="0F172A"/>
                </a:solidFill>
              </a:rPr>
              <a:t>) : 71.87 % Top-1
-&gt; Le CNN extrait </a:t>
            </a:r>
            <a:r>
              <a:rPr sz="1050" b="0" dirty="0" err="1">
                <a:solidFill>
                  <a:srgbClr val="0F172A"/>
                </a:solidFill>
              </a:rPr>
              <a:t>une</a:t>
            </a:r>
            <a:r>
              <a:rPr sz="1050" b="0" dirty="0">
                <a:solidFill>
                  <a:srgbClr val="0F172A"/>
                </a:solidFill>
              </a:rPr>
              <a:t> structure exploitable </a:t>
            </a:r>
            <a:r>
              <a:rPr sz="1050" b="0" dirty="0" err="1">
                <a:solidFill>
                  <a:srgbClr val="0F172A"/>
                </a:solidFill>
              </a:rPr>
              <a:t>dès</a:t>
            </a:r>
            <a:r>
              <a:rPr sz="1050" b="0" dirty="0">
                <a:solidFill>
                  <a:srgbClr val="0F172A"/>
                </a:solidFill>
              </a:rPr>
              <a:t> 500 images grâce à son </a:t>
            </a:r>
            <a:r>
              <a:rPr sz="1050" b="0" dirty="0" err="1">
                <a:solidFill>
                  <a:srgbClr val="0F172A"/>
                </a:solidFill>
              </a:rPr>
              <a:t>biais</a:t>
            </a:r>
            <a:r>
              <a:rPr sz="1050" b="0" dirty="0">
                <a:solidFill>
                  <a:srgbClr val="0F172A"/>
                </a:solidFill>
              </a:rPr>
              <a:t> </a:t>
            </a:r>
            <a:r>
              <a:rPr sz="1050" b="0" dirty="0" err="1">
                <a:solidFill>
                  <a:srgbClr val="0F172A"/>
                </a:solidFill>
              </a:rPr>
              <a:t>inductif</a:t>
            </a:r>
            <a:r>
              <a:rPr sz="1050" b="0" dirty="0">
                <a:solidFill>
                  <a:srgbClr val="0F172A"/>
                </a:solidFill>
              </a:rPr>
              <a:t>.</a:t>
            </a:r>
          </a:p>
          <a:p>
            <a:pPr>
              <a:lnSpc>
                <a:spcPct val="150000"/>
              </a:lnSpc>
              <a:spcAft>
                <a:spcPts val="1000"/>
              </a:spcAft>
            </a:pPr>
            <a:r>
              <a:rPr sz="1150" b="1" dirty="0">
                <a:solidFill>
                  <a:srgbClr val="0F172A"/>
                </a:solidFill>
              </a:rPr>
              <a:t>Stagnation du </a:t>
            </a:r>
            <a:r>
              <a:rPr sz="1150" b="1" dirty="0" err="1">
                <a:solidFill>
                  <a:srgbClr val="0F172A"/>
                </a:solidFill>
              </a:rPr>
              <a:t>ViT</a:t>
            </a:r>
            <a:r>
              <a:rPr sz="1150" b="1" dirty="0">
                <a:solidFill>
                  <a:srgbClr val="0F172A"/>
                </a:solidFill>
              </a:rPr>
              <a:t> from Scratch :</a:t>
            </a:r>
            <a:r>
              <a:rPr sz="1050" b="0" dirty="0">
                <a:solidFill>
                  <a:srgbClr val="0F172A"/>
                </a:solidFill>
              </a:rPr>
              <a:t>
  • </a:t>
            </a:r>
            <a:r>
              <a:rPr sz="1050" b="0" dirty="0" err="1">
                <a:solidFill>
                  <a:srgbClr val="0F172A"/>
                </a:solidFill>
              </a:rPr>
              <a:t>Reste</a:t>
            </a:r>
            <a:r>
              <a:rPr sz="1050" b="0" dirty="0">
                <a:solidFill>
                  <a:srgbClr val="0F172A"/>
                </a:solidFill>
              </a:rPr>
              <a:t> entre 0.97% et 2.16% </a:t>
            </a:r>
            <a:r>
              <a:rPr sz="1050" b="0" dirty="0" err="1">
                <a:solidFill>
                  <a:srgbClr val="0F172A"/>
                </a:solidFill>
              </a:rPr>
              <a:t>indépendamment</a:t>
            </a:r>
            <a:r>
              <a:rPr sz="1050" b="0" dirty="0">
                <a:solidFill>
                  <a:srgbClr val="0F172A"/>
                </a:solidFill>
              </a:rPr>
              <a:t> du volume de données.
-&gt; Confirmation </a:t>
            </a:r>
            <a:r>
              <a:rPr sz="1050" b="0" dirty="0" err="1">
                <a:solidFill>
                  <a:srgbClr val="0F172A"/>
                </a:solidFill>
              </a:rPr>
              <a:t>empirique</a:t>
            </a:r>
            <a:r>
              <a:rPr sz="1050" b="0" dirty="0">
                <a:solidFill>
                  <a:srgbClr val="0F172A"/>
                </a:solidFill>
              </a:rPr>
              <a:t> : sans a priori spatial, le </a:t>
            </a:r>
            <a:r>
              <a:rPr sz="1050" b="0" dirty="0" err="1">
                <a:solidFill>
                  <a:srgbClr val="0F172A"/>
                </a:solidFill>
              </a:rPr>
              <a:t>ViT</a:t>
            </a:r>
            <a:r>
              <a:rPr sz="1050" b="0" dirty="0">
                <a:solidFill>
                  <a:srgbClr val="0F172A"/>
                </a:solidFill>
              </a:rPr>
              <a:t> ne </a:t>
            </a:r>
            <a:r>
              <a:rPr sz="1050" b="0" dirty="0" err="1">
                <a:solidFill>
                  <a:srgbClr val="0F172A"/>
                </a:solidFill>
              </a:rPr>
              <a:t>peut</a:t>
            </a:r>
            <a:r>
              <a:rPr sz="1050" b="0" dirty="0">
                <a:solidFill>
                  <a:srgbClr val="0F172A"/>
                </a:solidFill>
              </a:rPr>
              <a:t> pas structurer son attention sur 5 094 images.</a:t>
            </a:r>
          </a:p>
        </p:txBody>
      </p:sp>
      <p:pic>
        <p:nvPicPr>
          <p:cNvPr id="10" name="Picture 9" descr="data_hungry_curve.png"/>
          <p:cNvPicPr>
            <a:picLocks noChangeAspect="1"/>
          </p:cNvPicPr>
          <p:nvPr/>
        </p:nvPicPr>
        <p:blipFill>
          <a:blip r:embed="rId3"/>
          <a:stretch>
            <a:fillRect/>
          </a:stretch>
        </p:blipFill>
        <p:spPr>
          <a:xfrm>
            <a:off x="5486400" y="1055479"/>
            <a:ext cx="6452908" cy="4796681"/>
          </a:xfrm>
          <a:prstGeom prst="rect">
            <a:avLst/>
          </a:prstGeom>
        </p:spPr>
      </p:pic>
      <p:sp>
        <p:nvSpPr>
          <p:cNvPr id="11" name="TextBox 10"/>
          <p:cNvSpPr txBox="1"/>
          <p:nvPr/>
        </p:nvSpPr>
        <p:spPr>
          <a:xfrm>
            <a:off x="6217920" y="5897880"/>
            <a:ext cx="5120640" cy="274320"/>
          </a:xfrm>
          <a:prstGeom prst="rect">
            <a:avLst/>
          </a:prstGeom>
          <a:noFill/>
        </p:spPr>
        <p:txBody>
          <a:bodyPr wrap="none">
            <a:spAutoFit/>
          </a:bodyPr>
          <a:lstStyle/>
          <a:p>
            <a:pPr algn="ctr">
              <a:defRPr sz="950" i="1">
                <a:solidFill>
                  <a:srgbClr val="64748B"/>
                </a:solidFill>
              </a:defRPr>
            </a:pPr>
            <a:r>
              <a:t>Courbe Data-Hungry : Accuracy Top-1 vs Fraction des données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594360"/>
          </a:xfrm>
          <a:prstGeom prst="rect">
            <a:avLst/>
          </a:prstGeom>
          <a:noFill/>
        </p:spPr>
        <p:txBody>
          <a:bodyPr wrap="square" lIns="0" tIns="0" rIns="0" bIns="0">
            <a:spAutoFit/>
          </a:bodyPr>
          <a:lstStyle/>
          <a:p>
            <a:pPr>
              <a:defRPr sz="2300" b="1">
                <a:solidFill>
                  <a:srgbClr val="0F172A"/>
                </a:solidFill>
                <a:latin typeface="Arial"/>
              </a:defRPr>
            </a:pPr>
            <a:r>
              <a:t>13. Étude d'Ablation : Pré-entraînement &amp; Patch Size</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15/22</a:t>
            </a:r>
          </a:p>
        </p:txBody>
      </p:sp>
      <p:sp>
        <p:nvSpPr>
          <p:cNvPr id="7" name="Rounded Rectangle 6"/>
          <p:cNvSpPr/>
          <p:nvPr/>
        </p:nvSpPr>
        <p:spPr>
          <a:xfrm>
            <a:off x="183867"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179376"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ENSEIGNEMENTS ARCHITECTURAUX</a:t>
            </a:r>
          </a:p>
        </p:txBody>
      </p:sp>
      <p:sp>
        <p:nvSpPr>
          <p:cNvPr id="9" name="TextBox 8"/>
          <p:cNvSpPr txBox="1"/>
          <p:nvPr/>
        </p:nvSpPr>
        <p:spPr>
          <a:xfrm>
            <a:off x="520621" y="2103120"/>
            <a:ext cx="4663440" cy="3840480"/>
          </a:xfrm>
          <a:prstGeom prst="rect">
            <a:avLst/>
          </a:prstGeom>
          <a:noFill/>
        </p:spPr>
        <p:txBody>
          <a:bodyPr wrap="square">
            <a:spAutoFit/>
          </a:bodyPr>
          <a:lstStyle/>
          <a:p>
            <a:endParaRPr dirty="0"/>
          </a:p>
          <a:p>
            <a:pPr>
              <a:lnSpc>
                <a:spcPct val="135000"/>
              </a:lnSpc>
              <a:spcAft>
                <a:spcPts val="1000"/>
              </a:spcAft>
            </a:pPr>
            <a:r>
              <a:rPr sz="1150" b="1" dirty="0">
                <a:solidFill>
                  <a:srgbClr val="0F172A"/>
                </a:solidFill>
              </a:rPr>
              <a:t>1. Pré-</a:t>
            </a:r>
            <a:r>
              <a:rPr sz="1150" b="1" dirty="0" err="1">
                <a:solidFill>
                  <a:srgbClr val="0F172A"/>
                </a:solidFill>
              </a:rPr>
              <a:t>entraînement</a:t>
            </a:r>
            <a:r>
              <a:rPr sz="1150" b="1" dirty="0">
                <a:solidFill>
                  <a:srgbClr val="0F172A"/>
                </a:solidFill>
              </a:rPr>
              <a:t> indispensable :</a:t>
            </a:r>
            <a:r>
              <a:rPr sz="1050" b="0" dirty="0">
                <a:solidFill>
                  <a:srgbClr val="0F172A"/>
                </a:solidFill>
              </a:rPr>
              <a:t>
• </a:t>
            </a:r>
            <a:r>
              <a:rPr sz="1050" b="0" dirty="0" err="1">
                <a:solidFill>
                  <a:srgbClr val="0F172A"/>
                </a:solidFill>
              </a:rPr>
              <a:t>ViT</a:t>
            </a:r>
            <a:r>
              <a:rPr sz="1050" b="0" dirty="0">
                <a:solidFill>
                  <a:srgbClr val="0F172A"/>
                </a:solidFill>
              </a:rPr>
              <a:t> Scratch (Patch 16) : 1.07 % Top-1
• </a:t>
            </a:r>
            <a:r>
              <a:rPr sz="1050" b="0" dirty="0" err="1">
                <a:solidFill>
                  <a:srgbClr val="0F172A"/>
                </a:solidFill>
              </a:rPr>
              <a:t>ViT</a:t>
            </a:r>
            <a:r>
              <a:rPr sz="1050" b="0" dirty="0">
                <a:solidFill>
                  <a:srgbClr val="0F172A"/>
                </a:solidFill>
              </a:rPr>
              <a:t> Pré-</a:t>
            </a:r>
            <a:r>
              <a:rPr sz="1050" b="0" dirty="0" err="1">
                <a:solidFill>
                  <a:srgbClr val="0F172A"/>
                </a:solidFill>
              </a:rPr>
              <a:t>entraîné</a:t>
            </a:r>
            <a:r>
              <a:rPr sz="1050" b="0" dirty="0">
                <a:solidFill>
                  <a:srgbClr val="0F172A"/>
                </a:solidFill>
              </a:rPr>
              <a:t> (Patch 32) : 53.85 % Top-1
-&gt; Gain </a:t>
            </a:r>
            <a:r>
              <a:rPr sz="1050" b="0" dirty="0" err="1">
                <a:solidFill>
                  <a:srgbClr val="0F172A"/>
                </a:solidFill>
              </a:rPr>
              <a:t>spectaculaire</a:t>
            </a:r>
            <a:r>
              <a:rPr sz="1050" b="0" dirty="0">
                <a:solidFill>
                  <a:srgbClr val="0F172A"/>
                </a:solidFill>
              </a:rPr>
              <a:t> de +52.78 points </a:t>
            </a:r>
            <a:r>
              <a:rPr sz="1050" b="0" dirty="0" err="1">
                <a:solidFill>
                  <a:srgbClr val="0F172A"/>
                </a:solidFill>
              </a:rPr>
              <a:t>apporté</a:t>
            </a:r>
            <a:r>
              <a:rPr sz="1050" b="0" dirty="0">
                <a:solidFill>
                  <a:srgbClr val="0F172A"/>
                </a:solidFill>
              </a:rPr>
              <a:t> par le </a:t>
            </a:r>
            <a:r>
              <a:rPr sz="1050" b="0" dirty="0" err="1">
                <a:solidFill>
                  <a:srgbClr val="0F172A"/>
                </a:solidFill>
              </a:rPr>
              <a:t>transfert</a:t>
            </a:r>
            <a:r>
              <a:rPr sz="1050" b="0" dirty="0">
                <a:solidFill>
                  <a:srgbClr val="0F172A"/>
                </a:solidFill>
              </a:rPr>
              <a:t> ImageNet.</a:t>
            </a:r>
          </a:p>
          <a:p>
            <a:pPr>
              <a:lnSpc>
                <a:spcPct val="135000"/>
              </a:lnSpc>
              <a:spcAft>
                <a:spcPts val="1000"/>
              </a:spcAft>
            </a:pPr>
            <a:r>
              <a:rPr sz="1150" b="1" dirty="0">
                <a:solidFill>
                  <a:srgbClr val="0F172A"/>
                </a:solidFill>
              </a:rPr>
              <a:t>2. </a:t>
            </a:r>
            <a:r>
              <a:rPr sz="1150" b="1" dirty="0" err="1">
                <a:solidFill>
                  <a:srgbClr val="0F172A"/>
                </a:solidFill>
              </a:rPr>
              <a:t>Comparaison</a:t>
            </a:r>
            <a:r>
              <a:rPr sz="1150" b="1" dirty="0">
                <a:solidFill>
                  <a:srgbClr val="0F172A"/>
                </a:solidFill>
              </a:rPr>
              <a:t> Patch 16 vs Patch 32 :</a:t>
            </a:r>
            <a:r>
              <a:rPr sz="1050" b="0" dirty="0">
                <a:solidFill>
                  <a:srgbClr val="0F172A"/>
                </a:solidFill>
              </a:rPr>
              <a:t>
• Patch 32 : 53.85 % Top-1 (83.50 % Top-5)
• Patch 16 : 9.94 % Top-1 (25.37 % Top-5)
• Explication : Patch 16 </a:t>
            </a:r>
            <a:r>
              <a:rPr sz="1050" b="0" dirty="0" err="1">
                <a:solidFill>
                  <a:srgbClr val="0F172A"/>
                </a:solidFill>
              </a:rPr>
              <a:t>engendre</a:t>
            </a:r>
            <a:r>
              <a:rPr sz="1050" b="0" dirty="0">
                <a:solidFill>
                  <a:srgbClr val="0F172A"/>
                </a:solidFill>
              </a:rPr>
              <a:t> </a:t>
            </a:r>
            <a:r>
              <a:rPr sz="1050" b="0" dirty="0" err="1">
                <a:solidFill>
                  <a:srgbClr val="0F172A"/>
                </a:solidFill>
              </a:rPr>
              <a:t>une</a:t>
            </a:r>
            <a:r>
              <a:rPr sz="1050" b="0" dirty="0">
                <a:solidFill>
                  <a:srgbClr val="0F172A"/>
                </a:solidFill>
              </a:rPr>
              <a:t> </a:t>
            </a:r>
            <a:r>
              <a:rPr sz="1050" b="0" dirty="0" err="1">
                <a:solidFill>
                  <a:srgbClr val="0F172A"/>
                </a:solidFill>
              </a:rPr>
              <a:t>séquence</a:t>
            </a:r>
            <a:r>
              <a:rPr sz="1050" b="0" dirty="0">
                <a:solidFill>
                  <a:srgbClr val="0F172A"/>
                </a:solidFill>
              </a:rPr>
              <a:t> 4x plus longue (196 tokens vs 49 tokens), </a:t>
            </a:r>
            <a:r>
              <a:rPr sz="1050" b="0" dirty="0" err="1">
                <a:solidFill>
                  <a:srgbClr val="0F172A"/>
                </a:solidFill>
              </a:rPr>
              <a:t>nécessitant</a:t>
            </a:r>
            <a:r>
              <a:rPr sz="1050" b="0" dirty="0">
                <a:solidFill>
                  <a:srgbClr val="0F172A"/>
                </a:solidFill>
              </a:rPr>
              <a:t> un learning rate </a:t>
            </a:r>
            <a:r>
              <a:rPr sz="1050" b="0" dirty="0" err="1">
                <a:solidFill>
                  <a:srgbClr val="0F172A"/>
                </a:solidFill>
              </a:rPr>
              <a:t>adapté</a:t>
            </a:r>
            <a:r>
              <a:rPr sz="1050" b="0" dirty="0">
                <a:solidFill>
                  <a:srgbClr val="0F172A"/>
                </a:solidFill>
              </a:rPr>
              <a:t> et plus </a:t>
            </a:r>
            <a:r>
              <a:rPr sz="1050" b="0" dirty="0" err="1">
                <a:solidFill>
                  <a:srgbClr val="0F172A"/>
                </a:solidFill>
              </a:rPr>
              <a:t>d'époques</a:t>
            </a:r>
            <a:r>
              <a:rPr sz="1050" b="0" dirty="0">
                <a:solidFill>
                  <a:srgbClr val="0F172A"/>
                </a:solidFill>
              </a:rPr>
              <a:t> pour </a:t>
            </a:r>
            <a:r>
              <a:rPr sz="1050" b="0" dirty="0" err="1">
                <a:solidFill>
                  <a:srgbClr val="0F172A"/>
                </a:solidFill>
              </a:rPr>
              <a:t>converger</a:t>
            </a:r>
            <a:r>
              <a:rPr sz="1050" b="0" dirty="0">
                <a:solidFill>
                  <a:srgbClr val="0F172A"/>
                </a:solidFill>
              </a:rPr>
              <a:t>.</a:t>
            </a:r>
          </a:p>
        </p:txBody>
      </p:sp>
      <p:pic>
        <p:nvPicPr>
          <p:cNvPr id="10" name="Picture 9" descr="final_model_comparison.png"/>
          <p:cNvPicPr>
            <a:picLocks noChangeAspect="1"/>
          </p:cNvPicPr>
          <p:nvPr/>
        </p:nvPicPr>
        <p:blipFill>
          <a:blip r:embed="rId3"/>
          <a:stretch>
            <a:fillRect/>
          </a:stretch>
        </p:blipFill>
        <p:spPr>
          <a:xfrm>
            <a:off x="5520815" y="1463040"/>
            <a:ext cx="6487318" cy="4160520"/>
          </a:xfrm>
          <a:prstGeom prst="rect">
            <a:avLst/>
          </a:prstGeom>
        </p:spPr>
      </p:pic>
      <p:sp>
        <p:nvSpPr>
          <p:cNvPr id="11" name="TextBox 10"/>
          <p:cNvSpPr txBox="1"/>
          <p:nvPr/>
        </p:nvSpPr>
        <p:spPr>
          <a:xfrm>
            <a:off x="6217920" y="5897880"/>
            <a:ext cx="5120640" cy="274320"/>
          </a:xfrm>
          <a:prstGeom prst="rect">
            <a:avLst/>
          </a:prstGeom>
          <a:noFill/>
        </p:spPr>
        <p:txBody>
          <a:bodyPr wrap="none">
            <a:spAutoFit/>
          </a:bodyPr>
          <a:lstStyle/>
          <a:p>
            <a:pPr algn="ctr">
              <a:defRPr sz="950" i="1">
                <a:solidFill>
                  <a:srgbClr val="64748B"/>
                </a:solidFill>
              </a:defRPr>
            </a:pPr>
            <a:r>
              <a:t>Comparatif final : Top-1 Accuracy (%) des différentes variantes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dirty="0"/>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rPr dirty="0"/>
              <a:t>14. Architecture Système de </a:t>
            </a:r>
            <a:r>
              <a:rPr dirty="0" err="1"/>
              <a:t>l'Application</a:t>
            </a:r>
            <a:r>
              <a:rPr dirty="0"/>
              <a:t> </a:t>
            </a:r>
            <a:r>
              <a:rPr dirty="0" err="1"/>
              <a:t>Dém</a:t>
            </a:r>
            <a:r>
              <a:rPr lang="fr-FR" dirty="0"/>
              <a:t>o</a:t>
            </a:r>
            <a:endParaRPr dirty="0"/>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16/22</a:t>
            </a:r>
          </a:p>
        </p:txBody>
      </p:sp>
      <p:sp>
        <p:nvSpPr>
          <p:cNvPr id="7" name="Rounded Rectangle 6"/>
          <p:cNvSpPr/>
          <p:nvPr/>
        </p:nvSpPr>
        <p:spPr>
          <a:xfrm>
            <a:off x="822960"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ectangle 7"/>
          <p:cNvSpPr/>
          <p:nvPr/>
        </p:nvSpPr>
        <p:spPr>
          <a:xfrm>
            <a:off x="822960" y="1417320"/>
            <a:ext cx="3383280"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9" name="TextBox 8"/>
          <p:cNvSpPr txBox="1"/>
          <p:nvPr/>
        </p:nvSpPr>
        <p:spPr>
          <a:xfrm>
            <a:off x="960120" y="1481328"/>
            <a:ext cx="1951625" cy="340734"/>
          </a:xfrm>
          <a:prstGeom prst="rect">
            <a:avLst/>
          </a:prstGeom>
          <a:noFill/>
        </p:spPr>
        <p:txBody>
          <a:bodyPr wrap="none">
            <a:spAutoFit/>
          </a:bodyPr>
          <a:lstStyle/>
          <a:p>
            <a:pPr>
              <a:lnSpc>
                <a:spcPct val="150000"/>
              </a:lnSpc>
              <a:defRPr sz="1200" b="1">
                <a:solidFill>
                  <a:srgbClr val="FFFFFF"/>
                </a:solidFill>
              </a:defRPr>
            </a:pPr>
            <a:r>
              <a:t>Frontend Démo (Next.js 14)</a:t>
            </a:r>
          </a:p>
        </p:txBody>
      </p:sp>
      <p:sp>
        <p:nvSpPr>
          <p:cNvPr id="10" name="TextBox 9"/>
          <p:cNvSpPr txBox="1"/>
          <p:nvPr/>
        </p:nvSpPr>
        <p:spPr>
          <a:xfrm>
            <a:off x="1005840" y="2057400"/>
            <a:ext cx="3017520" cy="1777987"/>
          </a:xfrm>
          <a:prstGeom prst="rect">
            <a:avLst/>
          </a:prstGeom>
          <a:noFill/>
        </p:spPr>
        <p:txBody>
          <a:bodyPr wrap="square">
            <a:spAutoFit/>
          </a:bodyPr>
          <a:lstStyle/>
          <a:p>
            <a:pPr>
              <a:lnSpc>
                <a:spcPct val="150000"/>
              </a:lnSpc>
              <a:spcAft>
                <a:spcPts val="400"/>
              </a:spcAft>
              <a:defRPr sz="1050" b="1">
                <a:solidFill>
                  <a:srgbClr val="0F172A"/>
                </a:solidFill>
              </a:defRPr>
            </a:pPr>
            <a:r>
              <a:t>• Interface réactive React 18</a:t>
            </a:r>
          </a:p>
          <a:p>
            <a:pPr>
              <a:lnSpc>
                <a:spcPct val="150000"/>
              </a:lnSpc>
              <a:spcAft>
                <a:spcPts val="400"/>
              </a:spcAft>
              <a:defRPr sz="1050" b="0">
                <a:solidFill>
                  <a:srgbClr val="0F172A"/>
                </a:solidFill>
              </a:defRPr>
            </a:pPr>
            <a:r>
              <a:t>• Upload d'image par Drag &amp; Drop</a:t>
            </a:r>
          </a:p>
          <a:p>
            <a:pPr>
              <a:lnSpc>
                <a:spcPct val="150000"/>
              </a:lnSpc>
              <a:spcAft>
                <a:spcPts val="400"/>
              </a:spcAft>
              <a:defRPr sz="1050" b="0">
                <a:solidFill>
                  <a:srgbClr val="0F172A"/>
                </a:solidFill>
              </a:defRPr>
            </a:pPr>
            <a:r>
              <a:t>• Comparaison côte-à-côte (ViT vs ResNet)</a:t>
            </a:r>
          </a:p>
          <a:p>
            <a:pPr>
              <a:lnSpc>
                <a:spcPct val="150000"/>
              </a:lnSpc>
              <a:spcAft>
                <a:spcPts val="400"/>
              </a:spcAft>
              <a:defRPr sz="1050" b="0">
                <a:solidFill>
                  <a:srgbClr val="0F172A"/>
                </a:solidFill>
              </a:defRPr>
            </a:pPr>
            <a:r>
              <a:t>• Barres de confiance Top-3 dynamiques</a:t>
            </a:r>
          </a:p>
          <a:p>
            <a:pPr>
              <a:lnSpc>
                <a:spcPct val="150000"/>
              </a:lnSpc>
              <a:spcAft>
                <a:spcPts val="400"/>
              </a:spcAft>
              <a:defRPr sz="1050" b="0">
                <a:solidFill>
                  <a:srgbClr val="0F172A"/>
                </a:solidFill>
              </a:defRPr>
            </a:pPr>
            <a:r>
              <a:t>• Indicateur d'accord / désaccord</a:t>
            </a:r>
          </a:p>
          <a:p>
            <a:pPr>
              <a:lnSpc>
                <a:spcPct val="150000"/>
              </a:lnSpc>
              <a:spcAft>
                <a:spcPts val="400"/>
              </a:spcAft>
              <a:defRPr sz="1050" b="0">
                <a:solidFill>
                  <a:srgbClr val="0F172A"/>
                </a:solidFill>
              </a:defRPr>
            </a:pPr>
            <a:r>
              <a:t>• Superposition heatmap interactive</a:t>
            </a:r>
          </a:p>
        </p:txBody>
      </p:sp>
      <p:sp>
        <p:nvSpPr>
          <p:cNvPr id="11" name="Rounded Rectangle 10"/>
          <p:cNvSpPr/>
          <p:nvPr/>
        </p:nvSpPr>
        <p:spPr>
          <a:xfrm>
            <a:off x="4389120"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2" name="Rectangle 11"/>
          <p:cNvSpPr/>
          <p:nvPr/>
        </p:nvSpPr>
        <p:spPr>
          <a:xfrm>
            <a:off x="4389120" y="1417320"/>
            <a:ext cx="3383280" cy="5029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3" name="TextBox 12"/>
          <p:cNvSpPr txBox="1"/>
          <p:nvPr/>
        </p:nvSpPr>
        <p:spPr>
          <a:xfrm>
            <a:off x="4526280" y="1481328"/>
            <a:ext cx="1577098" cy="340734"/>
          </a:xfrm>
          <a:prstGeom prst="rect">
            <a:avLst/>
          </a:prstGeom>
          <a:noFill/>
        </p:spPr>
        <p:txBody>
          <a:bodyPr wrap="none">
            <a:spAutoFit/>
          </a:bodyPr>
          <a:lstStyle/>
          <a:p>
            <a:pPr>
              <a:lnSpc>
                <a:spcPct val="150000"/>
              </a:lnSpc>
              <a:defRPr sz="1200" b="1">
                <a:solidFill>
                  <a:srgbClr val="FFFFFF"/>
                </a:solidFill>
              </a:defRPr>
            </a:pPr>
            <a:r>
              <a:t>Backend API (FastAPI)</a:t>
            </a:r>
          </a:p>
        </p:txBody>
      </p:sp>
      <p:sp>
        <p:nvSpPr>
          <p:cNvPr id="14" name="TextBox 13"/>
          <p:cNvSpPr txBox="1"/>
          <p:nvPr/>
        </p:nvSpPr>
        <p:spPr>
          <a:xfrm>
            <a:off x="4572000" y="2057400"/>
            <a:ext cx="3017520" cy="1777987"/>
          </a:xfrm>
          <a:prstGeom prst="rect">
            <a:avLst/>
          </a:prstGeom>
          <a:noFill/>
        </p:spPr>
        <p:txBody>
          <a:bodyPr wrap="square">
            <a:spAutoFit/>
          </a:bodyPr>
          <a:lstStyle/>
          <a:p>
            <a:pPr>
              <a:lnSpc>
                <a:spcPct val="150000"/>
              </a:lnSpc>
              <a:spcAft>
                <a:spcPts val="400"/>
              </a:spcAft>
              <a:defRPr sz="1050" b="1">
                <a:solidFill>
                  <a:srgbClr val="0F172A"/>
                </a:solidFill>
              </a:defRPr>
            </a:pPr>
            <a:r>
              <a:t>• Serveur ASGI Uvicorn haute performance</a:t>
            </a:r>
          </a:p>
          <a:p>
            <a:pPr>
              <a:lnSpc>
                <a:spcPct val="150000"/>
              </a:lnSpc>
              <a:spcAft>
                <a:spcPts val="400"/>
              </a:spcAft>
              <a:defRPr sz="1050" b="0">
                <a:solidFill>
                  <a:srgbClr val="0F172A"/>
                </a:solidFill>
              </a:defRPr>
            </a:pPr>
            <a:r>
              <a:t>• Endpoint POST /predict : inférence parallèle</a:t>
            </a:r>
          </a:p>
          <a:p>
            <a:pPr>
              <a:lnSpc>
                <a:spcPct val="150000"/>
              </a:lnSpc>
              <a:spcAft>
                <a:spcPts val="400"/>
              </a:spcAft>
              <a:defRPr sz="1050" b="0">
                <a:solidFill>
                  <a:srgbClr val="0F172A"/>
                </a:solidFill>
              </a:defRPr>
            </a:pPr>
            <a:r>
              <a:t>• Endpoint POST /attention : extraction heatmap</a:t>
            </a:r>
          </a:p>
          <a:p>
            <a:pPr>
              <a:lnSpc>
                <a:spcPct val="150000"/>
              </a:lnSpc>
              <a:spcAft>
                <a:spcPts val="400"/>
              </a:spcAft>
              <a:defRPr sz="1050" b="0">
                <a:solidFill>
                  <a:srgbClr val="0F172A"/>
                </a:solidFill>
              </a:defRPr>
            </a:pPr>
            <a:r>
              <a:t>• Endpoint GET /classes : mapping 200 espèces</a:t>
            </a:r>
          </a:p>
          <a:p>
            <a:pPr>
              <a:lnSpc>
                <a:spcPct val="150000"/>
              </a:lnSpc>
              <a:spcAft>
                <a:spcPts val="400"/>
              </a:spcAft>
              <a:defRPr sz="1050" b="0">
                <a:solidFill>
                  <a:srgbClr val="0F172A"/>
                </a:solidFill>
              </a:defRPr>
            </a:pPr>
            <a:r>
              <a:t>• Endpoint GET /health : vérification de santé</a:t>
            </a:r>
          </a:p>
          <a:p>
            <a:pPr>
              <a:lnSpc>
                <a:spcPct val="150000"/>
              </a:lnSpc>
              <a:spcAft>
                <a:spcPts val="400"/>
              </a:spcAft>
              <a:defRPr sz="1050" b="0">
                <a:solidFill>
                  <a:srgbClr val="0F172A"/>
                </a:solidFill>
              </a:defRPr>
            </a:pPr>
            <a:r>
              <a:t>• Inférence CPU optimisée en mémoire</a:t>
            </a:r>
          </a:p>
        </p:txBody>
      </p:sp>
      <p:sp>
        <p:nvSpPr>
          <p:cNvPr id="15" name="Rounded Rectangle 14"/>
          <p:cNvSpPr/>
          <p:nvPr/>
        </p:nvSpPr>
        <p:spPr>
          <a:xfrm>
            <a:off x="7955279" y="1417320"/>
            <a:ext cx="33832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6" name="Rectangle 15"/>
          <p:cNvSpPr/>
          <p:nvPr/>
        </p:nvSpPr>
        <p:spPr>
          <a:xfrm>
            <a:off x="7955279" y="1417320"/>
            <a:ext cx="3383280"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7" name="TextBox 16"/>
          <p:cNvSpPr txBox="1"/>
          <p:nvPr/>
        </p:nvSpPr>
        <p:spPr>
          <a:xfrm>
            <a:off x="8092439" y="1481328"/>
            <a:ext cx="1960217" cy="340734"/>
          </a:xfrm>
          <a:prstGeom prst="rect">
            <a:avLst/>
          </a:prstGeom>
          <a:noFill/>
        </p:spPr>
        <p:txBody>
          <a:bodyPr wrap="none">
            <a:spAutoFit/>
          </a:bodyPr>
          <a:lstStyle/>
          <a:p>
            <a:pPr>
              <a:lnSpc>
                <a:spcPct val="150000"/>
              </a:lnSpc>
              <a:defRPr sz="1200" b="1">
                <a:solidFill>
                  <a:srgbClr val="FFFFFF"/>
                </a:solidFill>
              </a:defRPr>
            </a:pPr>
            <a:r>
              <a:t>Moteur d'Inférence PyTorch</a:t>
            </a:r>
          </a:p>
        </p:txBody>
      </p:sp>
      <p:sp>
        <p:nvSpPr>
          <p:cNvPr id="18" name="TextBox 17"/>
          <p:cNvSpPr txBox="1"/>
          <p:nvPr/>
        </p:nvSpPr>
        <p:spPr>
          <a:xfrm>
            <a:off x="8138159" y="2057400"/>
            <a:ext cx="3017520" cy="1777987"/>
          </a:xfrm>
          <a:prstGeom prst="rect">
            <a:avLst/>
          </a:prstGeom>
          <a:noFill/>
        </p:spPr>
        <p:txBody>
          <a:bodyPr wrap="square">
            <a:spAutoFit/>
          </a:bodyPr>
          <a:lstStyle/>
          <a:p>
            <a:pPr>
              <a:lnSpc>
                <a:spcPct val="150000"/>
              </a:lnSpc>
              <a:spcAft>
                <a:spcPts val="400"/>
              </a:spcAft>
              <a:defRPr sz="1050" b="1">
                <a:solidFill>
                  <a:srgbClr val="0F172A"/>
                </a:solidFill>
              </a:defRPr>
            </a:pPr>
            <a:r>
              <a:t>• Modèles pré-chargés au démarrage (lifespan)</a:t>
            </a:r>
          </a:p>
          <a:p>
            <a:pPr>
              <a:lnSpc>
                <a:spcPct val="150000"/>
              </a:lnSpc>
              <a:spcAft>
                <a:spcPts val="400"/>
              </a:spcAft>
              <a:defRPr sz="1050" b="0">
                <a:solidFill>
                  <a:srgbClr val="0F172A"/>
                </a:solidFill>
              </a:defRPr>
            </a:pPr>
            <a:r>
              <a:t>• ResNet-50 &amp; ViT patch32 en mode eval()</a:t>
            </a:r>
          </a:p>
          <a:p>
            <a:pPr>
              <a:lnSpc>
                <a:spcPct val="150000"/>
              </a:lnSpc>
              <a:spcAft>
                <a:spcPts val="400"/>
              </a:spcAft>
              <a:defRPr sz="1050" b="0">
                <a:solidFill>
                  <a:srgbClr val="0F172A"/>
                </a:solidFill>
              </a:defRPr>
            </a:pPr>
            <a:r>
              <a:t>• Pipeline de transformation temps réel</a:t>
            </a:r>
          </a:p>
          <a:p>
            <a:pPr>
              <a:lnSpc>
                <a:spcPct val="150000"/>
              </a:lnSpc>
              <a:spcAft>
                <a:spcPts val="400"/>
              </a:spcAft>
              <a:defRPr sz="1050" b="0">
                <a:solidFill>
                  <a:srgbClr val="0F172A"/>
                </a:solidFill>
              </a:defRPr>
            </a:pPr>
            <a:r>
              <a:t>• Hook d'attention sur dernier bloc ViT</a:t>
            </a:r>
          </a:p>
          <a:p>
            <a:pPr>
              <a:lnSpc>
                <a:spcPct val="150000"/>
              </a:lnSpc>
              <a:spcAft>
                <a:spcPts val="400"/>
              </a:spcAft>
              <a:defRPr sz="1050" b="0">
                <a:solidFill>
                  <a:srgbClr val="0F172A"/>
                </a:solidFill>
              </a:defRPr>
            </a:pPr>
            <a:r>
              <a:t>• Mode commutable via USE_MOCK (dev/prod)</a:t>
            </a:r>
          </a:p>
          <a:p>
            <a:pPr>
              <a:lnSpc>
                <a:spcPct val="150000"/>
              </a:lnSpc>
              <a:spcAft>
                <a:spcPts val="400"/>
              </a:spcAft>
              <a:defRPr sz="1050" b="0">
                <a:solidFill>
                  <a:srgbClr val="0F172A"/>
                </a:solidFill>
              </a:defRPr>
            </a:pPr>
            <a:r>
              <a:t>• Sortie normalisée JSON &amp; base64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rPr dirty="0"/>
              <a:t>15. </a:t>
            </a:r>
            <a:r>
              <a:rPr dirty="0" err="1"/>
              <a:t>Interprétabilité</a:t>
            </a:r>
            <a:r>
              <a:rPr dirty="0"/>
              <a:t> : Carte </a:t>
            </a:r>
            <a:r>
              <a:rPr dirty="0" err="1"/>
              <a:t>d'Attention</a:t>
            </a:r>
            <a:r>
              <a:rPr dirty="0"/>
              <a:t> du </a:t>
            </a:r>
            <a:r>
              <a:rPr dirty="0" err="1"/>
              <a:t>ViT</a:t>
            </a:r>
            <a:r>
              <a:rPr dirty="0"/>
              <a:t> </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rPr dirty="0"/>
              <a:t>Master 1 IA - </a:t>
            </a:r>
            <a:r>
              <a:rPr dirty="0" err="1"/>
              <a:t>ViT</a:t>
            </a:r>
            <a:r>
              <a:rPr dirty="0"/>
              <a:t> vs CNN (CUB-200-2011)                                                                                            17/22</a:t>
            </a:r>
          </a:p>
        </p:txBody>
      </p:sp>
      <p:sp>
        <p:nvSpPr>
          <p:cNvPr id="7" name="Rounded Rectangle 6"/>
          <p:cNvSpPr/>
          <p:nvPr/>
        </p:nvSpPr>
        <p:spPr>
          <a:xfrm>
            <a:off x="124869" y="1403604"/>
            <a:ext cx="481092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ounded Rectangle 7"/>
          <p:cNvSpPr/>
          <p:nvPr/>
        </p:nvSpPr>
        <p:spPr>
          <a:xfrm>
            <a:off x="1051560"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MÉCANISME D'EXTRACTION</a:t>
            </a:r>
          </a:p>
        </p:txBody>
      </p:sp>
      <p:sp>
        <p:nvSpPr>
          <p:cNvPr id="9" name="TextBox 8"/>
          <p:cNvSpPr txBox="1"/>
          <p:nvPr/>
        </p:nvSpPr>
        <p:spPr>
          <a:xfrm>
            <a:off x="353469" y="1837944"/>
            <a:ext cx="4663440" cy="4118372"/>
          </a:xfrm>
          <a:prstGeom prst="rect">
            <a:avLst/>
          </a:prstGeom>
          <a:noFill/>
        </p:spPr>
        <p:txBody>
          <a:bodyPr wrap="square">
            <a:spAutoFit/>
          </a:bodyPr>
          <a:lstStyle/>
          <a:p>
            <a:pPr>
              <a:lnSpc>
                <a:spcPct val="150000"/>
              </a:lnSpc>
            </a:pPr>
            <a:endParaRPr dirty="0"/>
          </a:p>
          <a:p>
            <a:pPr>
              <a:lnSpc>
                <a:spcPct val="150000"/>
              </a:lnSpc>
              <a:spcAft>
                <a:spcPts val="600"/>
              </a:spcAft>
            </a:pPr>
            <a:r>
              <a:rPr sz="1100" b="1" dirty="0">
                <a:solidFill>
                  <a:srgbClr val="0F172A"/>
                </a:solidFill>
              </a:rPr>
              <a:t>• </a:t>
            </a:r>
            <a:r>
              <a:rPr sz="1100" b="1" dirty="0" err="1">
                <a:solidFill>
                  <a:srgbClr val="0F172A"/>
                </a:solidFill>
              </a:rPr>
              <a:t>Problématique</a:t>
            </a:r>
            <a:r>
              <a:rPr sz="1100" b="1" dirty="0">
                <a:solidFill>
                  <a:srgbClr val="0F172A"/>
                </a:solidFill>
              </a:rPr>
              <a:t> </a:t>
            </a:r>
            <a:r>
              <a:rPr sz="1100" b="1" dirty="0" err="1">
                <a:solidFill>
                  <a:srgbClr val="0F172A"/>
                </a:solidFill>
              </a:rPr>
              <a:t>timm</a:t>
            </a:r>
            <a:r>
              <a:rPr sz="1100" b="1" dirty="0">
                <a:solidFill>
                  <a:srgbClr val="0F172A"/>
                </a:solidFill>
              </a:rPr>
              <a:t> :</a:t>
            </a:r>
            <a:r>
              <a:rPr sz="1050" b="0" dirty="0">
                <a:solidFill>
                  <a:srgbClr val="0F172A"/>
                </a:solidFill>
              </a:rPr>
              <a:t>
  </a:t>
            </a:r>
            <a:r>
              <a:rPr sz="1050" b="0" dirty="0" err="1">
                <a:solidFill>
                  <a:srgbClr val="0F172A"/>
                </a:solidFill>
              </a:rPr>
              <a:t>timm</a:t>
            </a:r>
            <a:r>
              <a:rPr sz="1050" b="0" dirty="0">
                <a:solidFill>
                  <a:srgbClr val="0F172A"/>
                </a:solidFill>
              </a:rPr>
              <a:t> active par </a:t>
            </a:r>
            <a:r>
              <a:rPr sz="1050" b="0" dirty="0" err="1">
                <a:solidFill>
                  <a:srgbClr val="0F172A"/>
                </a:solidFill>
              </a:rPr>
              <a:t>défaut</a:t>
            </a:r>
            <a:r>
              <a:rPr sz="1050" b="0" dirty="0">
                <a:solidFill>
                  <a:srgbClr val="0F172A"/>
                </a:solidFill>
              </a:rPr>
              <a:t> </a:t>
            </a:r>
            <a:r>
              <a:rPr sz="1050" b="0" dirty="0" err="1">
                <a:solidFill>
                  <a:srgbClr val="0F172A"/>
                </a:solidFill>
              </a:rPr>
              <a:t>fused_attn</a:t>
            </a:r>
            <a:r>
              <a:rPr sz="1050" b="0" dirty="0">
                <a:solidFill>
                  <a:srgbClr val="0F172A"/>
                </a:solidFill>
              </a:rPr>
              <a:t>=True (</a:t>
            </a:r>
            <a:r>
              <a:rPr sz="1050" b="0" dirty="0" err="1">
                <a:solidFill>
                  <a:srgbClr val="0F172A"/>
                </a:solidFill>
              </a:rPr>
              <a:t>scaled_dot_product_attention</a:t>
            </a:r>
            <a:r>
              <a:rPr sz="1050" b="0" dirty="0">
                <a:solidFill>
                  <a:srgbClr val="0F172A"/>
                </a:solidFill>
              </a:rPr>
              <a:t>), </a:t>
            </a:r>
            <a:r>
              <a:rPr sz="1050" b="0" dirty="0" err="1">
                <a:solidFill>
                  <a:srgbClr val="0F172A"/>
                </a:solidFill>
              </a:rPr>
              <a:t>ce</a:t>
            </a:r>
            <a:r>
              <a:rPr sz="1050" b="0" dirty="0">
                <a:solidFill>
                  <a:srgbClr val="0F172A"/>
                </a:solidFill>
              </a:rPr>
              <a:t> qui </a:t>
            </a:r>
            <a:r>
              <a:rPr sz="1050" b="0" dirty="0" err="1">
                <a:solidFill>
                  <a:srgbClr val="0F172A"/>
                </a:solidFill>
              </a:rPr>
              <a:t>désactive</a:t>
            </a:r>
            <a:r>
              <a:rPr sz="1050" b="0" dirty="0">
                <a:solidFill>
                  <a:srgbClr val="0F172A"/>
                </a:solidFill>
              </a:rPr>
              <a:t> le </a:t>
            </a:r>
            <a:r>
              <a:rPr sz="1050" b="0" dirty="0" err="1">
                <a:solidFill>
                  <a:srgbClr val="0F172A"/>
                </a:solidFill>
              </a:rPr>
              <a:t>calcul</a:t>
            </a:r>
            <a:r>
              <a:rPr sz="1050" b="0" dirty="0">
                <a:solidFill>
                  <a:srgbClr val="0F172A"/>
                </a:solidFill>
              </a:rPr>
              <a:t> </a:t>
            </a:r>
            <a:r>
              <a:rPr sz="1050" b="0" dirty="0" err="1">
                <a:solidFill>
                  <a:srgbClr val="0F172A"/>
                </a:solidFill>
              </a:rPr>
              <a:t>explicite</a:t>
            </a:r>
            <a:r>
              <a:rPr sz="1050" b="0" dirty="0">
                <a:solidFill>
                  <a:srgbClr val="0F172A"/>
                </a:solidFill>
              </a:rPr>
              <a:t> des </a:t>
            </a:r>
            <a:r>
              <a:rPr sz="1050" b="0" dirty="0" err="1">
                <a:solidFill>
                  <a:srgbClr val="0F172A"/>
                </a:solidFill>
              </a:rPr>
              <a:t>poids</a:t>
            </a:r>
            <a:r>
              <a:rPr sz="1050" b="0" dirty="0">
                <a:solidFill>
                  <a:srgbClr val="0F172A"/>
                </a:solidFill>
              </a:rPr>
              <a:t> </a:t>
            </a:r>
            <a:r>
              <a:rPr sz="1050" b="0" dirty="0" err="1">
                <a:solidFill>
                  <a:srgbClr val="0F172A"/>
                </a:solidFill>
              </a:rPr>
              <a:t>d'attention</a:t>
            </a:r>
            <a:r>
              <a:rPr sz="1050" b="0" dirty="0">
                <a:solidFill>
                  <a:srgbClr val="0F172A"/>
                </a:solidFill>
              </a:rPr>
              <a:t>.</a:t>
            </a:r>
          </a:p>
          <a:p>
            <a:pPr>
              <a:lnSpc>
                <a:spcPct val="150000"/>
              </a:lnSpc>
              <a:spcAft>
                <a:spcPts val="600"/>
              </a:spcAft>
            </a:pPr>
            <a:r>
              <a:rPr sz="1100" b="1" dirty="0">
                <a:solidFill>
                  <a:srgbClr val="0F172A"/>
                </a:solidFill>
              </a:rPr>
              <a:t>• Solution technique (Hook </a:t>
            </a:r>
            <a:r>
              <a:rPr sz="1100" b="1" dirty="0" err="1">
                <a:solidFill>
                  <a:srgbClr val="0F172A"/>
                </a:solidFill>
              </a:rPr>
              <a:t>PyTorch</a:t>
            </a:r>
            <a:r>
              <a:rPr sz="1100" b="1" dirty="0">
                <a:solidFill>
                  <a:srgbClr val="0F172A"/>
                </a:solidFill>
              </a:rPr>
              <a:t>) :</a:t>
            </a:r>
            <a:r>
              <a:rPr sz="1050" b="0" dirty="0">
                <a:solidFill>
                  <a:srgbClr val="0F172A"/>
                </a:solidFill>
              </a:rPr>
              <a:t>
  1. Forcer </a:t>
            </a:r>
            <a:r>
              <a:rPr sz="1050" b="0" dirty="0" err="1">
                <a:solidFill>
                  <a:srgbClr val="0F172A"/>
                </a:solidFill>
              </a:rPr>
              <a:t>fused_attn</a:t>
            </a:r>
            <a:r>
              <a:rPr sz="1050" b="0" dirty="0">
                <a:solidFill>
                  <a:srgbClr val="0F172A"/>
                </a:solidFill>
              </a:rPr>
              <a:t>=False sur le dernier bloc.
  2. </a:t>
            </a:r>
            <a:r>
              <a:rPr sz="1050" b="0" dirty="0" err="1">
                <a:solidFill>
                  <a:srgbClr val="0F172A"/>
                </a:solidFill>
              </a:rPr>
              <a:t>Intercepter</a:t>
            </a:r>
            <a:r>
              <a:rPr sz="1050" b="0" dirty="0">
                <a:solidFill>
                  <a:srgbClr val="0F172A"/>
                </a:solidFill>
              </a:rPr>
              <a:t> </a:t>
            </a:r>
            <a:r>
              <a:rPr sz="1050" b="0" dirty="0" err="1">
                <a:solidFill>
                  <a:srgbClr val="0F172A"/>
                </a:solidFill>
              </a:rPr>
              <a:t>l'entrée</a:t>
            </a:r>
            <a:r>
              <a:rPr sz="1050" b="0" dirty="0">
                <a:solidFill>
                  <a:srgbClr val="0F172A"/>
                </a:solidFill>
              </a:rPr>
              <a:t> de </a:t>
            </a:r>
            <a:r>
              <a:rPr sz="1050" b="0" dirty="0" err="1">
                <a:solidFill>
                  <a:srgbClr val="0F172A"/>
                </a:solidFill>
              </a:rPr>
              <a:t>attn_drop</a:t>
            </a:r>
            <a:r>
              <a:rPr sz="1050" b="0" dirty="0">
                <a:solidFill>
                  <a:srgbClr val="0F172A"/>
                </a:solidFill>
              </a:rPr>
              <a:t> via </a:t>
            </a:r>
            <a:r>
              <a:rPr sz="1050" b="0" dirty="0" err="1">
                <a:solidFill>
                  <a:srgbClr val="0F172A"/>
                </a:solidFill>
              </a:rPr>
              <a:t>register_forward_hook</a:t>
            </a:r>
            <a:r>
              <a:rPr sz="1050" b="0" dirty="0">
                <a:solidFill>
                  <a:srgbClr val="0F172A"/>
                </a:solidFill>
              </a:rPr>
              <a:t>().
  3. </a:t>
            </a:r>
            <a:r>
              <a:rPr sz="1050" b="0" dirty="0" err="1">
                <a:solidFill>
                  <a:srgbClr val="0F172A"/>
                </a:solidFill>
              </a:rPr>
              <a:t>Moyennage</a:t>
            </a:r>
            <a:r>
              <a:rPr sz="1050" b="0" dirty="0">
                <a:solidFill>
                  <a:srgbClr val="0F172A"/>
                </a:solidFill>
              </a:rPr>
              <a:t> sur les </a:t>
            </a:r>
            <a:r>
              <a:rPr sz="1050" b="0" dirty="0" err="1">
                <a:solidFill>
                  <a:srgbClr val="0F172A"/>
                </a:solidFill>
              </a:rPr>
              <a:t>têtes</a:t>
            </a:r>
            <a:r>
              <a:rPr sz="1050" b="0" dirty="0">
                <a:solidFill>
                  <a:srgbClr val="0F172A"/>
                </a:solidFill>
              </a:rPr>
              <a:t> </a:t>
            </a:r>
            <a:r>
              <a:rPr sz="1050" b="0" dirty="0" err="1">
                <a:solidFill>
                  <a:srgbClr val="0F172A"/>
                </a:solidFill>
              </a:rPr>
              <a:t>d'attention</a:t>
            </a:r>
            <a:r>
              <a:rPr sz="1050" b="0" dirty="0">
                <a:solidFill>
                  <a:srgbClr val="0F172A"/>
                </a:solidFill>
              </a:rPr>
              <a:t> (</a:t>
            </a:r>
            <a:r>
              <a:rPr sz="1050" b="0" dirty="0" err="1">
                <a:solidFill>
                  <a:srgbClr val="0F172A"/>
                </a:solidFill>
              </a:rPr>
              <a:t>forme</a:t>
            </a:r>
            <a:r>
              <a:rPr sz="1050" b="0" dirty="0">
                <a:solidFill>
                  <a:srgbClr val="0F172A"/>
                </a:solidFill>
              </a:rPr>
              <a:t> [B, N, N]).
  4. Extraction de la </a:t>
            </a:r>
            <a:r>
              <a:rPr sz="1050" b="0" dirty="0" err="1">
                <a:solidFill>
                  <a:srgbClr val="0F172A"/>
                </a:solidFill>
              </a:rPr>
              <a:t>ligne</a:t>
            </a:r>
            <a:r>
              <a:rPr sz="1050" b="0" dirty="0">
                <a:solidFill>
                  <a:srgbClr val="0F172A"/>
                </a:solidFill>
              </a:rPr>
              <a:t> du token [CLS] vers les </a:t>
            </a:r>
            <a:r>
              <a:rPr sz="1050" b="0" dirty="0" err="1">
                <a:solidFill>
                  <a:srgbClr val="0F172A"/>
                </a:solidFill>
              </a:rPr>
              <a:t>patchs</a:t>
            </a:r>
            <a:r>
              <a:rPr sz="1050" b="0" dirty="0">
                <a:solidFill>
                  <a:srgbClr val="0F172A"/>
                </a:solidFill>
              </a:rPr>
              <a:t>.
  5. Reshape </a:t>
            </a:r>
            <a:r>
              <a:rPr sz="1050" b="0" dirty="0" err="1">
                <a:solidFill>
                  <a:srgbClr val="0F172A"/>
                </a:solidFill>
              </a:rPr>
              <a:t>en</a:t>
            </a:r>
            <a:r>
              <a:rPr sz="1050" b="0" dirty="0">
                <a:solidFill>
                  <a:srgbClr val="0F172A"/>
                </a:solidFill>
              </a:rPr>
              <a:t> grille 2D carrée (ex. 7×7 pour patch 32).</a:t>
            </a:r>
          </a:p>
          <a:p>
            <a:pPr>
              <a:lnSpc>
                <a:spcPct val="150000"/>
              </a:lnSpc>
              <a:spcAft>
                <a:spcPts val="600"/>
              </a:spcAft>
            </a:pPr>
            <a:r>
              <a:rPr sz="1100" b="1" dirty="0">
                <a:solidFill>
                  <a:srgbClr val="0F172A"/>
                </a:solidFill>
              </a:rPr>
              <a:t>• </a:t>
            </a:r>
            <a:r>
              <a:rPr sz="1100" b="1" dirty="0" err="1">
                <a:solidFill>
                  <a:srgbClr val="0F172A"/>
                </a:solidFill>
              </a:rPr>
              <a:t>Rendu</a:t>
            </a:r>
            <a:r>
              <a:rPr sz="1100" b="1" dirty="0">
                <a:solidFill>
                  <a:srgbClr val="0F172A"/>
                </a:solidFill>
              </a:rPr>
              <a:t> Heatmap :</a:t>
            </a:r>
            <a:r>
              <a:rPr sz="1050" b="0" dirty="0">
                <a:solidFill>
                  <a:srgbClr val="0F172A"/>
                </a:solidFill>
              </a:rPr>
              <a:t>
  </a:t>
            </a:r>
            <a:r>
              <a:rPr sz="1050" b="0" dirty="0" err="1">
                <a:solidFill>
                  <a:srgbClr val="0F172A"/>
                </a:solidFill>
              </a:rPr>
              <a:t>Normalisation</a:t>
            </a:r>
            <a:r>
              <a:rPr sz="1050" b="0" dirty="0">
                <a:solidFill>
                  <a:srgbClr val="0F172A"/>
                </a:solidFill>
              </a:rPr>
              <a:t> min-max, interpolation </a:t>
            </a:r>
            <a:r>
              <a:rPr sz="1050" b="0" dirty="0" err="1">
                <a:solidFill>
                  <a:srgbClr val="0F172A"/>
                </a:solidFill>
              </a:rPr>
              <a:t>bilinéaire</a:t>
            </a:r>
            <a:r>
              <a:rPr sz="1050" b="0" dirty="0">
                <a:solidFill>
                  <a:srgbClr val="0F172A"/>
                </a:solidFill>
              </a:rPr>
              <a:t> et superposition RGBA à 50% </a:t>
            </a:r>
            <a:r>
              <a:rPr sz="1050" b="0" dirty="0" err="1">
                <a:solidFill>
                  <a:srgbClr val="0F172A"/>
                </a:solidFill>
              </a:rPr>
              <a:t>d'opacité</a:t>
            </a:r>
            <a:r>
              <a:rPr sz="1050" b="0" dirty="0">
                <a:solidFill>
                  <a:srgbClr val="0F172A"/>
                </a:solidFill>
              </a:rPr>
              <a:t>.</a:t>
            </a:r>
          </a:p>
        </p:txBody>
      </p:sp>
      <p:pic>
        <p:nvPicPr>
          <p:cNvPr id="10" name="Picture 9" descr="app_nominal.png"/>
          <p:cNvPicPr>
            <a:picLocks noChangeAspect="1"/>
          </p:cNvPicPr>
          <p:nvPr/>
        </p:nvPicPr>
        <p:blipFill>
          <a:blip r:embed="rId3"/>
          <a:stretch>
            <a:fillRect/>
          </a:stretch>
        </p:blipFill>
        <p:spPr>
          <a:xfrm>
            <a:off x="5633885" y="962439"/>
            <a:ext cx="5704675" cy="4889721"/>
          </a:xfrm>
          <a:prstGeom prst="rect">
            <a:avLst/>
          </a:prstGeom>
        </p:spPr>
      </p:pic>
      <p:sp>
        <p:nvSpPr>
          <p:cNvPr id="11" name="TextBox 10"/>
          <p:cNvSpPr txBox="1"/>
          <p:nvPr/>
        </p:nvSpPr>
        <p:spPr>
          <a:xfrm>
            <a:off x="6842453" y="5897880"/>
            <a:ext cx="3871573" cy="288925"/>
          </a:xfrm>
          <a:prstGeom prst="rect">
            <a:avLst/>
          </a:prstGeom>
          <a:noFill/>
        </p:spPr>
        <p:txBody>
          <a:bodyPr wrap="none">
            <a:spAutoFit/>
          </a:bodyPr>
          <a:lstStyle/>
          <a:p>
            <a:pPr algn="ctr">
              <a:lnSpc>
                <a:spcPct val="150000"/>
              </a:lnSpc>
              <a:defRPr sz="950" i="1">
                <a:solidFill>
                  <a:srgbClr val="64748B"/>
                </a:solidFill>
              </a:defRPr>
            </a:pPr>
            <a:r>
              <a:t>Cas Nominal : Attention focalisée sur les zones anatomiques discriminantes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rPr dirty="0"/>
              <a:t>16. </a:t>
            </a:r>
            <a:r>
              <a:rPr dirty="0" err="1"/>
              <a:t>Robustesse</a:t>
            </a:r>
            <a:r>
              <a:rPr dirty="0"/>
              <a:t> &amp; </a:t>
            </a:r>
            <a:r>
              <a:rPr dirty="0" err="1"/>
              <a:t>Détection</a:t>
            </a:r>
            <a:r>
              <a:rPr dirty="0"/>
              <a:t> Hors-Distribution (OOD)</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6446520"/>
            <a:ext cx="10728655" cy="274320"/>
          </a:xfrm>
          <a:prstGeom prst="rect">
            <a:avLst/>
          </a:prstGeom>
          <a:noFill/>
        </p:spPr>
        <p:txBody>
          <a:bodyPr wrap="none" lIns="0" tIns="0" rIns="0" bIns="0">
            <a:spAutoFit/>
          </a:bodyPr>
          <a:lstStyle/>
          <a:p>
            <a:pPr>
              <a:defRPr sz="950">
                <a:solidFill>
                  <a:srgbClr val="64748B"/>
                </a:solidFill>
                <a:latin typeface="Arial"/>
              </a:defRPr>
            </a:pPr>
            <a:r>
              <a:t>Master 1 IA - ViT vs CNN (CUB-200-2011)                                                                                            18/22</a:t>
            </a:r>
          </a:p>
        </p:txBody>
      </p:sp>
      <p:sp>
        <p:nvSpPr>
          <p:cNvPr id="7" name="Rounded Rectangle 6"/>
          <p:cNvSpPr/>
          <p:nvPr/>
        </p:nvSpPr>
        <p:spPr>
          <a:xfrm>
            <a:off x="124869" y="1403604"/>
            <a:ext cx="46634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12232" y="1645920"/>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defRPr sz="950" b="1">
                <a:solidFill>
                  <a:srgbClr val="FFFFFF"/>
                </a:solidFill>
                <a:latin typeface="Arial"/>
              </a:defRPr>
            </a:pPr>
            <a:r>
              <a:t>COMPORTEMENT EN PRODUCTION</a:t>
            </a:r>
          </a:p>
        </p:txBody>
      </p:sp>
      <p:sp>
        <p:nvSpPr>
          <p:cNvPr id="9" name="TextBox 8"/>
          <p:cNvSpPr txBox="1"/>
          <p:nvPr/>
        </p:nvSpPr>
        <p:spPr>
          <a:xfrm>
            <a:off x="353469" y="2092305"/>
            <a:ext cx="4663440" cy="2975815"/>
          </a:xfrm>
          <a:prstGeom prst="rect">
            <a:avLst/>
          </a:prstGeom>
          <a:noFill/>
        </p:spPr>
        <p:txBody>
          <a:bodyPr wrap="square">
            <a:spAutoFit/>
          </a:bodyPr>
          <a:lstStyle/>
          <a:p>
            <a:pPr>
              <a:lnSpc>
                <a:spcPct val="135000"/>
              </a:lnSpc>
              <a:spcAft>
                <a:spcPts val="1000"/>
              </a:spcAft>
            </a:pPr>
            <a:r>
              <a:rPr sz="1150" b="1" dirty="0">
                <a:solidFill>
                  <a:srgbClr val="0F172A"/>
                </a:solidFill>
              </a:rPr>
              <a:t>Cas Nominal (Image de Test CUB) :</a:t>
            </a:r>
            <a:r>
              <a:rPr sz="1050" b="0" dirty="0">
                <a:solidFill>
                  <a:srgbClr val="0F172A"/>
                </a:solidFill>
              </a:rPr>
              <a:t>
• </a:t>
            </a:r>
            <a:r>
              <a:rPr sz="1050" b="0" dirty="0" err="1">
                <a:solidFill>
                  <a:srgbClr val="0F172A"/>
                </a:solidFill>
              </a:rPr>
              <a:t>Espèce</a:t>
            </a:r>
            <a:r>
              <a:rPr sz="1050" b="0" dirty="0">
                <a:solidFill>
                  <a:srgbClr val="0F172A"/>
                </a:solidFill>
              </a:rPr>
              <a:t> : Gray-crowned Rosy Finch
• </a:t>
            </a:r>
            <a:r>
              <a:rPr sz="1050" b="0" dirty="0" err="1">
                <a:solidFill>
                  <a:srgbClr val="0F172A"/>
                </a:solidFill>
              </a:rPr>
              <a:t>Résultat</a:t>
            </a:r>
            <a:r>
              <a:rPr sz="1050" b="0" dirty="0">
                <a:solidFill>
                  <a:srgbClr val="0F172A"/>
                </a:solidFill>
              </a:rPr>
              <a:t> : Accord total entre </a:t>
            </a:r>
            <a:r>
              <a:rPr sz="1050" b="0" dirty="0" err="1">
                <a:solidFill>
                  <a:srgbClr val="0F172A"/>
                </a:solidFill>
              </a:rPr>
              <a:t>ViT</a:t>
            </a:r>
            <a:r>
              <a:rPr sz="1050" b="0" dirty="0">
                <a:solidFill>
                  <a:srgbClr val="0F172A"/>
                </a:solidFill>
              </a:rPr>
              <a:t> et ResNet-50
• </a:t>
            </a:r>
            <a:r>
              <a:rPr sz="1050" b="0" dirty="0" err="1">
                <a:solidFill>
                  <a:srgbClr val="0F172A"/>
                </a:solidFill>
              </a:rPr>
              <a:t>Confiances</a:t>
            </a:r>
            <a:r>
              <a:rPr sz="1050" b="0" dirty="0">
                <a:solidFill>
                  <a:srgbClr val="0F172A"/>
                </a:solidFill>
              </a:rPr>
              <a:t> : </a:t>
            </a:r>
            <a:r>
              <a:rPr sz="1050" b="0" dirty="0" err="1">
                <a:solidFill>
                  <a:srgbClr val="0F172A"/>
                </a:solidFill>
              </a:rPr>
              <a:t>ResNet</a:t>
            </a:r>
            <a:r>
              <a:rPr sz="1050" b="0" dirty="0">
                <a:solidFill>
                  <a:srgbClr val="0F172A"/>
                </a:solidFill>
              </a:rPr>
              <a:t> (83.4%), </a:t>
            </a:r>
            <a:r>
              <a:rPr sz="1050" b="0" dirty="0" err="1">
                <a:solidFill>
                  <a:srgbClr val="0F172A"/>
                </a:solidFill>
              </a:rPr>
              <a:t>ViT</a:t>
            </a:r>
            <a:r>
              <a:rPr sz="1050" b="0" dirty="0">
                <a:solidFill>
                  <a:srgbClr val="0F172A"/>
                </a:solidFill>
              </a:rPr>
              <a:t> (26.5%)</a:t>
            </a:r>
          </a:p>
          <a:p>
            <a:pPr>
              <a:lnSpc>
                <a:spcPct val="135000"/>
              </a:lnSpc>
              <a:spcAft>
                <a:spcPts val="1000"/>
              </a:spcAft>
            </a:pPr>
            <a:r>
              <a:rPr sz="1150" b="1" dirty="0">
                <a:solidFill>
                  <a:srgbClr val="0F172A"/>
                </a:solidFill>
              </a:rPr>
              <a:t>Cas Hors-Distribution (OOD) :</a:t>
            </a:r>
            <a:r>
              <a:rPr sz="1050" b="0" dirty="0">
                <a:solidFill>
                  <a:srgbClr val="0F172A"/>
                </a:solidFill>
              </a:rPr>
              <a:t>
• </a:t>
            </a:r>
            <a:r>
              <a:rPr sz="1050" b="0" dirty="0" err="1">
                <a:solidFill>
                  <a:srgbClr val="0F172A"/>
                </a:solidFill>
              </a:rPr>
              <a:t>Espèce</a:t>
            </a:r>
            <a:r>
              <a:rPr sz="1050" b="0" dirty="0">
                <a:solidFill>
                  <a:srgbClr val="0F172A"/>
                </a:solidFill>
              </a:rPr>
              <a:t> </a:t>
            </a:r>
            <a:r>
              <a:rPr sz="1050" b="0" dirty="0" err="1">
                <a:solidFill>
                  <a:srgbClr val="0F172A"/>
                </a:solidFill>
              </a:rPr>
              <a:t>testée</a:t>
            </a:r>
            <a:r>
              <a:rPr sz="1050" b="0" dirty="0">
                <a:solidFill>
                  <a:srgbClr val="0F172A"/>
                </a:solidFill>
              </a:rPr>
              <a:t> : Rouge-gorge </a:t>
            </a:r>
            <a:r>
              <a:rPr sz="1050" b="0" dirty="0" err="1">
                <a:solidFill>
                  <a:srgbClr val="0F172A"/>
                </a:solidFill>
              </a:rPr>
              <a:t>européen</a:t>
            </a:r>
            <a:r>
              <a:rPr sz="1050" b="0" dirty="0">
                <a:solidFill>
                  <a:srgbClr val="0F172A"/>
                </a:solidFill>
              </a:rPr>
              <a:t> (absent de CUB-200)
• </a:t>
            </a:r>
            <a:r>
              <a:rPr sz="1050" b="0" dirty="0" err="1">
                <a:solidFill>
                  <a:srgbClr val="0F172A"/>
                </a:solidFill>
              </a:rPr>
              <a:t>Résultat</a:t>
            </a:r>
            <a:r>
              <a:rPr sz="1050" b="0" dirty="0">
                <a:solidFill>
                  <a:srgbClr val="0F172A"/>
                </a:solidFill>
              </a:rPr>
              <a:t> : </a:t>
            </a:r>
            <a:r>
              <a:rPr sz="1050" b="0" dirty="0" err="1">
                <a:solidFill>
                  <a:srgbClr val="0F172A"/>
                </a:solidFill>
              </a:rPr>
              <a:t>Baisse</a:t>
            </a:r>
            <a:r>
              <a:rPr sz="1050" b="0" dirty="0">
                <a:solidFill>
                  <a:srgbClr val="0F172A"/>
                </a:solidFill>
              </a:rPr>
              <a:t> </a:t>
            </a:r>
            <a:r>
              <a:rPr sz="1050" b="0" dirty="0" err="1">
                <a:solidFill>
                  <a:srgbClr val="0F172A"/>
                </a:solidFill>
              </a:rPr>
              <a:t>drastique</a:t>
            </a:r>
            <a:r>
              <a:rPr sz="1050" b="0" dirty="0">
                <a:solidFill>
                  <a:srgbClr val="0F172A"/>
                </a:solidFill>
              </a:rPr>
              <a:t> de la </a:t>
            </a:r>
            <a:r>
              <a:rPr sz="1050" b="0" dirty="0" err="1">
                <a:solidFill>
                  <a:srgbClr val="0F172A"/>
                </a:solidFill>
              </a:rPr>
              <a:t>confiance</a:t>
            </a:r>
            <a:r>
              <a:rPr sz="1050" b="0" dirty="0">
                <a:solidFill>
                  <a:srgbClr val="0F172A"/>
                </a:solidFill>
              </a:rPr>
              <a:t> et </a:t>
            </a:r>
            <a:r>
              <a:rPr sz="1050" b="0" dirty="0" err="1">
                <a:solidFill>
                  <a:srgbClr val="0F172A"/>
                </a:solidFill>
              </a:rPr>
              <a:t>désaccord</a:t>
            </a:r>
            <a:r>
              <a:rPr sz="1050" b="0" dirty="0">
                <a:solidFill>
                  <a:srgbClr val="0F172A"/>
                </a:solidFill>
              </a:rPr>
              <a:t> entre les </a:t>
            </a:r>
            <a:r>
              <a:rPr sz="1050" b="0" dirty="0" err="1">
                <a:solidFill>
                  <a:srgbClr val="0F172A"/>
                </a:solidFill>
              </a:rPr>
              <a:t>modèles</a:t>
            </a:r>
            <a:r>
              <a:rPr sz="1050" b="0" dirty="0">
                <a:solidFill>
                  <a:srgbClr val="0F172A"/>
                </a:solidFill>
              </a:rPr>
              <a:t>.
• </a:t>
            </a:r>
            <a:r>
              <a:rPr sz="1050" b="0" dirty="0" err="1">
                <a:solidFill>
                  <a:srgbClr val="0F172A"/>
                </a:solidFill>
              </a:rPr>
              <a:t>Bénéfice</a:t>
            </a:r>
            <a:r>
              <a:rPr sz="1050" b="0" dirty="0">
                <a:solidFill>
                  <a:srgbClr val="0F172A"/>
                </a:solidFill>
              </a:rPr>
              <a:t> : Signal </a:t>
            </a:r>
            <a:r>
              <a:rPr sz="1050" b="0" dirty="0" err="1">
                <a:solidFill>
                  <a:srgbClr val="0F172A"/>
                </a:solidFill>
              </a:rPr>
              <a:t>d'incertitude</a:t>
            </a:r>
            <a:r>
              <a:rPr sz="1050" b="0" dirty="0">
                <a:solidFill>
                  <a:srgbClr val="0F172A"/>
                </a:solidFill>
              </a:rPr>
              <a:t> </a:t>
            </a:r>
            <a:r>
              <a:rPr sz="1050" b="0" dirty="0" err="1">
                <a:solidFill>
                  <a:srgbClr val="0F172A"/>
                </a:solidFill>
              </a:rPr>
              <a:t>explicite</a:t>
            </a:r>
            <a:r>
              <a:rPr sz="1050" b="0" dirty="0">
                <a:solidFill>
                  <a:srgbClr val="0F172A"/>
                </a:solidFill>
              </a:rPr>
              <a:t> </a:t>
            </a:r>
            <a:r>
              <a:rPr sz="1050" b="0" dirty="0" err="1">
                <a:solidFill>
                  <a:srgbClr val="0F172A"/>
                </a:solidFill>
              </a:rPr>
              <a:t>évitant</a:t>
            </a:r>
            <a:r>
              <a:rPr sz="1050" b="0" dirty="0">
                <a:solidFill>
                  <a:srgbClr val="0F172A"/>
                </a:solidFill>
              </a:rPr>
              <a:t> </a:t>
            </a:r>
            <a:r>
              <a:rPr sz="1050" b="0" dirty="0" err="1">
                <a:solidFill>
                  <a:srgbClr val="0F172A"/>
                </a:solidFill>
              </a:rPr>
              <a:t>une</a:t>
            </a:r>
            <a:r>
              <a:rPr sz="1050" b="0" dirty="0">
                <a:solidFill>
                  <a:srgbClr val="0F172A"/>
                </a:solidFill>
              </a:rPr>
              <a:t> </a:t>
            </a:r>
            <a:r>
              <a:rPr sz="1050" b="0" dirty="0" err="1">
                <a:solidFill>
                  <a:srgbClr val="0F172A"/>
                </a:solidFill>
              </a:rPr>
              <a:t>erreur</a:t>
            </a:r>
            <a:r>
              <a:rPr sz="1050" b="0" dirty="0">
                <a:solidFill>
                  <a:srgbClr val="0F172A"/>
                </a:solidFill>
              </a:rPr>
              <a:t> </a:t>
            </a:r>
            <a:r>
              <a:rPr sz="1050" b="0" dirty="0" err="1">
                <a:solidFill>
                  <a:srgbClr val="0F172A"/>
                </a:solidFill>
              </a:rPr>
              <a:t>silencieuse</a:t>
            </a:r>
            <a:r>
              <a:rPr sz="1050" b="0" dirty="0">
                <a:solidFill>
                  <a:srgbClr val="0F172A"/>
                </a:solidFill>
              </a:rPr>
              <a:t> à forte </a:t>
            </a:r>
            <a:r>
              <a:rPr sz="1050" b="0" dirty="0" err="1">
                <a:solidFill>
                  <a:srgbClr val="0F172A"/>
                </a:solidFill>
              </a:rPr>
              <a:t>confiance</a:t>
            </a:r>
            <a:r>
              <a:rPr sz="1050" b="0" dirty="0">
                <a:solidFill>
                  <a:srgbClr val="0F172A"/>
                </a:solidFill>
              </a:rPr>
              <a:t>.</a:t>
            </a:r>
          </a:p>
        </p:txBody>
      </p:sp>
      <p:pic>
        <p:nvPicPr>
          <p:cNvPr id="10" name="Picture 9" descr="app_ood.png"/>
          <p:cNvPicPr>
            <a:picLocks noChangeAspect="1"/>
          </p:cNvPicPr>
          <p:nvPr/>
        </p:nvPicPr>
        <p:blipFill>
          <a:blip r:embed="rId3"/>
          <a:stretch>
            <a:fillRect/>
          </a:stretch>
        </p:blipFill>
        <p:spPr>
          <a:xfrm>
            <a:off x="5016909" y="1069848"/>
            <a:ext cx="6321651" cy="4782312"/>
          </a:xfrm>
          <a:prstGeom prst="rect">
            <a:avLst/>
          </a:prstGeom>
        </p:spPr>
      </p:pic>
      <p:sp>
        <p:nvSpPr>
          <p:cNvPr id="11" name="TextBox 10"/>
          <p:cNvSpPr txBox="1"/>
          <p:nvPr/>
        </p:nvSpPr>
        <p:spPr>
          <a:xfrm>
            <a:off x="6217920" y="5897880"/>
            <a:ext cx="5120640" cy="274320"/>
          </a:xfrm>
          <a:prstGeom prst="rect">
            <a:avLst/>
          </a:prstGeom>
          <a:noFill/>
        </p:spPr>
        <p:txBody>
          <a:bodyPr wrap="none">
            <a:spAutoFit/>
          </a:bodyPr>
          <a:lstStyle/>
          <a:p>
            <a:pPr algn="ctr">
              <a:defRPr sz="950" i="1">
                <a:solidFill>
                  <a:srgbClr val="64748B"/>
                </a:solidFill>
              </a:defRPr>
            </a:pPr>
            <a:r>
              <a:t>Cas Hors-Distribution : Baisse de confiance et désaccord sain entre modèles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t>17. Déploiement &amp; Dockerisation Reproductible</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19/22</a:t>
            </a:r>
          </a:p>
        </p:txBody>
      </p:sp>
      <p:sp>
        <p:nvSpPr>
          <p:cNvPr id="7" name="Rounded Rectangle 6"/>
          <p:cNvSpPr/>
          <p:nvPr/>
        </p:nvSpPr>
        <p:spPr>
          <a:xfrm>
            <a:off x="822960" y="141732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ectangle 7"/>
          <p:cNvSpPr/>
          <p:nvPr/>
        </p:nvSpPr>
        <p:spPr>
          <a:xfrm>
            <a:off x="822960" y="1417320"/>
            <a:ext cx="5120640"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9" name="TextBox 8"/>
          <p:cNvSpPr txBox="1"/>
          <p:nvPr/>
        </p:nvSpPr>
        <p:spPr>
          <a:xfrm>
            <a:off x="960120" y="1490472"/>
            <a:ext cx="2101857" cy="330347"/>
          </a:xfrm>
          <a:prstGeom prst="rect">
            <a:avLst/>
          </a:prstGeom>
          <a:noFill/>
        </p:spPr>
        <p:txBody>
          <a:bodyPr wrap="none">
            <a:spAutoFit/>
          </a:bodyPr>
          <a:lstStyle/>
          <a:p>
            <a:pPr>
              <a:lnSpc>
                <a:spcPct val="150000"/>
              </a:lnSpc>
              <a:defRPr sz="1150" b="1">
                <a:solidFill>
                  <a:srgbClr val="FFFFFF"/>
                </a:solidFill>
              </a:defRPr>
            </a:pPr>
            <a:r>
              <a:t>Backend FastAPI (PyTorch CPU)</a:t>
            </a:r>
          </a:p>
        </p:txBody>
      </p:sp>
      <p:sp>
        <p:nvSpPr>
          <p:cNvPr id="10" name="TextBox 9"/>
          <p:cNvSpPr txBox="1"/>
          <p:nvPr/>
        </p:nvSpPr>
        <p:spPr>
          <a:xfrm>
            <a:off x="1005840" y="192024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Image python:3.11-slim </a:t>
            </a:r>
            <a:r>
              <a:rPr dirty="0" err="1"/>
              <a:t>optimisée</a:t>
            </a:r>
            <a:endParaRPr dirty="0"/>
          </a:p>
          <a:p>
            <a:pPr>
              <a:lnSpc>
                <a:spcPct val="150000"/>
              </a:lnSpc>
              <a:spcAft>
                <a:spcPts val="200"/>
              </a:spcAft>
              <a:defRPr sz="1050">
                <a:solidFill>
                  <a:srgbClr val="0F172A"/>
                </a:solidFill>
              </a:defRPr>
            </a:pPr>
            <a:r>
              <a:rPr dirty="0"/>
              <a:t>• </a:t>
            </a:r>
            <a:r>
              <a:rPr dirty="0" err="1"/>
              <a:t>PyTorch</a:t>
            </a:r>
            <a:r>
              <a:rPr dirty="0"/>
              <a:t> CPU via --extra-index-</a:t>
            </a:r>
            <a:r>
              <a:rPr dirty="0" err="1"/>
              <a:t>url</a:t>
            </a:r>
            <a:r>
              <a:rPr dirty="0"/>
              <a:t> (</a:t>
            </a:r>
            <a:r>
              <a:rPr dirty="0" err="1"/>
              <a:t>léger</a:t>
            </a:r>
            <a:r>
              <a:rPr dirty="0"/>
              <a:t>)</a:t>
            </a:r>
          </a:p>
          <a:p>
            <a:pPr>
              <a:lnSpc>
                <a:spcPct val="150000"/>
              </a:lnSpc>
              <a:spcAft>
                <a:spcPts val="200"/>
              </a:spcAft>
              <a:defRPr sz="1050">
                <a:solidFill>
                  <a:srgbClr val="0F172A"/>
                </a:solidFill>
              </a:defRPr>
            </a:pPr>
            <a:r>
              <a:rPr dirty="0"/>
              <a:t>• </a:t>
            </a:r>
            <a:r>
              <a:rPr dirty="0" err="1"/>
              <a:t>Utilisateur</a:t>
            </a:r>
            <a:r>
              <a:rPr dirty="0"/>
              <a:t> non-root </a:t>
            </a:r>
            <a:r>
              <a:rPr dirty="0" err="1"/>
              <a:t>sécurisé</a:t>
            </a:r>
            <a:endParaRPr dirty="0"/>
          </a:p>
          <a:p>
            <a:pPr>
              <a:lnSpc>
                <a:spcPct val="150000"/>
              </a:lnSpc>
              <a:spcAft>
                <a:spcPts val="200"/>
              </a:spcAft>
              <a:defRPr sz="1050">
                <a:solidFill>
                  <a:srgbClr val="0F172A"/>
                </a:solidFill>
              </a:defRPr>
            </a:pPr>
            <a:r>
              <a:rPr dirty="0"/>
              <a:t>• </a:t>
            </a:r>
            <a:r>
              <a:rPr dirty="0" err="1"/>
              <a:t>Healthcheck</a:t>
            </a:r>
            <a:r>
              <a:rPr dirty="0"/>
              <a:t> HTTP sur /health</a:t>
            </a:r>
          </a:p>
        </p:txBody>
      </p:sp>
      <p:sp>
        <p:nvSpPr>
          <p:cNvPr id="11" name="Rounded Rectangle 10"/>
          <p:cNvSpPr/>
          <p:nvPr/>
        </p:nvSpPr>
        <p:spPr>
          <a:xfrm>
            <a:off x="6217920" y="141732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2" name="Rectangle 11"/>
          <p:cNvSpPr/>
          <p:nvPr/>
        </p:nvSpPr>
        <p:spPr>
          <a:xfrm>
            <a:off x="6217920" y="1417320"/>
            <a:ext cx="512064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3" name="TextBox 12"/>
          <p:cNvSpPr txBox="1"/>
          <p:nvPr/>
        </p:nvSpPr>
        <p:spPr>
          <a:xfrm>
            <a:off x="6355080" y="1490472"/>
            <a:ext cx="2111475" cy="330347"/>
          </a:xfrm>
          <a:prstGeom prst="rect">
            <a:avLst/>
          </a:prstGeom>
          <a:noFill/>
        </p:spPr>
        <p:txBody>
          <a:bodyPr wrap="none">
            <a:spAutoFit/>
          </a:bodyPr>
          <a:lstStyle/>
          <a:p>
            <a:pPr>
              <a:lnSpc>
                <a:spcPct val="150000"/>
              </a:lnSpc>
              <a:defRPr sz="1150" b="1">
                <a:solidFill>
                  <a:srgbClr val="FFFFFF"/>
                </a:solidFill>
              </a:defRPr>
            </a:pPr>
            <a:r>
              <a:t>Frontend Next.js 14 Standalone</a:t>
            </a:r>
          </a:p>
        </p:txBody>
      </p:sp>
      <p:sp>
        <p:nvSpPr>
          <p:cNvPr id="14" name="TextBox 13"/>
          <p:cNvSpPr txBox="1"/>
          <p:nvPr/>
        </p:nvSpPr>
        <p:spPr>
          <a:xfrm>
            <a:off x="6400800" y="192024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Build multi-stage Node 20 Alpine</a:t>
            </a:r>
          </a:p>
          <a:p>
            <a:pPr>
              <a:lnSpc>
                <a:spcPct val="150000"/>
              </a:lnSpc>
              <a:spcAft>
                <a:spcPts val="200"/>
              </a:spcAft>
              <a:defRPr sz="1050">
                <a:solidFill>
                  <a:srgbClr val="0F172A"/>
                </a:solidFill>
              </a:defRPr>
            </a:pPr>
            <a:r>
              <a:rPr dirty="0"/>
              <a:t>• Support libc6-compat (SWC)</a:t>
            </a:r>
          </a:p>
          <a:p>
            <a:pPr>
              <a:lnSpc>
                <a:spcPct val="150000"/>
              </a:lnSpc>
              <a:spcAft>
                <a:spcPts val="200"/>
              </a:spcAft>
              <a:defRPr sz="1050">
                <a:solidFill>
                  <a:srgbClr val="0F172A"/>
                </a:solidFill>
              </a:defRPr>
            </a:pPr>
            <a:r>
              <a:rPr dirty="0"/>
              <a:t>• Mode output: 'standalone' ultra-</a:t>
            </a:r>
            <a:r>
              <a:rPr dirty="0" err="1"/>
              <a:t>rapide</a:t>
            </a:r>
            <a:endParaRPr dirty="0"/>
          </a:p>
          <a:p>
            <a:pPr>
              <a:lnSpc>
                <a:spcPct val="150000"/>
              </a:lnSpc>
              <a:spcAft>
                <a:spcPts val="200"/>
              </a:spcAft>
              <a:defRPr sz="1050">
                <a:solidFill>
                  <a:srgbClr val="0F172A"/>
                </a:solidFill>
              </a:defRPr>
            </a:pPr>
            <a:r>
              <a:rPr dirty="0"/>
              <a:t>• Port 3000 avec injection </a:t>
            </a:r>
            <a:r>
              <a:rPr dirty="0" err="1"/>
              <a:t>d'API</a:t>
            </a:r>
            <a:r>
              <a:rPr dirty="0"/>
              <a:t> URL</a:t>
            </a:r>
          </a:p>
        </p:txBody>
      </p:sp>
      <p:sp>
        <p:nvSpPr>
          <p:cNvPr id="15" name="Rounded Rectangle 14"/>
          <p:cNvSpPr/>
          <p:nvPr/>
        </p:nvSpPr>
        <p:spPr>
          <a:xfrm>
            <a:off x="822960" y="379476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6" name="Rectangle 15"/>
          <p:cNvSpPr/>
          <p:nvPr/>
        </p:nvSpPr>
        <p:spPr>
          <a:xfrm>
            <a:off x="822960" y="3794760"/>
            <a:ext cx="5120640"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7" name="TextBox 16"/>
          <p:cNvSpPr txBox="1"/>
          <p:nvPr/>
        </p:nvSpPr>
        <p:spPr>
          <a:xfrm>
            <a:off x="960120" y="3867912"/>
            <a:ext cx="2095445" cy="330347"/>
          </a:xfrm>
          <a:prstGeom prst="rect">
            <a:avLst/>
          </a:prstGeom>
          <a:noFill/>
        </p:spPr>
        <p:txBody>
          <a:bodyPr wrap="none">
            <a:spAutoFit/>
          </a:bodyPr>
          <a:lstStyle/>
          <a:p>
            <a:pPr>
              <a:lnSpc>
                <a:spcPct val="150000"/>
              </a:lnSpc>
              <a:defRPr sz="1150" b="1">
                <a:solidFill>
                  <a:srgbClr val="FFFFFF"/>
                </a:solidFill>
              </a:defRPr>
            </a:pPr>
            <a:r>
              <a:t>Orchestration Docker Compose</a:t>
            </a:r>
          </a:p>
        </p:txBody>
      </p:sp>
      <p:sp>
        <p:nvSpPr>
          <p:cNvPr id="18" name="TextBox 17"/>
          <p:cNvSpPr txBox="1"/>
          <p:nvPr/>
        </p:nvSpPr>
        <p:spPr>
          <a:xfrm>
            <a:off x="1005840" y="429768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Réseau bridge </a:t>
            </a:r>
            <a:r>
              <a:rPr dirty="0" err="1"/>
              <a:t>dédié</a:t>
            </a:r>
            <a:r>
              <a:rPr dirty="0"/>
              <a:t> (vit-</a:t>
            </a:r>
            <a:r>
              <a:rPr dirty="0" err="1"/>
              <a:t>cnn</a:t>
            </a:r>
            <a:r>
              <a:rPr dirty="0"/>
              <a:t>-net)</a:t>
            </a:r>
          </a:p>
          <a:p>
            <a:pPr>
              <a:lnSpc>
                <a:spcPct val="150000"/>
              </a:lnSpc>
              <a:spcAft>
                <a:spcPts val="200"/>
              </a:spcAft>
              <a:defRPr sz="1050">
                <a:solidFill>
                  <a:srgbClr val="0F172A"/>
                </a:solidFill>
              </a:defRPr>
            </a:pPr>
            <a:r>
              <a:rPr dirty="0"/>
              <a:t>• Frontend </a:t>
            </a:r>
            <a:r>
              <a:rPr dirty="0" err="1"/>
              <a:t>synchronisé</a:t>
            </a:r>
            <a:r>
              <a:rPr dirty="0"/>
              <a:t> avec le backend</a:t>
            </a:r>
          </a:p>
          <a:p>
            <a:pPr>
              <a:lnSpc>
                <a:spcPct val="150000"/>
              </a:lnSpc>
              <a:spcAft>
                <a:spcPts val="200"/>
              </a:spcAft>
              <a:defRPr sz="1050">
                <a:solidFill>
                  <a:srgbClr val="0F172A"/>
                </a:solidFill>
              </a:defRPr>
            </a:pPr>
            <a:r>
              <a:rPr dirty="0"/>
              <a:t>• </a:t>
            </a:r>
            <a:r>
              <a:rPr dirty="0" err="1"/>
              <a:t>Profil</a:t>
            </a:r>
            <a:r>
              <a:rPr dirty="0"/>
              <a:t> </a:t>
            </a:r>
            <a:r>
              <a:rPr dirty="0" err="1"/>
              <a:t>MLflow</a:t>
            </a:r>
            <a:r>
              <a:rPr dirty="0"/>
              <a:t> UI </a:t>
            </a:r>
            <a:r>
              <a:rPr dirty="0" err="1"/>
              <a:t>optionnel</a:t>
            </a:r>
            <a:r>
              <a:rPr dirty="0"/>
              <a:t> (port 5000)</a:t>
            </a:r>
          </a:p>
          <a:p>
            <a:pPr>
              <a:lnSpc>
                <a:spcPct val="150000"/>
              </a:lnSpc>
              <a:spcAft>
                <a:spcPts val="200"/>
              </a:spcAft>
              <a:defRPr sz="1050">
                <a:solidFill>
                  <a:srgbClr val="0F172A"/>
                </a:solidFill>
              </a:defRPr>
            </a:pPr>
            <a:r>
              <a:rPr dirty="0"/>
              <a:t>• </a:t>
            </a:r>
            <a:r>
              <a:rPr dirty="0" err="1"/>
              <a:t>Démarrage</a:t>
            </a:r>
            <a:r>
              <a:rPr dirty="0"/>
              <a:t> </a:t>
            </a:r>
            <a:r>
              <a:rPr dirty="0" err="1"/>
              <a:t>en</a:t>
            </a:r>
            <a:r>
              <a:rPr dirty="0"/>
              <a:t> 1 </a:t>
            </a:r>
            <a:r>
              <a:rPr dirty="0" err="1"/>
              <a:t>commande</a:t>
            </a:r>
            <a:r>
              <a:rPr dirty="0"/>
              <a:t> : compose up -d</a:t>
            </a:r>
          </a:p>
        </p:txBody>
      </p:sp>
      <p:sp>
        <p:nvSpPr>
          <p:cNvPr id="19" name="Rounded Rectangle 18"/>
          <p:cNvSpPr/>
          <p:nvPr/>
        </p:nvSpPr>
        <p:spPr>
          <a:xfrm>
            <a:off x="6217920" y="3794760"/>
            <a:ext cx="5120640"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20" name="Rectangle 19"/>
          <p:cNvSpPr/>
          <p:nvPr/>
        </p:nvSpPr>
        <p:spPr>
          <a:xfrm>
            <a:off x="6217920" y="3794760"/>
            <a:ext cx="5120640"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21" name="TextBox 20"/>
          <p:cNvSpPr txBox="1"/>
          <p:nvPr/>
        </p:nvSpPr>
        <p:spPr>
          <a:xfrm>
            <a:off x="6355080" y="3867912"/>
            <a:ext cx="2183611" cy="330347"/>
          </a:xfrm>
          <a:prstGeom prst="rect">
            <a:avLst/>
          </a:prstGeom>
          <a:noFill/>
        </p:spPr>
        <p:txBody>
          <a:bodyPr wrap="none">
            <a:spAutoFit/>
          </a:bodyPr>
          <a:lstStyle/>
          <a:p>
            <a:pPr>
              <a:lnSpc>
                <a:spcPct val="150000"/>
              </a:lnSpc>
              <a:defRPr sz="1150" b="1">
                <a:solidFill>
                  <a:srgbClr val="FFFFFF"/>
                </a:solidFill>
              </a:defRPr>
            </a:pPr>
            <a:r>
              <a:t>Garantie Multi-OS &amp; Zéro Conflit</a:t>
            </a:r>
          </a:p>
        </p:txBody>
      </p:sp>
      <p:sp>
        <p:nvSpPr>
          <p:cNvPr id="22" name="TextBox 21"/>
          <p:cNvSpPr txBox="1"/>
          <p:nvPr/>
        </p:nvSpPr>
        <p:spPr>
          <a:xfrm>
            <a:off x="6400800" y="4297680"/>
            <a:ext cx="4754880" cy="1113703"/>
          </a:xfrm>
          <a:prstGeom prst="rect">
            <a:avLst/>
          </a:prstGeom>
          <a:noFill/>
        </p:spPr>
        <p:txBody>
          <a:bodyPr wrap="square">
            <a:spAutoFit/>
          </a:bodyPr>
          <a:lstStyle/>
          <a:p>
            <a:pPr>
              <a:lnSpc>
                <a:spcPct val="150000"/>
              </a:lnSpc>
              <a:spcAft>
                <a:spcPts val="200"/>
              </a:spcAft>
              <a:defRPr sz="1050">
                <a:solidFill>
                  <a:srgbClr val="0F172A"/>
                </a:solidFill>
              </a:defRPr>
            </a:pPr>
            <a:r>
              <a:rPr dirty="0"/>
              <a:t>• </a:t>
            </a:r>
            <a:r>
              <a:rPr dirty="0" err="1"/>
              <a:t>Fonctionne</a:t>
            </a:r>
            <a:r>
              <a:rPr dirty="0"/>
              <a:t> à </a:t>
            </a:r>
            <a:r>
              <a:rPr dirty="0" err="1"/>
              <a:t>l'identique</a:t>
            </a:r>
            <a:r>
              <a:rPr dirty="0"/>
              <a:t> sur Windows, Mac &amp; Linux</a:t>
            </a:r>
          </a:p>
          <a:p>
            <a:pPr>
              <a:lnSpc>
                <a:spcPct val="150000"/>
              </a:lnSpc>
              <a:spcAft>
                <a:spcPts val="200"/>
              </a:spcAft>
              <a:defRPr sz="1050">
                <a:solidFill>
                  <a:srgbClr val="0F172A"/>
                </a:solidFill>
              </a:defRPr>
            </a:pPr>
            <a:r>
              <a:rPr dirty="0"/>
              <a:t>• Variables </a:t>
            </a:r>
            <a:r>
              <a:rPr dirty="0" err="1"/>
              <a:t>d'environnement</a:t>
            </a:r>
            <a:r>
              <a:rPr dirty="0"/>
              <a:t> via .</a:t>
            </a:r>
            <a:r>
              <a:rPr dirty="0" err="1"/>
              <a:t>env.example</a:t>
            </a:r>
            <a:endParaRPr dirty="0"/>
          </a:p>
          <a:p>
            <a:pPr>
              <a:lnSpc>
                <a:spcPct val="150000"/>
              </a:lnSpc>
              <a:spcAft>
                <a:spcPts val="200"/>
              </a:spcAft>
              <a:defRPr sz="1050">
                <a:solidFill>
                  <a:srgbClr val="0F172A"/>
                </a:solidFill>
              </a:defRPr>
            </a:pPr>
            <a:r>
              <a:rPr dirty="0"/>
              <a:t>• Volumes </a:t>
            </a:r>
            <a:r>
              <a:rPr dirty="0" err="1"/>
              <a:t>en</a:t>
            </a:r>
            <a:r>
              <a:rPr dirty="0"/>
              <a:t> lecture </a:t>
            </a:r>
            <a:r>
              <a:rPr dirty="0" err="1"/>
              <a:t>seule</a:t>
            </a:r>
            <a:r>
              <a:rPr dirty="0"/>
              <a:t> pour les </a:t>
            </a:r>
            <a:r>
              <a:rPr dirty="0" err="1"/>
              <a:t>poids</a:t>
            </a:r>
            <a:r>
              <a:rPr dirty="0"/>
              <a:t> .</a:t>
            </a:r>
            <a:r>
              <a:rPr dirty="0" err="1"/>
              <a:t>pth</a:t>
            </a:r>
            <a:endParaRPr dirty="0"/>
          </a:p>
          <a:p>
            <a:pPr>
              <a:lnSpc>
                <a:spcPct val="150000"/>
              </a:lnSpc>
              <a:spcAft>
                <a:spcPts val="200"/>
              </a:spcAft>
              <a:defRPr sz="1050">
                <a:solidFill>
                  <a:srgbClr val="0F172A"/>
                </a:solidFill>
              </a:defRPr>
            </a:pPr>
            <a:r>
              <a:rPr dirty="0"/>
              <a:t>• </a:t>
            </a:r>
            <a:r>
              <a:rPr dirty="0" err="1"/>
              <a:t>Élimination</a:t>
            </a:r>
            <a:r>
              <a:rPr dirty="0"/>
              <a:t> des </a:t>
            </a:r>
            <a:r>
              <a:rPr dirty="0" err="1"/>
              <a:t>conflits</a:t>
            </a:r>
            <a:r>
              <a:rPr dirty="0"/>
              <a:t> </a:t>
            </a:r>
            <a:r>
              <a:rPr dirty="0" err="1"/>
              <a:t>d'environnement</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4" name="TextBox 3"/>
          <p:cNvSpPr txBox="1"/>
          <p:nvPr/>
        </p:nvSpPr>
        <p:spPr>
          <a:xfrm>
            <a:off x="731825"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t>18. Discussion Critique &amp; Limites du Protocole</a:t>
            </a:r>
          </a:p>
        </p:txBody>
      </p:sp>
      <p:sp>
        <p:nvSpPr>
          <p:cNvPr id="5" name="Rectangle 4"/>
          <p:cNvSpPr/>
          <p:nvPr/>
        </p:nvSpPr>
        <p:spPr>
          <a:xfrm>
            <a:off x="731825"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825"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20/22</a:t>
            </a:r>
          </a:p>
        </p:txBody>
      </p:sp>
      <p:sp>
        <p:nvSpPr>
          <p:cNvPr id="7" name="Rounded Rectangle 6"/>
          <p:cNvSpPr/>
          <p:nvPr/>
        </p:nvSpPr>
        <p:spPr>
          <a:xfrm>
            <a:off x="823265"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ounded Rectangle 7"/>
          <p:cNvSpPr/>
          <p:nvPr/>
        </p:nvSpPr>
        <p:spPr>
          <a:xfrm>
            <a:off x="1976103" y="1645920"/>
            <a:ext cx="274320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LIMITES DU PROTOCOLE</a:t>
            </a:r>
          </a:p>
        </p:txBody>
      </p:sp>
      <p:sp>
        <p:nvSpPr>
          <p:cNvPr id="9" name="TextBox 8"/>
          <p:cNvSpPr txBox="1"/>
          <p:nvPr/>
        </p:nvSpPr>
        <p:spPr>
          <a:xfrm>
            <a:off x="1051865" y="2103120"/>
            <a:ext cx="4663440" cy="3075778"/>
          </a:xfrm>
          <a:prstGeom prst="rect">
            <a:avLst/>
          </a:prstGeom>
          <a:noFill/>
        </p:spPr>
        <p:txBody>
          <a:bodyPr wrap="square">
            <a:spAutoFit/>
          </a:bodyPr>
          <a:lstStyle/>
          <a:p>
            <a:pPr>
              <a:lnSpc>
                <a:spcPct val="150000"/>
              </a:lnSpc>
              <a:spcAft>
                <a:spcPts val="600"/>
              </a:spcAft>
            </a:pPr>
            <a:r>
              <a:rPr sz="1100" b="1" dirty="0">
                <a:solidFill>
                  <a:srgbClr val="0F172A"/>
                </a:solidFill>
              </a:rPr>
              <a:t>• </a:t>
            </a:r>
            <a:r>
              <a:rPr sz="1100" b="1" dirty="0" err="1">
                <a:solidFill>
                  <a:srgbClr val="0F172A"/>
                </a:solidFill>
              </a:rPr>
              <a:t>Contrainte</a:t>
            </a:r>
            <a:r>
              <a:rPr sz="1100" b="1" dirty="0">
                <a:solidFill>
                  <a:srgbClr val="0F172A"/>
                </a:solidFill>
              </a:rPr>
              <a:t> de 3 époques :</a:t>
            </a:r>
            <a:r>
              <a:rPr sz="1050" b="0" dirty="0">
                <a:solidFill>
                  <a:srgbClr val="0F172A"/>
                </a:solidFill>
              </a:rPr>
              <a:t>
  Temps de </a:t>
            </a:r>
            <a:r>
              <a:rPr sz="1050" b="0" dirty="0" err="1">
                <a:solidFill>
                  <a:srgbClr val="0F172A"/>
                </a:solidFill>
              </a:rPr>
              <a:t>calcul</a:t>
            </a:r>
            <a:r>
              <a:rPr sz="1050" b="0" dirty="0">
                <a:solidFill>
                  <a:srgbClr val="0F172A"/>
                </a:solidFill>
              </a:rPr>
              <a:t> </a:t>
            </a:r>
            <a:r>
              <a:rPr sz="1050" b="0" dirty="0" err="1">
                <a:solidFill>
                  <a:srgbClr val="0F172A"/>
                </a:solidFill>
              </a:rPr>
              <a:t>restreint</a:t>
            </a:r>
            <a:r>
              <a:rPr sz="1050" b="0" dirty="0">
                <a:solidFill>
                  <a:srgbClr val="0F172A"/>
                </a:solidFill>
              </a:rPr>
              <a:t> qui </a:t>
            </a:r>
            <a:r>
              <a:rPr sz="1050" b="0" dirty="0" err="1">
                <a:solidFill>
                  <a:srgbClr val="0F172A"/>
                </a:solidFill>
              </a:rPr>
              <a:t>pénalise</a:t>
            </a:r>
            <a:r>
              <a:rPr sz="1050" b="0" dirty="0">
                <a:solidFill>
                  <a:srgbClr val="0F172A"/>
                </a:solidFill>
              </a:rPr>
              <a:t> le </a:t>
            </a:r>
            <a:r>
              <a:rPr sz="1050" b="0" dirty="0" err="1">
                <a:solidFill>
                  <a:srgbClr val="0F172A"/>
                </a:solidFill>
              </a:rPr>
              <a:t>ViT</a:t>
            </a:r>
            <a:r>
              <a:rPr sz="1050" b="0" dirty="0">
                <a:solidFill>
                  <a:srgbClr val="0F172A"/>
                </a:solidFill>
              </a:rPr>
              <a:t> scratch (sous-</a:t>
            </a:r>
            <a:r>
              <a:rPr sz="1050" b="0" dirty="0" err="1">
                <a:solidFill>
                  <a:srgbClr val="0F172A"/>
                </a:solidFill>
              </a:rPr>
              <a:t>entraînement</a:t>
            </a:r>
            <a:r>
              <a:rPr sz="1050" b="0" dirty="0">
                <a:solidFill>
                  <a:srgbClr val="0F172A"/>
                </a:solidFill>
              </a:rPr>
              <a:t> </a:t>
            </a:r>
            <a:r>
              <a:rPr sz="1050" b="0" dirty="0" err="1">
                <a:solidFill>
                  <a:srgbClr val="0F172A"/>
                </a:solidFill>
              </a:rPr>
              <a:t>manifeste</a:t>
            </a:r>
            <a:r>
              <a:rPr sz="1050" b="0" dirty="0">
                <a:solidFill>
                  <a:srgbClr val="0F172A"/>
                </a:solidFill>
              </a:rPr>
              <a:t>).</a:t>
            </a:r>
          </a:p>
          <a:p>
            <a:pPr>
              <a:lnSpc>
                <a:spcPct val="150000"/>
              </a:lnSpc>
              <a:spcAft>
                <a:spcPts val="600"/>
              </a:spcAft>
            </a:pPr>
            <a:r>
              <a:rPr sz="1100" b="1" dirty="0">
                <a:solidFill>
                  <a:srgbClr val="0F172A"/>
                </a:solidFill>
              </a:rPr>
              <a:t>• </a:t>
            </a:r>
            <a:r>
              <a:rPr sz="1100" b="1" dirty="0" err="1">
                <a:solidFill>
                  <a:srgbClr val="0F172A"/>
                </a:solidFill>
              </a:rPr>
              <a:t>Écart</a:t>
            </a:r>
            <a:r>
              <a:rPr sz="1100" b="1" dirty="0">
                <a:solidFill>
                  <a:srgbClr val="0F172A"/>
                </a:solidFill>
              </a:rPr>
              <a:t> Patch 16 vs Patch 32 :</a:t>
            </a:r>
            <a:r>
              <a:rPr sz="1050" b="0" dirty="0">
                <a:solidFill>
                  <a:srgbClr val="0F172A"/>
                </a:solidFill>
              </a:rPr>
              <a:t>
  La </a:t>
            </a:r>
            <a:r>
              <a:rPr sz="1050" b="0" dirty="0" err="1">
                <a:solidFill>
                  <a:srgbClr val="0F172A"/>
                </a:solidFill>
              </a:rPr>
              <a:t>variante</a:t>
            </a:r>
            <a:r>
              <a:rPr sz="1050" b="0" dirty="0">
                <a:solidFill>
                  <a:srgbClr val="0F172A"/>
                </a:solidFill>
              </a:rPr>
              <a:t> patch 16 </a:t>
            </a:r>
            <a:r>
              <a:rPr sz="1050" b="0" dirty="0" err="1">
                <a:solidFill>
                  <a:srgbClr val="0F172A"/>
                </a:solidFill>
              </a:rPr>
              <a:t>nécessite</a:t>
            </a:r>
            <a:r>
              <a:rPr sz="1050" b="0" dirty="0">
                <a:solidFill>
                  <a:srgbClr val="0F172A"/>
                </a:solidFill>
              </a:rPr>
              <a:t> un </a:t>
            </a:r>
            <a:r>
              <a:rPr sz="1050" b="0" dirty="0" err="1">
                <a:solidFill>
                  <a:srgbClr val="0F172A"/>
                </a:solidFill>
              </a:rPr>
              <a:t>réglage</a:t>
            </a:r>
            <a:r>
              <a:rPr sz="1050" b="0" dirty="0">
                <a:solidFill>
                  <a:srgbClr val="0F172A"/>
                </a:solidFill>
              </a:rPr>
              <a:t> fin du learning rate et un temps de convergence plus long.</a:t>
            </a:r>
          </a:p>
          <a:p>
            <a:pPr>
              <a:lnSpc>
                <a:spcPct val="150000"/>
              </a:lnSpc>
              <a:spcAft>
                <a:spcPts val="600"/>
              </a:spcAft>
            </a:pPr>
            <a:r>
              <a:rPr sz="1100" b="1" dirty="0">
                <a:solidFill>
                  <a:srgbClr val="0F172A"/>
                </a:solidFill>
              </a:rPr>
              <a:t>• </a:t>
            </a:r>
            <a:r>
              <a:rPr sz="1100" b="1" dirty="0" err="1">
                <a:solidFill>
                  <a:srgbClr val="0F172A"/>
                </a:solidFill>
              </a:rPr>
              <a:t>Échelle</a:t>
            </a:r>
            <a:r>
              <a:rPr sz="1100" b="1" dirty="0">
                <a:solidFill>
                  <a:srgbClr val="0F172A"/>
                </a:solidFill>
              </a:rPr>
              <a:t> </a:t>
            </a:r>
            <a:r>
              <a:rPr sz="1100" b="1" dirty="0" err="1">
                <a:solidFill>
                  <a:srgbClr val="0F172A"/>
                </a:solidFill>
              </a:rPr>
              <a:t>réduite</a:t>
            </a:r>
            <a:r>
              <a:rPr sz="1100" b="1" dirty="0">
                <a:solidFill>
                  <a:srgbClr val="0F172A"/>
                </a:solidFill>
              </a:rPr>
              <a:t> du </a:t>
            </a:r>
            <a:r>
              <a:rPr sz="1100" b="1" dirty="0" err="1">
                <a:solidFill>
                  <a:srgbClr val="0F172A"/>
                </a:solidFill>
              </a:rPr>
              <a:t>modèle</a:t>
            </a:r>
            <a:r>
              <a:rPr sz="1100" b="1" dirty="0">
                <a:solidFill>
                  <a:srgbClr val="0F172A"/>
                </a:solidFill>
              </a:rPr>
              <a:t> scratch :</a:t>
            </a:r>
            <a:r>
              <a:rPr sz="1050" b="0" dirty="0">
                <a:solidFill>
                  <a:srgbClr val="0F172A"/>
                </a:solidFill>
              </a:rPr>
              <a:t>
  Notre </a:t>
            </a:r>
            <a:r>
              <a:rPr sz="1050" b="0" dirty="0" err="1">
                <a:solidFill>
                  <a:srgbClr val="0F172A"/>
                </a:solidFill>
              </a:rPr>
              <a:t>ViT</a:t>
            </a:r>
            <a:r>
              <a:rPr sz="1050" b="0" dirty="0">
                <a:solidFill>
                  <a:srgbClr val="0F172A"/>
                </a:solidFill>
              </a:rPr>
              <a:t> custom (11.1M params) </a:t>
            </a:r>
            <a:r>
              <a:rPr sz="1050" b="0" dirty="0" err="1">
                <a:solidFill>
                  <a:srgbClr val="0F172A"/>
                </a:solidFill>
              </a:rPr>
              <a:t>reste</a:t>
            </a:r>
            <a:r>
              <a:rPr sz="1050" b="0" dirty="0">
                <a:solidFill>
                  <a:srgbClr val="0F172A"/>
                </a:solidFill>
              </a:rPr>
              <a:t> plus petit </a:t>
            </a:r>
            <a:r>
              <a:rPr sz="1050" b="0" dirty="0" err="1">
                <a:solidFill>
                  <a:srgbClr val="0F172A"/>
                </a:solidFill>
              </a:rPr>
              <a:t>que</a:t>
            </a:r>
            <a:r>
              <a:rPr sz="1050" b="0" dirty="0">
                <a:solidFill>
                  <a:srgbClr val="0F172A"/>
                </a:solidFill>
              </a:rPr>
              <a:t> </a:t>
            </a:r>
            <a:r>
              <a:rPr sz="1050" b="0" dirty="0" err="1">
                <a:solidFill>
                  <a:srgbClr val="0F172A"/>
                </a:solidFill>
              </a:rPr>
              <a:t>ViT</a:t>
            </a:r>
            <a:r>
              <a:rPr sz="1050" b="0" dirty="0">
                <a:solidFill>
                  <a:srgbClr val="0F172A"/>
                </a:solidFill>
              </a:rPr>
              <a:t>-Base (86M params).</a:t>
            </a:r>
          </a:p>
          <a:p>
            <a:pPr>
              <a:lnSpc>
                <a:spcPct val="150000"/>
              </a:lnSpc>
              <a:spcAft>
                <a:spcPts val="600"/>
              </a:spcAft>
            </a:pPr>
            <a:r>
              <a:rPr sz="1100" b="1" dirty="0">
                <a:solidFill>
                  <a:srgbClr val="0F172A"/>
                </a:solidFill>
              </a:rPr>
              <a:t>• Absence de variance </a:t>
            </a:r>
            <a:r>
              <a:rPr sz="1100" b="1" dirty="0" err="1">
                <a:solidFill>
                  <a:srgbClr val="0F172A"/>
                </a:solidFill>
              </a:rPr>
              <a:t>statistique</a:t>
            </a:r>
            <a:r>
              <a:rPr sz="1100" b="1" dirty="0">
                <a:solidFill>
                  <a:srgbClr val="0F172A"/>
                </a:solidFill>
              </a:rPr>
              <a:t> :</a:t>
            </a:r>
            <a:r>
              <a:rPr sz="1050" b="0" dirty="0">
                <a:solidFill>
                  <a:srgbClr val="0F172A"/>
                </a:solidFill>
              </a:rPr>
              <a:t>
  Un seul seed (seed=42) </a:t>
            </a:r>
            <a:r>
              <a:rPr sz="1050" b="0" dirty="0" err="1">
                <a:solidFill>
                  <a:srgbClr val="0F172A"/>
                </a:solidFill>
              </a:rPr>
              <a:t>évalué</a:t>
            </a:r>
            <a:r>
              <a:rPr sz="1050" b="0" dirty="0">
                <a:solidFill>
                  <a:srgbClr val="0F172A"/>
                </a:solidFill>
              </a:rPr>
              <a:t> par configuration.</a:t>
            </a:r>
          </a:p>
        </p:txBody>
      </p:sp>
      <p:sp>
        <p:nvSpPr>
          <p:cNvPr id="10" name="Rounded Rectangle 9"/>
          <p:cNvSpPr/>
          <p:nvPr/>
        </p:nvSpPr>
        <p:spPr>
          <a:xfrm>
            <a:off x="6218225"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1" name="Rounded Rectangle 10"/>
          <p:cNvSpPr/>
          <p:nvPr/>
        </p:nvSpPr>
        <p:spPr>
          <a:xfrm>
            <a:off x="7371063"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ENSEIGNEMENTS SCIENTIFIQUES</a:t>
            </a:r>
          </a:p>
        </p:txBody>
      </p:sp>
      <p:sp>
        <p:nvSpPr>
          <p:cNvPr id="12" name="TextBox 11"/>
          <p:cNvSpPr txBox="1"/>
          <p:nvPr/>
        </p:nvSpPr>
        <p:spPr>
          <a:xfrm>
            <a:off x="6446825" y="2103120"/>
            <a:ext cx="4663440" cy="2796215"/>
          </a:xfrm>
          <a:prstGeom prst="rect">
            <a:avLst/>
          </a:prstGeom>
          <a:noFill/>
        </p:spPr>
        <p:txBody>
          <a:bodyPr wrap="square">
            <a:spAutoFit/>
          </a:bodyPr>
          <a:lstStyle/>
          <a:p>
            <a:pPr>
              <a:lnSpc>
                <a:spcPct val="150000"/>
              </a:lnSpc>
              <a:spcAft>
                <a:spcPts val="800"/>
              </a:spcAft>
            </a:pPr>
            <a:r>
              <a:rPr sz="1100" b="1" dirty="0">
                <a:solidFill>
                  <a:srgbClr val="0F172A"/>
                </a:solidFill>
              </a:rPr>
              <a:t>• </a:t>
            </a:r>
            <a:r>
              <a:rPr sz="1100" b="1" dirty="0" err="1">
                <a:solidFill>
                  <a:srgbClr val="0F172A"/>
                </a:solidFill>
              </a:rPr>
              <a:t>Biais</a:t>
            </a:r>
            <a:r>
              <a:rPr sz="1100" b="1" dirty="0">
                <a:solidFill>
                  <a:srgbClr val="0F172A"/>
                </a:solidFill>
              </a:rPr>
              <a:t> </a:t>
            </a:r>
            <a:r>
              <a:rPr sz="1100" b="1" dirty="0" err="1">
                <a:solidFill>
                  <a:srgbClr val="0F172A"/>
                </a:solidFill>
              </a:rPr>
              <a:t>inductif</a:t>
            </a:r>
            <a:r>
              <a:rPr sz="1100" b="1" dirty="0">
                <a:solidFill>
                  <a:srgbClr val="0F172A"/>
                </a:solidFill>
              </a:rPr>
              <a:t> = </a:t>
            </a:r>
            <a:r>
              <a:rPr sz="1100" b="1" dirty="0" err="1">
                <a:solidFill>
                  <a:srgbClr val="0F172A"/>
                </a:solidFill>
              </a:rPr>
              <a:t>Atout</a:t>
            </a:r>
            <a:r>
              <a:rPr sz="1100" b="1" dirty="0">
                <a:solidFill>
                  <a:srgbClr val="0F172A"/>
                </a:solidFill>
              </a:rPr>
              <a:t> </a:t>
            </a:r>
            <a:r>
              <a:rPr sz="1100" b="1" dirty="0" err="1">
                <a:solidFill>
                  <a:srgbClr val="0F172A"/>
                </a:solidFill>
              </a:rPr>
              <a:t>décisif</a:t>
            </a:r>
            <a:r>
              <a:rPr sz="1100" b="1" dirty="0">
                <a:solidFill>
                  <a:srgbClr val="0F172A"/>
                </a:solidFill>
              </a:rPr>
              <a:t> :</a:t>
            </a:r>
            <a:r>
              <a:rPr sz="1050" b="0" dirty="0">
                <a:solidFill>
                  <a:srgbClr val="0F172A"/>
                </a:solidFill>
              </a:rPr>
              <a:t>
  Sur petit dataset, le CNN </a:t>
            </a:r>
            <a:r>
              <a:rPr sz="1050" b="0" dirty="0" err="1">
                <a:solidFill>
                  <a:srgbClr val="0F172A"/>
                </a:solidFill>
              </a:rPr>
              <a:t>reste</a:t>
            </a:r>
            <a:r>
              <a:rPr sz="1050" b="0" dirty="0">
                <a:solidFill>
                  <a:srgbClr val="0F172A"/>
                </a:solidFill>
              </a:rPr>
              <a:t> </a:t>
            </a:r>
            <a:r>
              <a:rPr sz="1050" b="0" dirty="0" err="1">
                <a:solidFill>
                  <a:srgbClr val="0F172A"/>
                </a:solidFill>
              </a:rPr>
              <a:t>mathématiquement</a:t>
            </a:r>
            <a:r>
              <a:rPr sz="1050" b="0" dirty="0">
                <a:solidFill>
                  <a:srgbClr val="0F172A"/>
                </a:solidFill>
              </a:rPr>
              <a:t> </a:t>
            </a:r>
            <a:r>
              <a:rPr sz="1050" b="0" dirty="0" err="1">
                <a:solidFill>
                  <a:srgbClr val="0F172A"/>
                </a:solidFill>
              </a:rPr>
              <a:t>mieux</a:t>
            </a:r>
            <a:r>
              <a:rPr sz="1050" b="0" dirty="0">
                <a:solidFill>
                  <a:srgbClr val="0F172A"/>
                </a:solidFill>
              </a:rPr>
              <a:t> </a:t>
            </a:r>
            <a:r>
              <a:rPr sz="1050" b="0" dirty="0" err="1">
                <a:solidFill>
                  <a:srgbClr val="0F172A"/>
                </a:solidFill>
              </a:rPr>
              <a:t>adapté</a:t>
            </a:r>
            <a:r>
              <a:rPr sz="1050" b="0" dirty="0">
                <a:solidFill>
                  <a:srgbClr val="0F172A"/>
                </a:solidFill>
              </a:rPr>
              <a:t> pour </a:t>
            </a:r>
            <a:r>
              <a:rPr sz="1050" b="0" dirty="0" err="1">
                <a:solidFill>
                  <a:srgbClr val="0F172A"/>
                </a:solidFill>
              </a:rPr>
              <a:t>extraire</a:t>
            </a:r>
            <a:r>
              <a:rPr sz="1050" b="0" dirty="0">
                <a:solidFill>
                  <a:srgbClr val="0F172A"/>
                </a:solidFill>
              </a:rPr>
              <a:t> des textures locales sans </a:t>
            </a:r>
            <a:r>
              <a:rPr sz="1050" b="0" dirty="0" err="1">
                <a:solidFill>
                  <a:srgbClr val="0F172A"/>
                </a:solidFill>
              </a:rPr>
              <a:t>pré-entraînement</a:t>
            </a:r>
            <a:r>
              <a:rPr sz="1050" b="0" dirty="0">
                <a:solidFill>
                  <a:srgbClr val="0F172A"/>
                </a:solidFill>
              </a:rPr>
              <a:t>.</a:t>
            </a:r>
          </a:p>
          <a:p>
            <a:pPr>
              <a:lnSpc>
                <a:spcPct val="150000"/>
              </a:lnSpc>
              <a:spcAft>
                <a:spcPts val="800"/>
              </a:spcAft>
            </a:pPr>
            <a:r>
              <a:rPr sz="1100" b="1" dirty="0">
                <a:solidFill>
                  <a:srgbClr val="0F172A"/>
                </a:solidFill>
              </a:rPr>
              <a:t>• </a:t>
            </a:r>
            <a:r>
              <a:rPr sz="1100" b="1" dirty="0" err="1">
                <a:solidFill>
                  <a:srgbClr val="0F172A"/>
                </a:solidFill>
              </a:rPr>
              <a:t>ViT</a:t>
            </a:r>
            <a:r>
              <a:rPr sz="1100" b="1" dirty="0">
                <a:solidFill>
                  <a:srgbClr val="0F172A"/>
                </a:solidFill>
              </a:rPr>
              <a:t> = Puissance </a:t>
            </a:r>
            <a:r>
              <a:rPr sz="1100" b="1" dirty="0" err="1">
                <a:solidFill>
                  <a:srgbClr val="0F172A"/>
                </a:solidFill>
              </a:rPr>
              <a:t>conditionnée</a:t>
            </a:r>
            <a:r>
              <a:rPr sz="1100" b="1" dirty="0">
                <a:solidFill>
                  <a:srgbClr val="0F172A"/>
                </a:solidFill>
              </a:rPr>
              <a:t> :</a:t>
            </a:r>
            <a:r>
              <a:rPr sz="1050" b="0" dirty="0">
                <a:solidFill>
                  <a:srgbClr val="0F172A"/>
                </a:solidFill>
              </a:rPr>
              <a:t>
  Le </a:t>
            </a:r>
            <a:r>
              <a:rPr sz="1050" b="0" dirty="0" err="1">
                <a:solidFill>
                  <a:srgbClr val="0F172A"/>
                </a:solidFill>
              </a:rPr>
              <a:t>ViT</a:t>
            </a:r>
            <a:r>
              <a:rPr sz="1050" b="0" dirty="0">
                <a:solidFill>
                  <a:srgbClr val="0F172A"/>
                </a:solidFill>
              </a:rPr>
              <a:t> </a:t>
            </a:r>
            <a:r>
              <a:rPr sz="1050" b="0" dirty="0" err="1">
                <a:solidFill>
                  <a:srgbClr val="0F172A"/>
                </a:solidFill>
              </a:rPr>
              <a:t>surpasse</a:t>
            </a:r>
            <a:r>
              <a:rPr sz="1050" b="0" dirty="0">
                <a:solidFill>
                  <a:srgbClr val="0F172A"/>
                </a:solidFill>
              </a:rPr>
              <a:t> les architectures </a:t>
            </a:r>
            <a:r>
              <a:rPr sz="1050" b="0" dirty="0" err="1">
                <a:solidFill>
                  <a:srgbClr val="0F172A"/>
                </a:solidFill>
              </a:rPr>
              <a:t>classiques</a:t>
            </a:r>
            <a:r>
              <a:rPr sz="1050" b="0" dirty="0">
                <a:solidFill>
                  <a:srgbClr val="0F172A"/>
                </a:solidFill>
              </a:rPr>
              <a:t> </a:t>
            </a:r>
            <a:r>
              <a:rPr sz="1050" b="0" dirty="0" err="1">
                <a:solidFill>
                  <a:srgbClr val="0F172A"/>
                </a:solidFill>
              </a:rPr>
              <a:t>uniquement</a:t>
            </a:r>
            <a:r>
              <a:rPr sz="1050" b="0" dirty="0">
                <a:solidFill>
                  <a:srgbClr val="0F172A"/>
                </a:solidFill>
              </a:rPr>
              <a:t> </a:t>
            </a:r>
            <a:r>
              <a:rPr sz="1050" b="0" dirty="0" err="1">
                <a:solidFill>
                  <a:srgbClr val="0F172A"/>
                </a:solidFill>
              </a:rPr>
              <a:t>lorsqu'il</a:t>
            </a:r>
            <a:r>
              <a:rPr sz="1050" b="0" dirty="0">
                <a:solidFill>
                  <a:srgbClr val="0F172A"/>
                </a:solidFill>
              </a:rPr>
              <a:t> est </a:t>
            </a:r>
            <a:r>
              <a:rPr sz="1050" b="0" dirty="0" err="1">
                <a:solidFill>
                  <a:srgbClr val="0F172A"/>
                </a:solidFill>
              </a:rPr>
              <a:t>alimenté</a:t>
            </a:r>
            <a:r>
              <a:rPr sz="1050" b="0" dirty="0">
                <a:solidFill>
                  <a:srgbClr val="0F172A"/>
                </a:solidFill>
              </a:rPr>
              <a:t> par un </a:t>
            </a:r>
            <a:r>
              <a:rPr sz="1050" b="0" dirty="0" err="1">
                <a:solidFill>
                  <a:srgbClr val="0F172A"/>
                </a:solidFill>
              </a:rPr>
              <a:t>transfert</a:t>
            </a:r>
            <a:r>
              <a:rPr sz="1050" b="0" dirty="0">
                <a:solidFill>
                  <a:srgbClr val="0F172A"/>
                </a:solidFill>
              </a:rPr>
              <a:t> de </a:t>
            </a:r>
            <a:r>
              <a:rPr sz="1050" b="0" dirty="0" err="1">
                <a:solidFill>
                  <a:srgbClr val="0F172A"/>
                </a:solidFill>
              </a:rPr>
              <a:t>connaissances</a:t>
            </a:r>
            <a:r>
              <a:rPr sz="1050" b="0" dirty="0">
                <a:solidFill>
                  <a:srgbClr val="0F172A"/>
                </a:solidFill>
              </a:rPr>
              <a:t> massif.</a:t>
            </a:r>
          </a:p>
          <a:p>
            <a:pPr>
              <a:lnSpc>
                <a:spcPct val="150000"/>
              </a:lnSpc>
              <a:spcAft>
                <a:spcPts val="800"/>
              </a:spcAft>
            </a:pPr>
            <a:r>
              <a:rPr sz="1100" b="1" dirty="0">
                <a:solidFill>
                  <a:srgbClr val="0F172A"/>
                </a:solidFill>
              </a:rPr>
              <a:t>• Fine-grained = </a:t>
            </a:r>
            <a:r>
              <a:rPr sz="1100" b="1" dirty="0" err="1">
                <a:solidFill>
                  <a:srgbClr val="0F172A"/>
                </a:solidFill>
              </a:rPr>
              <a:t>Dépendance</a:t>
            </a:r>
            <a:r>
              <a:rPr sz="1100" b="1" dirty="0">
                <a:solidFill>
                  <a:srgbClr val="0F172A"/>
                </a:solidFill>
              </a:rPr>
              <a:t> au </a:t>
            </a:r>
            <a:r>
              <a:rPr sz="1100" b="1" dirty="0" err="1">
                <a:solidFill>
                  <a:srgbClr val="0F172A"/>
                </a:solidFill>
              </a:rPr>
              <a:t>pré-entraînement</a:t>
            </a:r>
            <a:r>
              <a:rPr sz="1100" b="1" dirty="0">
                <a:solidFill>
                  <a:srgbClr val="0F172A"/>
                </a:solidFill>
              </a:rPr>
              <a:t> :</a:t>
            </a:r>
            <a:r>
              <a:rPr sz="1050" b="0" dirty="0">
                <a:solidFill>
                  <a:srgbClr val="0F172A"/>
                </a:solidFill>
              </a:rPr>
              <a:t>
  La </a:t>
            </a:r>
            <a:r>
              <a:rPr sz="1050" b="0" dirty="0" err="1">
                <a:solidFill>
                  <a:srgbClr val="0F172A"/>
                </a:solidFill>
              </a:rPr>
              <a:t>tâche</a:t>
            </a:r>
            <a:r>
              <a:rPr sz="1050" b="0" dirty="0">
                <a:solidFill>
                  <a:srgbClr val="0F172A"/>
                </a:solidFill>
              </a:rPr>
              <a:t> fine-grained </a:t>
            </a:r>
            <a:r>
              <a:rPr sz="1050" b="0" dirty="0" err="1">
                <a:solidFill>
                  <a:srgbClr val="0F172A"/>
                </a:solidFill>
              </a:rPr>
              <a:t>exige</a:t>
            </a:r>
            <a:r>
              <a:rPr sz="1050" b="0" dirty="0">
                <a:solidFill>
                  <a:srgbClr val="0F172A"/>
                </a:solidFill>
              </a:rPr>
              <a:t> </a:t>
            </a:r>
            <a:r>
              <a:rPr sz="1050" b="0" dirty="0" err="1">
                <a:solidFill>
                  <a:srgbClr val="0F172A"/>
                </a:solidFill>
              </a:rPr>
              <a:t>une</a:t>
            </a:r>
            <a:r>
              <a:rPr sz="1050" b="0" dirty="0">
                <a:solidFill>
                  <a:srgbClr val="0F172A"/>
                </a:solidFill>
              </a:rPr>
              <a:t> </a:t>
            </a:r>
            <a:r>
              <a:rPr sz="1050" b="0" dirty="0" err="1">
                <a:solidFill>
                  <a:srgbClr val="0F172A"/>
                </a:solidFill>
              </a:rPr>
              <a:t>séparation</a:t>
            </a:r>
            <a:r>
              <a:rPr sz="1050" b="0" dirty="0">
                <a:solidFill>
                  <a:srgbClr val="0F172A"/>
                </a:solidFill>
              </a:rPr>
              <a:t> de classes </a:t>
            </a:r>
            <a:r>
              <a:rPr sz="1050" b="0" dirty="0" err="1">
                <a:solidFill>
                  <a:srgbClr val="0F172A"/>
                </a:solidFill>
              </a:rPr>
              <a:t>si</a:t>
            </a:r>
            <a:r>
              <a:rPr sz="1050" b="0" dirty="0">
                <a:solidFill>
                  <a:srgbClr val="0F172A"/>
                </a:solidFill>
              </a:rPr>
              <a:t> fine </a:t>
            </a:r>
            <a:r>
              <a:rPr sz="1050" b="0" dirty="0" err="1">
                <a:solidFill>
                  <a:srgbClr val="0F172A"/>
                </a:solidFill>
              </a:rPr>
              <a:t>que</a:t>
            </a:r>
            <a:r>
              <a:rPr sz="1050" b="0" dirty="0">
                <a:solidFill>
                  <a:srgbClr val="0F172A"/>
                </a:solidFill>
              </a:rPr>
              <a:t> les </a:t>
            </a:r>
            <a:r>
              <a:rPr sz="1050" b="0" dirty="0" err="1">
                <a:solidFill>
                  <a:srgbClr val="0F172A"/>
                </a:solidFill>
              </a:rPr>
              <a:t>poids</a:t>
            </a:r>
            <a:r>
              <a:rPr sz="1050" b="0" dirty="0">
                <a:solidFill>
                  <a:srgbClr val="0F172A"/>
                </a:solidFill>
              </a:rPr>
              <a:t> ImageNet </a:t>
            </a:r>
            <a:r>
              <a:rPr sz="1050" b="0" dirty="0" err="1">
                <a:solidFill>
                  <a:srgbClr val="0F172A"/>
                </a:solidFill>
              </a:rPr>
              <a:t>deviennent</a:t>
            </a:r>
            <a:r>
              <a:rPr sz="1050" b="0" dirty="0">
                <a:solidFill>
                  <a:srgbClr val="0F172A"/>
                </a:solidFill>
              </a:rPr>
              <a:t> indispensables.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4" name="TextBox 3"/>
          <p:cNvSpPr txBox="1"/>
          <p:nvPr/>
        </p:nvSpPr>
        <p:spPr>
          <a:xfrm>
            <a:off x="731520" y="475488"/>
            <a:ext cx="10698480" cy="465320"/>
          </a:xfrm>
          <a:prstGeom prst="rect">
            <a:avLst/>
          </a:prstGeom>
          <a:noFill/>
        </p:spPr>
        <p:txBody>
          <a:bodyPr wrap="square" lIns="0" tIns="0" rIns="0" bIns="0">
            <a:spAutoFit/>
          </a:bodyPr>
          <a:lstStyle/>
          <a:p>
            <a:pPr>
              <a:lnSpc>
                <a:spcPct val="150000"/>
              </a:lnSpc>
              <a:defRPr sz="2300" b="1">
                <a:solidFill>
                  <a:srgbClr val="0F172A"/>
                </a:solidFill>
                <a:latin typeface="Arial"/>
              </a:defRPr>
            </a:pPr>
            <a:r>
              <a:t>19. Perspectives d'Avenir &amp; Évolutions Techniques</a:t>
            </a:r>
          </a:p>
        </p:txBody>
      </p:sp>
      <p:sp>
        <p:nvSpPr>
          <p:cNvPr id="5" name="Rectangle 4"/>
          <p:cNvSpPr/>
          <p:nvPr/>
        </p:nvSpPr>
        <p:spPr>
          <a:xfrm>
            <a:off x="731520" y="1115568"/>
            <a:ext cx="237744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6" name="TextBox 5"/>
          <p:cNvSpPr txBox="1"/>
          <p:nvPr/>
        </p:nvSpPr>
        <p:spPr>
          <a:xfrm>
            <a:off x="731520" y="6446520"/>
            <a:ext cx="5687454" cy="192232"/>
          </a:xfrm>
          <a:prstGeom prst="rect">
            <a:avLst/>
          </a:prstGeom>
          <a:noFill/>
        </p:spPr>
        <p:txBody>
          <a:bodyPr wrap="none" lIns="0" tIns="0" rIns="0" bIns="0">
            <a:spAutoFit/>
          </a:bodyPr>
          <a:lstStyle/>
          <a:p>
            <a:pPr>
              <a:lnSpc>
                <a:spcPct val="150000"/>
              </a:lnSpc>
              <a:defRPr sz="950">
                <a:solidFill>
                  <a:srgbClr val="64748B"/>
                </a:solidFill>
                <a:latin typeface="Arial"/>
              </a:defRPr>
            </a:pPr>
            <a:r>
              <a:t>Master 1 IA - ViT vs CNN (CUB-200-2011)                                                                                            21/22</a:t>
            </a:r>
          </a:p>
        </p:txBody>
      </p:sp>
      <p:sp>
        <p:nvSpPr>
          <p:cNvPr id="7" name="Rounded Rectangle 6"/>
          <p:cNvSpPr/>
          <p:nvPr/>
        </p:nvSpPr>
        <p:spPr>
          <a:xfrm>
            <a:off x="82296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8" name="Rounded Rectangle 7"/>
          <p:cNvSpPr/>
          <p:nvPr/>
        </p:nvSpPr>
        <p:spPr>
          <a:xfrm>
            <a:off x="1867636" y="1645920"/>
            <a:ext cx="2926080"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DÉJÀ CODÉ DANS LE PROJET</a:t>
            </a:r>
          </a:p>
        </p:txBody>
      </p:sp>
      <p:sp>
        <p:nvSpPr>
          <p:cNvPr id="9" name="TextBox 8"/>
          <p:cNvSpPr txBox="1"/>
          <p:nvPr/>
        </p:nvSpPr>
        <p:spPr>
          <a:xfrm>
            <a:off x="1051560" y="2103120"/>
            <a:ext cx="4663440" cy="3318152"/>
          </a:xfrm>
          <a:prstGeom prst="rect">
            <a:avLst/>
          </a:prstGeom>
          <a:noFill/>
        </p:spPr>
        <p:txBody>
          <a:bodyPr wrap="square">
            <a:spAutoFit/>
          </a:bodyPr>
          <a:lstStyle/>
          <a:p>
            <a:pPr>
              <a:lnSpc>
                <a:spcPct val="150000"/>
              </a:lnSpc>
              <a:spcAft>
                <a:spcPts val="600"/>
              </a:spcAft>
            </a:pPr>
            <a:r>
              <a:rPr sz="1100" b="1" dirty="0">
                <a:solidFill>
                  <a:srgbClr val="0F172A"/>
                </a:solidFill>
              </a:rPr>
              <a:t>• Scheduler Cosine Annealing :</a:t>
            </a:r>
            <a:r>
              <a:rPr sz="1050" b="0" dirty="0">
                <a:solidFill>
                  <a:srgbClr val="0F172A"/>
                </a:solidFill>
              </a:rPr>
              <a:t>
  </a:t>
            </a:r>
            <a:r>
              <a:rPr sz="1050" b="0" dirty="0" err="1">
                <a:solidFill>
                  <a:srgbClr val="0F172A"/>
                </a:solidFill>
              </a:rPr>
              <a:t>Décroissance</a:t>
            </a:r>
            <a:r>
              <a:rPr sz="1050" b="0" dirty="0">
                <a:solidFill>
                  <a:srgbClr val="0F172A"/>
                </a:solidFill>
              </a:rPr>
              <a:t> </a:t>
            </a:r>
            <a:r>
              <a:rPr sz="1050" b="0" dirty="0" err="1">
                <a:solidFill>
                  <a:srgbClr val="0F172A"/>
                </a:solidFill>
              </a:rPr>
              <a:t>cosinusoïdale</a:t>
            </a:r>
            <a:r>
              <a:rPr sz="1050" b="0" dirty="0">
                <a:solidFill>
                  <a:srgbClr val="0F172A"/>
                </a:solidFill>
              </a:rPr>
              <a:t> avec phase de warmup </a:t>
            </a:r>
            <a:r>
              <a:rPr sz="1050" b="0" dirty="0" err="1">
                <a:solidFill>
                  <a:srgbClr val="0F172A"/>
                </a:solidFill>
              </a:rPr>
              <a:t>linéaire</a:t>
            </a:r>
            <a:r>
              <a:rPr sz="1050" b="0" dirty="0">
                <a:solidFill>
                  <a:srgbClr val="0F172A"/>
                </a:solidFill>
              </a:rPr>
              <a:t> pour </a:t>
            </a:r>
            <a:r>
              <a:rPr sz="1050" b="0" dirty="0" err="1">
                <a:solidFill>
                  <a:srgbClr val="0F172A"/>
                </a:solidFill>
              </a:rPr>
              <a:t>stabiliser</a:t>
            </a:r>
            <a:r>
              <a:rPr sz="1050" b="0" dirty="0">
                <a:solidFill>
                  <a:srgbClr val="0F172A"/>
                </a:solidFill>
              </a:rPr>
              <a:t> </a:t>
            </a:r>
            <a:r>
              <a:rPr sz="1050" b="0" dirty="0" err="1">
                <a:solidFill>
                  <a:srgbClr val="0F172A"/>
                </a:solidFill>
              </a:rPr>
              <a:t>l'attention</a:t>
            </a:r>
            <a:r>
              <a:rPr sz="1050" b="0" dirty="0">
                <a:solidFill>
                  <a:srgbClr val="0F172A"/>
                </a:solidFill>
              </a:rPr>
              <a:t> du </a:t>
            </a:r>
            <a:r>
              <a:rPr sz="1050" b="0" dirty="0" err="1">
                <a:solidFill>
                  <a:srgbClr val="0F172A"/>
                </a:solidFill>
              </a:rPr>
              <a:t>ViT</a:t>
            </a:r>
            <a:r>
              <a:rPr sz="1050" b="0" dirty="0">
                <a:solidFill>
                  <a:srgbClr val="0F172A"/>
                </a:solidFill>
              </a:rPr>
              <a:t>.</a:t>
            </a:r>
          </a:p>
          <a:p>
            <a:pPr>
              <a:lnSpc>
                <a:spcPct val="150000"/>
              </a:lnSpc>
              <a:spcAft>
                <a:spcPts val="600"/>
              </a:spcAft>
            </a:pPr>
            <a:r>
              <a:rPr sz="1100" b="1" dirty="0">
                <a:solidFill>
                  <a:srgbClr val="0F172A"/>
                </a:solidFill>
              </a:rPr>
              <a:t>• </a:t>
            </a:r>
            <a:r>
              <a:rPr sz="1100" b="1" dirty="0" err="1">
                <a:solidFill>
                  <a:srgbClr val="0F172A"/>
                </a:solidFill>
              </a:rPr>
              <a:t>Précision</a:t>
            </a:r>
            <a:r>
              <a:rPr sz="1100" b="1" dirty="0">
                <a:solidFill>
                  <a:srgbClr val="0F172A"/>
                </a:solidFill>
              </a:rPr>
              <a:t> Mixte </a:t>
            </a:r>
            <a:r>
              <a:rPr sz="1100" b="1" dirty="0" err="1">
                <a:solidFill>
                  <a:srgbClr val="0F172A"/>
                </a:solidFill>
              </a:rPr>
              <a:t>Automatique</a:t>
            </a:r>
            <a:r>
              <a:rPr sz="1100" b="1" dirty="0">
                <a:solidFill>
                  <a:srgbClr val="0F172A"/>
                </a:solidFill>
              </a:rPr>
              <a:t> (AMP fp16) :</a:t>
            </a:r>
            <a:r>
              <a:rPr sz="1050" b="0" dirty="0">
                <a:solidFill>
                  <a:srgbClr val="0F172A"/>
                </a:solidFill>
              </a:rPr>
              <a:t>
  </a:t>
            </a:r>
            <a:r>
              <a:rPr sz="1050" b="0" dirty="0" err="1">
                <a:solidFill>
                  <a:srgbClr val="0F172A"/>
                </a:solidFill>
              </a:rPr>
              <a:t>Accélération</a:t>
            </a:r>
            <a:r>
              <a:rPr sz="1050" b="0" dirty="0">
                <a:solidFill>
                  <a:srgbClr val="0F172A"/>
                </a:solidFill>
              </a:rPr>
              <a:t> de </a:t>
            </a:r>
            <a:r>
              <a:rPr sz="1050" b="0" dirty="0" err="1">
                <a:solidFill>
                  <a:srgbClr val="0F172A"/>
                </a:solidFill>
              </a:rPr>
              <a:t>l'entraînement</a:t>
            </a:r>
            <a:r>
              <a:rPr sz="1050" b="0" dirty="0">
                <a:solidFill>
                  <a:srgbClr val="0F172A"/>
                </a:solidFill>
              </a:rPr>
              <a:t> et </a:t>
            </a:r>
            <a:r>
              <a:rPr sz="1050" b="0" dirty="0" err="1">
                <a:solidFill>
                  <a:srgbClr val="0F172A"/>
                </a:solidFill>
              </a:rPr>
              <a:t>réduction</a:t>
            </a:r>
            <a:r>
              <a:rPr sz="1050" b="0" dirty="0">
                <a:solidFill>
                  <a:srgbClr val="0F172A"/>
                </a:solidFill>
              </a:rPr>
              <a:t> de 50% de </a:t>
            </a:r>
            <a:r>
              <a:rPr sz="1050" b="0" dirty="0" err="1">
                <a:solidFill>
                  <a:srgbClr val="0F172A"/>
                </a:solidFill>
              </a:rPr>
              <a:t>l'empreinte</a:t>
            </a:r>
            <a:r>
              <a:rPr sz="1050" b="0" dirty="0">
                <a:solidFill>
                  <a:srgbClr val="0F172A"/>
                </a:solidFill>
              </a:rPr>
              <a:t> </a:t>
            </a:r>
            <a:r>
              <a:rPr sz="1050" b="0" dirty="0" err="1">
                <a:solidFill>
                  <a:srgbClr val="0F172A"/>
                </a:solidFill>
              </a:rPr>
              <a:t>mémoire</a:t>
            </a:r>
            <a:r>
              <a:rPr sz="1050" b="0" dirty="0">
                <a:solidFill>
                  <a:srgbClr val="0F172A"/>
                </a:solidFill>
              </a:rPr>
              <a:t> VRAM.</a:t>
            </a:r>
          </a:p>
          <a:p>
            <a:pPr>
              <a:lnSpc>
                <a:spcPct val="150000"/>
              </a:lnSpc>
              <a:spcAft>
                <a:spcPts val="600"/>
              </a:spcAft>
            </a:pPr>
            <a:r>
              <a:rPr sz="1100" b="1" dirty="0">
                <a:solidFill>
                  <a:srgbClr val="0F172A"/>
                </a:solidFill>
              </a:rPr>
              <a:t>• </a:t>
            </a:r>
            <a:r>
              <a:rPr sz="1100" b="1" dirty="0" err="1">
                <a:solidFill>
                  <a:srgbClr val="0F172A"/>
                </a:solidFill>
              </a:rPr>
              <a:t>Mécanisme</a:t>
            </a:r>
            <a:r>
              <a:rPr sz="1100" b="1" dirty="0">
                <a:solidFill>
                  <a:srgbClr val="0F172A"/>
                </a:solidFill>
              </a:rPr>
              <a:t> </a:t>
            </a:r>
            <a:r>
              <a:rPr sz="1100" b="1" dirty="0" err="1">
                <a:solidFill>
                  <a:srgbClr val="0F172A"/>
                </a:solidFill>
              </a:rPr>
              <a:t>d'Early</a:t>
            </a:r>
            <a:r>
              <a:rPr sz="1100" b="1" dirty="0">
                <a:solidFill>
                  <a:srgbClr val="0F172A"/>
                </a:solidFill>
              </a:rPr>
              <a:t> Stopping :</a:t>
            </a:r>
            <a:r>
              <a:rPr sz="1050" b="0" dirty="0">
                <a:solidFill>
                  <a:srgbClr val="0F172A"/>
                </a:solidFill>
              </a:rPr>
              <a:t>
  </a:t>
            </a:r>
            <a:r>
              <a:rPr sz="1050" b="0" dirty="0" err="1">
                <a:solidFill>
                  <a:srgbClr val="0F172A"/>
                </a:solidFill>
              </a:rPr>
              <a:t>Arrêt</a:t>
            </a:r>
            <a:r>
              <a:rPr sz="1050" b="0" dirty="0">
                <a:solidFill>
                  <a:srgbClr val="0F172A"/>
                </a:solidFill>
              </a:rPr>
              <a:t> </a:t>
            </a:r>
            <a:r>
              <a:rPr sz="1050" b="0" dirty="0" err="1">
                <a:solidFill>
                  <a:srgbClr val="0F172A"/>
                </a:solidFill>
              </a:rPr>
              <a:t>automatique</a:t>
            </a:r>
            <a:r>
              <a:rPr sz="1050" b="0" dirty="0">
                <a:solidFill>
                  <a:srgbClr val="0F172A"/>
                </a:solidFill>
              </a:rPr>
              <a:t> sur stagnation de la validation loss pour </a:t>
            </a:r>
            <a:r>
              <a:rPr sz="1050" b="0" dirty="0" err="1">
                <a:solidFill>
                  <a:srgbClr val="0F172A"/>
                </a:solidFill>
              </a:rPr>
              <a:t>éviter</a:t>
            </a:r>
            <a:r>
              <a:rPr sz="1050" b="0" dirty="0">
                <a:solidFill>
                  <a:srgbClr val="0F172A"/>
                </a:solidFill>
              </a:rPr>
              <a:t> le </a:t>
            </a:r>
            <a:r>
              <a:rPr sz="1050" b="0" dirty="0" err="1">
                <a:solidFill>
                  <a:srgbClr val="0F172A"/>
                </a:solidFill>
              </a:rPr>
              <a:t>surapprentissage</a:t>
            </a:r>
            <a:r>
              <a:rPr sz="1050" b="0" dirty="0">
                <a:solidFill>
                  <a:srgbClr val="0F172A"/>
                </a:solidFill>
              </a:rPr>
              <a:t>.</a:t>
            </a:r>
          </a:p>
          <a:p>
            <a:pPr>
              <a:lnSpc>
                <a:spcPct val="150000"/>
              </a:lnSpc>
              <a:spcAft>
                <a:spcPts val="600"/>
              </a:spcAft>
            </a:pPr>
            <a:r>
              <a:rPr sz="1100" b="1" dirty="0">
                <a:solidFill>
                  <a:srgbClr val="0F172A"/>
                </a:solidFill>
              </a:rPr>
              <a:t>• Script </a:t>
            </a:r>
            <a:r>
              <a:rPr sz="1100" b="1" dirty="0" err="1">
                <a:solidFill>
                  <a:srgbClr val="0F172A"/>
                </a:solidFill>
              </a:rPr>
              <a:t>consolidé</a:t>
            </a:r>
            <a:r>
              <a:rPr sz="1100" b="1" dirty="0">
                <a:solidFill>
                  <a:srgbClr val="0F172A"/>
                </a:solidFill>
              </a:rPr>
              <a:t> </a:t>
            </a:r>
            <a:r>
              <a:rPr sz="1100" b="1" dirty="0" err="1">
                <a:solidFill>
                  <a:srgbClr val="0F172A"/>
                </a:solidFill>
              </a:rPr>
              <a:t>d'évaluation</a:t>
            </a:r>
            <a:r>
              <a:rPr sz="1100" b="1" dirty="0">
                <a:solidFill>
                  <a:srgbClr val="0F172A"/>
                </a:solidFill>
              </a:rPr>
              <a:t> :</a:t>
            </a:r>
            <a:r>
              <a:rPr sz="1050" b="0" dirty="0">
                <a:solidFill>
                  <a:srgbClr val="0F172A"/>
                </a:solidFill>
              </a:rPr>
              <a:t>
  </a:t>
            </a:r>
            <a:r>
              <a:rPr sz="1050" b="0" dirty="0" err="1">
                <a:solidFill>
                  <a:srgbClr val="0F172A"/>
                </a:solidFill>
              </a:rPr>
              <a:t>Réévaluation</a:t>
            </a:r>
            <a:r>
              <a:rPr sz="1050" b="0" dirty="0">
                <a:solidFill>
                  <a:srgbClr val="0F172A"/>
                </a:solidFill>
              </a:rPr>
              <a:t> </a:t>
            </a:r>
            <a:r>
              <a:rPr sz="1050" b="0" dirty="0" err="1">
                <a:solidFill>
                  <a:srgbClr val="0F172A"/>
                </a:solidFill>
              </a:rPr>
              <a:t>automatique</a:t>
            </a:r>
            <a:r>
              <a:rPr sz="1050" b="0" dirty="0">
                <a:solidFill>
                  <a:srgbClr val="0F172A"/>
                </a:solidFill>
              </a:rPr>
              <a:t> de </a:t>
            </a:r>
            <a:r>
              <a:rPr sz="1050" b="0" dirty="0" err="1">
                <a:solidFill>
                  <a:srgbClr val="0F172A"/>
                </a:solidFill>
              </a:rPr>
              <a:t>tous</a:t>
            </a:r>
            <a:r>
              <a:rPr sz="1050" b="0" dirty="0">
                <a:solidFill>
                  <a:srgbClr val="0F172A"/>
                </a:solidFill>
              </a:rPr>
              <a:t> les checkpoints sur le test set.</a:t>
            </a:r>
          </a:p>
        </p:txBody>
      </p:sp>
      <p:sp>
        <p:nvSpPr>
          <p:cNvPr id="10" name="Rounded Rectangle 9"/>
          <p:cNvSpPr/>
          <p:nvPr/>
        </p:nvSpPr>
        <p:spPr>
          <a:xfrm>
            <a:off x="6217920" y="1417320"/>
            <a:ext cx="512064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1" name="Rounded Rectangle 10"/>
          <p:cNvSpPr/>
          <p:nvPr/>
        </p:nvSpPr>
        <p:spPr>
          <a:xfrm>
            <a:off x="7262596" y="1645920"/>
            <a:ext cx="29260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lnSpc>
                <a:spcPct val="150000"/>
              </a:lnSpc>
              <a:defRPr sz="950" b="1">
                <a:solidFill>
                  <a:srgbClr val="FFFFFF"/>
                </a:solidFill>
                <a:latin typeface="Arial"/>
              </a:defRPr>
            </a:pPr>
            <a:r>
              <a:t>PERSPECTIVES DE RECHERCHE</a:t>
            </a:r>
          </a:p>
        </p:txBody>
      </p:sp>
      <p:sp>
        <p:nvSpPr>
          <p:cNvPr id="12" name="TextBox 11"/>
          <p:cNvSpPr txBox="1"/>
          <p:nvPr/>
        </p:nvSpPr>
        <p:spPr>
          <a:xfrm>
            <a:off x="6446520" y="2103120"/>
            <a:ext cx="4663440" cy="3318152"/>
          </a:xfrm>
          <a:prstGeom prst="rect">
            <a:avLst/>
          </a:prstGeom>
          <a:noFill/>
        </p:spPr>
        <p:txBody>
          <a:bodyPr wrap="square">
            <a:spAutoFit/>
          </a:bodyPr>
          <a:lstStyle/>
          <a:p>
            <a:pPr>
              <a:lnSpc>
                <a:spcPct val="150000"/>
              </a:lnSpc>
              <a:spcAft>
                <a:spcPts val="600"/>
              </a:spcAft>
            </a:pPr>
            <a:r>
              <a:rPr sz="1100" b="1" dirty="0">
                <a:solidFill>
                  <a:srgbClr val="0F172A"/>
                </a:solidFill>
              </a:rPr>
              <a:t>• </a:t>
            </a:r>
            <a:r>
              <a:rPr sz="1100" b="1" dirty="0" err="1">
                <a:solidFill>
                  <a:srgbClr val="0F172A"/>
                </a:solidFill>
              </a:rPr>
              <a:t>Entraînement</a:t>
            </a:r>
            <a:r>
              <a:rPr sz="1100" b="1" dirty="0">
                <a:solidFill>
                  <a:srgbClr val="0F172A"/>
                </a:solidFill>
              </a:rPr>
              <a:t> Long sur GPU (50 à 100 époques) :</a:t>
            </a:r>
            <a:r>
              <a:rPr sz="1050" b="0" dirty="0">
                <a:solidFill>
                  <a:srgbClr val="0F172A"/>
                </a:solidFill>
              </a:rPr>
              <a:t>
  Donner au </a:t>
            </a:r>
            <a:r>
              <a:rPr sz="1050" b="0" dirty="0" err="1">
                <a:solidFill>
                  <a:srgbClr val="0F172A"/>
                </a:solidFill>
              </a:rPr>
              <a:t>ViT</a:t>
            </a:r>
            <a:r>
              <a:rPr sz="1050" b="0" dirty="0">
                <a:solidFill>
                  <a:srgbClr val="0F172A"/>
                </a:solidFill>
              </a:rPr>
              <a:t> from scratch le budget </a:t>
            </a:r>
            <a:r>
              <a:rPr sz="1050" b="0" dirty="0" err="1">
                <a:solidFill>
                  <a:srgbClr val="0F172A"/>
                </a:solidFill>
              </a:rPr>
              <a:t>itératif</a:t>
            </a:r>
            <a:r>
              <a:rPr sz="1050" b="0" dirty="0">
                <a:solidFill>
                  <a:srgbClr val="0F172A"/>
                </a:solidFill>
              </a:rPr>
              <a:t> </a:t>
            </a:r>
            <a:r>
              <a:rPr sz="1050" b="0" dirty="0" err="1">
                <a:solidFill>
                  <a:srgbClr val="0F172A"/>
                </a:solidFill>
              </a:rPr>
              <a:t>nécessaire</a:t>
            </a:r>
            <a:r>
              <a:rPr sz="1050" b="0" dirty="0">
                <a:solidFill>
                  <a:srgbClr val="0F172A"/>
                </a:solidFill>
              </a:rPr>
              <a:t> pour structurer </a:t>
            </a:r>
            <a:r>
              <a:rPr sz="1050" b="0" dirty="0" err="1">
                <a:solidFill>
                  <a:srgbClr val="0F172A"/>
                </a:solidFill>
              </a:rPr>
              <a:t>ses</a:t>
            </a:r>
            <a:r>
              <a:rPr sz="1050" b="0" dirty="0">
                <a:solidFill>
                  <a:srgbClr val="0F172A"/>
                </a:solidFill>
              </a:rPr>
              <a:t> </a:t>
            </a:r>
            <a:r>
              <a:rPr sz="1050" b="0" dirty="0" err="1">
                <a:solidFill>
                  <a:srgbClr val="0F172A"/>
                </a:solidFill>
              </a:rPr>
              <a:t>têtes</a:t>
            </a:r>
            <a:r>
              <a:rPr sz="1050" b="0" dirty="0">
                <a:solidFill>
                  <a:srgbClr val="0F172A"/>
                </a:solidFill>
              </a:rPr>
              <a:t> </a:t>
            </a:r>
            <a:r>
              <a:rPr sz="1050" b="0" dirty="0" err="1">
                <a:solidFill>
                  <a:srgbClr val="0F172A"/>
                </a:solidFill>
              </a:rPr>
              <a:t>d'attention</a:t>
            </a:r>
            <a:r>
              <a:rPr sz="1050" b="0" dirty="0">
                <a:solidFill>
                  <a:srgbClr val="0F172A"/>
                </a:solidFill>
              </a:rPr>
              <a:t>.</a:t>
            </a:r>
          </a:p>
          <a:p>
            <a:pPr>
              <a:lnSpc>
                <a:spcPct val="150000"/>
              </a:lnSpc>
              <a:spcAft>
                <a:spcPts val="600"/>
              </a:spcAft>
            </a:pPr>
            <a:r>
              <a:rPr sz="1100" b="1" dirty="0">
                <a:solidFill>
                  <a:srgbClr val="0F172A"/>
                </a:solidFill>
              </a:rPr>
              <a:t>• Distillation de </a:t>
            </a:r>
            <a:r>
              <a:rPr sz="1100" b="1" dirty="0" err="1">
                <a:solidFill>
                  <a:srgbClr val="0F172A"/>
                </a:solidFill>
              </a:rPr>
              <a:t>Connaissances</a:t>
            </a:r>
            <a:r>
              <a:rPr sz="1100" b="1" dirty="0">
                <a:solidFill>
                  <a:srgbClr val="0F172A"/>
                </a:solidFill>
              </a:rPr>
              <a:t> (</a:t>
            </a:r>
            <a:r>
              <a:rPr sz="1100" b="1" dirty="0" err="1">
                <a:solidFill>
                  <a:srgbClr val="0F172A"/>
                </a:solidFill>
              </a:rPr>
              <a:t>DeiT</a:t>
            </a:r>
            <a:r>
              <a:rPr sz="1100" b="1" dirty="0">
                <a:solidFill>
                  <a:srgbClr val="0F172A"/>
                </a:solidFill>
              </a:rPr>
              <a:t>) :</a:t>
            </a:r>
            <a:r>
              <a:rPr sz="1050" b="0" dirty="0">
                <a:solidFill>
                  <a:srgbClr val="0F172A"/>
                </a:solidFill>
              </a:rPr>
              <a:t>
  </a:t>
            </a:r>
            <a:r>
              <a:rPr sz="1050" b="0" dirty="0" err="1">
                <a:solidFill>
                  <a:srgbClr val="0F172A"/>
                </a:solidFill>
              </a:rPr>
              <a:t>Utiliser</a:t>
            </a:r>
            <a:r>
              <a:rPr sz="1050" b="0" dirty="0">
                <a:solidFill>
                  <a:srgbClr val="0F172A"/>
                </a:solidFill>
              </a:rPr>
              <a:t> ResNet-50 </a:t>
            </a:r>
            <a:r>
              <a:rPr sz="1050" b="0" dirty="0" err="1">
                <a:solidFill>
                  <a:srgbClr val="0F172A"/>
                </a:solidFill>
              </a:rPr>
              <a:t>comme</a:t>
            </a:r>
            <a:r>
              <a:rPr sz="1050" b="0" dirty="0">
                <a:solidFill>
                  <a:srgbClr val="0F172A"/>
                </a:solidFill>
              </a:rPr>
              <a:t> réseau </a:t>
            </a:r>
            <a:r>
              <a:rPr sz="1050" b="0" dirty="0" err="1">
                <a:solidFill>
                  <a:srgbClr val="0F172A"/>
                </a:solidFill>
              </a:rPr>
              <a:t>professeur</a:t>
            </a:r>
            <a:r>
              <a:rPr sz="1050" b="0" dirty="0">
                <a:solidFill>
                  <a:srgbClr val="0F172A"/>
                </a:solidFill>
              </a:rPr>
              <a:t> (Teacher) pour guider le Transformer (Student).</a:t>
            </a:r>
          </a:p>
          <a:p>
            <a:pPr>
              <a:lnSpc>
                <a:spcPct val="150000"/>
              </a:lnSpc>
              <a:spcAft>
                <a:spcPts val="600"/>
              </a:spcAft>
            </a:pPr>
            <a:r>
              <a:rPr sz="1100" b="1" dirty="0">
                <a:solidFill>
                  <a:srgbClr val="0F172A"/>
                </a:solidFill>
              </a:rPr>
              <a:t>• Part-Based Attention Guidance :</a:t>
            </a:r>
            <a:r>
              <a:rPr sz="1050" b="0" dirty="0">
                <a:solidFill>
                  <a:srgbClr val="0F172A"/>
                </a:solidFill>
              </a:rPr>
              <a:t>
  Forcer les </a:t>
            </a:r>
            <a:r>
              <a:rPr sz="1050" b="0" dirty="0" err="1">
                <a:solidFill>
                  <a:srgbClr val="0F172A"/>
                </a:solidFill>
              </a:rPr>
              <a:t>têtes</a:t>
            </a:r>
            <a:r>
              <a:rPr sz="1050" b="0" dirty="0">
                <a:solidFill>
                  <a:srgbClr val="0F172A"/>
                </a:solidFill>
              </a:rPr>
              <a:t> </a:t>
            </a:r>
            <a:r>
              <a:rPr sz="1050" b="0" dirty="0" err="1">
                <a:solidFill>
                  <a:srgbClr val="0F172A"/>
                </a:solidFill>
              </a:rPr>
              <a:t>d'attention</a:t>
            </a:r>
            <a:r>
              <a:rPr sz="1050" b="0" dirty="0">
                <a:solidFill>
                  <a:srgbClr val="0F172A"/>
                </a:solidFill>
              </a:rPr>
              <a:t> sur les parties </a:t>
            </a:r>
            <a:r>
              <a:rPr sz="1050" b="0" dirty="0" err="1">
                <a:solidFill>
                  <a:srgbClr val="0F172A"/>
                </a:solidFill>
              </a:rPr>
              <a:t>anatomiques</a:t>
            </a:r>
            <a:r>
              <a:rPr sz="1050" b="0" dirty="0">
                <a:solidFill>
                  <a:srgbClr val="0F172A"/>
                </a:solidFill>
              </a:rPr>
              <a:t> de </a:t>
            </a:r>
            <a:r>
              <a:rPr sz="1050" b="0" dirty="0" err="1">
                <a:solidFill>
                  <a:srgbClr val="0F172A"/>
                </a:solidFill>
              </a:rPr>
              <a:t>l'oiseau</a:t>
            </a:r>
            <a:r>
              <a:rPr sz="1050" b="0" dirty="0">
                <a:solidFill>
                  <a:srgbClr val="0F172A"/>
                </a:solidFill>
              </a:rPr>
              <a:t> (</a:t>
            </a:r>
            <a:r>
              <a:rPr sz="1050" b="0" dirty="0" err="1">
                <a:solidFill>
                  <a:srgbClr val="0F172A"/>
                </a:solidFill>
              </a:rPr>
              <a:t>bec</a:t>
            </a:r>
            <a:r>
              <a:rPr sz="1050" b="0" dirty="0">
                <a:solidFill>
                  <a:srgbClr val="0F172A"/>
                </a:solidFill>
              </a:rPr>
              <a:t>, </a:t>
            </a:r>
            <a:r>
              <a:rPr sz="1050" b="0" dirty="0" err="1">
                <a:solidFill>
                  <a:srgbClr val="0F172A"/>
                </a:solidFill>
              </a:rPr>
              <a:t>ailes</a:t>
            </a:r>
            <a:r>
              <a:rPr sz="1050" b="0" dirty="0">
                <a:solidFill>
                  <a:srgbClr val="0F172A"/>
                </a:solidFill>
              </a:rPr>
              <a:t>, </a:t>
            </a:r>
            <a:r>
              <a:rPr sz="1050" b="0" dirty="0" err="1">
                <a:solidFill>
                  <a:srgbClr val="0F172A"/>
                </a:solidFill>
              </a:rPr>
              <a:t>yeux</a:t>
            </a:r>
            <a:r>
              <a:rPr sz="1050" b="0" dirty="0">
                <a:solidFill>
                  <a:srgbClr val="0F172A"/>
                </a:solidFill>
              </a:rPr>
              <a:t>).</a:t>
            </a:r>
          </a:p>
          <a:p>
            <a:pPr>
              <a:lnSpc>
                <a:spcPct val="150000"/>
              </a:lnSpc>
              <a:spcAft>
                <a:spcPts val="600"/>
              </a:spcAft>
            </a:pPr>
            <a:r>
              <a:rPr sz="1100" b="1" dirty="0">
                <a:solidFill>
                  <a:srgbClr val="0F172A"/>
                </a:solidFill>
              </a:rPr>
              <a:t>• </a:t>
            </a:r>
            <a:r>
              <a:rPr sz="1100" b="1" dirty="0" err="1">
                <a:solidFill>
                  <a:srgbClr val="0F172A"/>
                </a:solidFill>
              </a:rPr>
              <a:t>Intégration</a:t>
            </a:r>
            <a:r>
              <a:rPr sz="1100" b="1" dirty="0">
                <a:solidFill>
                  <a:srgbClr val="0F172A"/>
                </a:solidFill>
              </a:rPr>
              <a:t> de Swin Transformer :</a:t>
            </a:r>
            <a:r>
              <a:rPr sz="1050" b="0" dirty="0">
                <a:solidFill>
                  <a:srgbClr val="0F172A"/>
                </a:solidFill>
              </a:rPr>
              <a:t>
  Tester les </a:t>
            </a:r>
            <a:r>
              <a:rPr sz="1050" b="0" dirty="0" err="1">
                <a:solidFill>
                  <a:srgbClr val="0F172A"/>
                </a:solidFill>
              </a:rPr>
              <a:t>fenêtres</a:t>
            </a:r>
            <a:r>
              <a:rPr sz="1050" b="0" dirty="0">
                <a:solidFill>
                  <a:srgbClr val="0F172A"/>
                </a:solidFill>
              </a:rPr>
              <a:t> </a:t>
            </a:r>
            <a:r>
              <a:rPr sz="1050" b="0" dirty="0" err="1">
                <a:solidFill>
                  <a:srgbClr val="0F172A"/>
                </a:solidFill>
              </a:rPr>
              <a:t>d'attention</a:t>
            </a:r>
            <a:r>
              <a:rPr sz="1050" b="0" dirty="0">
                <a:solidFill>
                  <a:srgbClr val="0F172A"/>
                </a:solidFill>
              </a:rPr>
              <a:t> </a:t>
            </a:r>
            <a:r>
              <a:rPr sz="1050" b="0" dirty="0" err="1">
                <a:solidFill>
                  <a:srgbClr val="0F172A"/>
                </a:solidFill>
              </a:rPr>
              <a:t>glissantes</a:t>
            </a:r>
            <a:r>
              <a:rPr sz="1050" b="0" dirty="0">
                <a:solidFill>
                  <a:srgbClr val="0F172A"/>
                </a:solidFill>
              </a:rPr>
              <a:t> pour </a:t>
            </a:r>
            <a:r>
              <a:rPr sz="1050" b="0" dirty="0" err="1">
                <a:solidFill>
                  <a:srgbClr val="0F172A"/>
                </a:solidFill>
              </a:rPr>
              <a:t>réintroduire</a:t>
            </a:r>
            <a:r>
              <a:rPr sz="1050" b="0" dirty="0">
                <a:solidFill>
                  <a:srgbClr val="0F172A"/>
                </a:solidFill>
              </a:rPr>
              <a:t> un </a:t>
            </a:r>
            <a:r>
              <a:rPr sz="1050" b="0" dirty="0" err="1">
                <a:solidFill>
                  <a:srgbClr val="0F172A"/>
                </a:solidFill>
              </a:rPr>
              <a:t>biais</a:t>
            </a:r>
            <a:r>
              <a:rPr sz="1050" b="0" dirty="0">
                <a:solidFill>
                  <a:srgbClr val="0F172A"/>
                </a:solidFill>
              </a:rPr>
              <a:t> de </a:t>
            </a:r>
            <a:r>
              <a:rPr sz="1050" b="0" dirty="0" err="1">
                <a:solidFill>
                  <a:srgbClr val="0F172A"/>
                </a:solidFill>
              </a:rPr>
              <a:t>localité</a:t>
            </a:r>
            <a:r>
              <a:rPr sz="1050" b="0" dirty="0">
                <a:solidFill>
                  <a:srgbClr val="0F172A"/>
                </a:solidFill>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dirty="0"/>
          </a:p>
        </p:txBody>
      </p:sp>
      <p:sp>
        <p:nvSpPr>
          <p:cNvPr id="4" name="Rectangle 3"/>
          <p:cNvSpPr/>
          <p:nvPr/>
        </p:nvSpPr>
        <p:spPr>
          <a:xfrm>
            <a:off x="7589520" y="0"/>
            <a:ext cx="460217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5" name="Rectangle 4"/>
          <p:cNvSpPr/>
          <p:nvPr/>
        </p:nvSpPr>
        <p:spPr>
          <a:xfrm>
            <a:off x="7543800" y="0"/>
            <a:ext cx="18288" cy="68580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7" name="TextBox 6"/>
          <p:cNvSpPr txBox="1"/>
          <p:nvPr/>
        </p:nvSpPr>
        <p:spPr>
          <a:xfrm>
            <a:off x="822960" y="1188720"/>
            <a:ext cx="4957255" cy="1218410"/>
          </a:xfrm>
          <a:prstGeom prst="rect">
            <a:avLst/>
          </a:prstGeom>
          <a:noFill/>
        </p:spPr>
        <p:txBody>
          <a:bodyPr wrap="none">
            <a:spAutoFit/>
          </a:bodyPr>
          <a:lstStyle/>
          <a:p>
            <a:pPr>
              <a:lnSpc>
                <a:spcPct val="150000"/>
              </a:lnSpc>
              <a:defRPr sz="3200" b="1">
                <a:solidFill>
                  <a:srgbClr val="0F172A"/>
                </a:solidFill>
              </a:defRPr>
            </a:pPr>
            <a:r>
              <a:t>Merci pour votre attention !</a:t>
            </a:r>
          </a:p>
          <a:p>
            <a:pPr>
              <a:lnSpc>
                <a:spcPct val="150000"/>
              </a:lnSpc>
              <a:spcBef>
                <a:spcPts val="600"/>
              </a:spcBef>
              <a:defRPr sz="1500" b="1">
                <a:solidFill>
                  <a:srgbClr val="2563EB"/>
                </a:solidFill>
              </a:defRPr>
            </a:pPr>
            <a:r>
              <a:t>Place aux questions &amp; à la démonstration en direct</a:t>
            </a:r>
          </a:p>
        </p:txBody>
      </p:sp>
      <p:sp>
        <p:nvSpPr>
          <p:cNvPr id="8" name="Rounded Rectangle 7"/>
          <p:cNvSpPr/>
          <p:nvPr/>
        </p:nvSpPr>
        <p:spPr>
          <a:xfrm>
            <a:off x="822960" y="3017520"/>
            <a:ext cx="640080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9" name="Diamond 8"/>
          <p:cNvSpPr/>
          <p:nvPr/>
        </p:nvSpPr>
        <p:spPr>
          <a:xfrm>
            <a:off x="1005840" y="3182112"/>
            <a:ext cx="658368" cy="658368"/>
          </a:xfrm>
          <a:prstGeom prst="diamond">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lnSpc>
                <a:spcPct val="150000"/>
              </a:lnSpc>
              <a:defRPr sz="1200" b="1">
                <a:solidFill>
                  <a:srgbClr val="FFFFFF"/>
                </a:solidFill>
                <a:latin typeface="Arial"/>
              </a:defRPr>
            </a:pPr>
            <a:r>
              <a:t>01</a:t>
            </a:r>
          </a:p>
        </p:txBody>
      </p:sp>
      <p:sp>
        <p:nvSpPr>
          <p:cNvPr id="10" name="TextBox 9"/>
          <p:cNvSpPr txBox="1"/>
          <p:nvPr/>
        </p:nvSpPr>
        <p:spPr>
          <a:xfrm>
            <a:off x="1874519" y="3154680"/>
            <a:ext cx="5120640" cy="576312"/>
          </a:xfrm>
          <a:prstGeom prst="rect">
            <a:avLst/>
          </a:prstGeom>
          <a:noFill/>
        </p:spPr>
        <p:txBody>
          <a:bodyPr wrap="square">
            <a:spAutoFit/>
          </a:bodyPr>
          <a:lstStyle/>
          <a:p>
            <a:pPr>
              <a:lnSpc>
                <a:spcPct val="150000"/>
              </a:lnSpc>
              <a:defRPr sz="1200" b="1">
                <a:solidFill>
                  <a:srgbClr val="0F172A"/>
                </a:solidFill>
              </a:defRPr>
            </a:pPr>
            <a:r>
              <a:t>ResNet-50 domine sur petit jeu de données</a:t>
            </a:r>
          </a:p>
          <a:p>
            <a:pPr>
              <a:lnSpc>
                <a:spcPct val="150000"/>
              </a:lnSpc>
              <a:defRPr sz="1000">
                <a:solidFill>
                  <a:srgbClr val="64748B"/>
                </a:solidFill>
              </a:defRPr>
            </a:pPr>
            <a:r>
              <a:t>Le biais inductif convolutif est capital sur 5 094 images (71.87% Top-1).</a:t>
            </a:r>
          </a:p>
        </p:txBody>
      </p:sp>
      <p:sp>
        <p:nvSpPr>
          <p:cNvPr id="11" name="Rounded Rectangle 10"/>
          <p:cNvSpPr/>
          <p:nvPr/>
        </p:nvSpPr>
        <p:spPr>
          <a:xfrm>
            <a:off x="822960" y="4160520"/>
            <a:ext cx="640080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2" name="Diamond 11"/>
          <p:cNvSpPr/>
          <p:nvPr/>
        </p:nvSpPr>
        <p:spPr>
          <a:xfrm>
            <a:off x="1005840" y="4325112"/>
            <a:ext cx="658368" cy="658368"/>
          </a:xfrm>
          <a:prstGeom prst="diamond">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lnSpc>
                <a:spcPct val="150000"/>
              </a:lnSpc>
              <a:defRPr sz="1200" b="1">
                <a:solidFill>
                  <a:srgbClr val="FFFFFF"/>
                </a:solidFill>
                <a:latin typeface="Arial"/>
              </a:defRPr>
            </a:pPr>
            <a:r>
              <a:t>02</a:t>
            </a:r>
          </a:p>
        </p:txBody>
      </p:sp>
      <p:sp>
        <p:nvSpPr>
          <p:cNvPr id="13" name="TextBox 12"/>
          <p:cNvSpPr txBox="1"/>
          <p:nvPr/>
        </p:nvSpPr>
        <p:spPr>
          <a:xfrm>
            <a:off x="1874519" y="4297680"/>
            <a:ext cx="5120640" cy="576312"/>
          </a:xfrm>
          <a:prstGeom prst="rect">
            <a:avLst/>
          </a:prstGeom>
          <a:noFill/>
        </p:spPr>
        <p:txBody>
          <a:bodyPr wrap="square">
            <a:spAutoFit/>
          </a:bodyPr>
          <a:lstStyle/>
          <a:p>
            <a:pPr>
              <a:lnSpc>
                <a:spcPct val="150000"/>
              </a:lnSpc>
              <a:defRPr sz="1200" b="1">
                <a:solidFill>
                  <a:srgbClr val="0F172A"/>
                </a:solidFill>
              </a:defRPr>
            </a:pPr>
            <a:r>
              <a:t>Le ViT exige un pré-entraînement</a:t>
            </a:r>
          </a:p>
          <a:p>
            <a:pPr>
              <a:lnSpc>
                <a:spcPct val="150000"/>
              </a:lnSpc>
              <a:defRPr sz="1000">
                <a:solidFill>
                  <a:srgbClr val="64748B"/>
                </a:solidFill>
              </a:defRPr>
            </a:pPr>
            <a:r>
              <a:t>Sans ImageNet, le ViT ne converge pas (+52.78 pts grâce au pré-entraînement).</a:t>
            </a:r>
          </a:p>
        </p:txBody>
      </p:sp>
      <p:sp>
        <p:nvSpPr>
          <p:cNvPr id="14" name="Rounded Rectangle 13"/>
          <p:cNvSpPr/>
          <p:nvPr/>
        </p:nvSpPr>
        <p:spPr>
          <a:xfrm>
            <a:off x="822960" y="5303520"/>
            <a:ext cx="640080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5" name="Diamond 14"/>
          <p:cNvSpPr/>
          <p:nvPr/>
        </p:nvSpPr>
        <p:spPr>
          <a:xfrm>
            <a:off x="1005840" y="5468112"/>
            <a:ext cx="658368" cy="658368"/>
          </a:xfrm>
          <a:prstGeom prst="diamond">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lnSpc>
                <a:spcPct val="150000"/>
              </a:lnSpc>
              <a:defRPr sz="1200" b="1">
                <a:solidFill>
                  <a:srgbClr val="FFFFFF"/>
                </a:solidFill>
                <a:latin typeface="Arial"/>
              </a:defRPr>
            </a:pPr>
            <a:r>
              <a:t>03</a:t>
            </a:r>
          </a:p>
        </p:txBody>
      </p:sp>
      <p:sp>
        <p:nvSpPr>
          <p:cNvPr id="16" name="TextBox 15"/>
          <p:cNvSpPr txBox="1"/>
          <p:nvPr/>
        </p:nvSpPr>
        <p:spPr>
          <a:xfrm>
            <a:off x="1874519" y="5440680"/>
            <a:ext cx="5120640" cy="576312"/>
          </a:xfrm>
          <a:prstGeom prst="rect">
            <a:avLst/>
          </a:prstGeom>
          <a:noFill/>
        </p:spPr>
        <p:txBody>
          <a:bodyPr wrap="square">
            <a:spAutoFit/>
          </a:bodyPr>
          <a:lstStyle/>
          <a:p>
            <a:pPr>
              <a:lnSpc>
                <a:spcPct val="150000"/>
              </a:lnSpc>
              <a:defRPr sz="1200" b="1">
                <a:solidFill>
                  <a:srgbClr val="0F172A"/>
                </a:solidFill>
              </a:defRPr>
            </a:pPr>
            <a:r>
              <a:t>Livrables complets &amp; opérationnels</a:t>
            </a:r>
          </a:p>
          <a:p>
            <a:pPr>
              <a:lnSpc>
                <a:spcPct val="150000"/>
              </a:lnSpc>
              <a:defRPr sz="1000">
                <a:solidFill>
                  <a:srgbClr val="64748B"/>
                </a:solidFill>
              </a:defRPr>
            </a:pPr>
            <a:r>
              <a:t>Code modulaire, MLflow, API FastAPI, Next.js et conteneurs Docker prêts.</a:t>
            </a:r>
          </a:p>
        </p:txBody>
      </p:sp>
      <p:sp>
        <p:nvSpPr>
          <p:cNvPr id="18" name="Rounded Rectangle 17"/>
          <p:cNvSpPr/>
          <p:nvPr/>
        </p:nvSpPr>
        <p:spPr>
          <a:xfrm>
            <a:off x="7863840" y="128016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19" name="TextBox 18"/>
          <p:cNvSpPr txBox="1"/>
          <p:nvPr/>
        </p:nvSpPr>
        <p:spPr>
          <a:xfrm>
            <a:off x="8092440" y="1389888"/>
            <a:ext cx="3657600" cy="1053237"/>
          </a:xfrm>
          <a:prstGeom prst="rect">
            <a:avLst/>
          </a:prstGeom>
          <a:noFill/>
        </p:spPr>
        <p:txBody>
          <a:bodyPr wrap="square">
            <a:spAutoFit/>
          </a:bodyPr>
          <a:lstStyle/>
          <a:p>
            <a:pPr>
              <a:lnSpc>
                <a:spcPct val="150000"/>
              </a:lnSpc>
              <a:defRPr sz="1200" b="1">
                <a:solidFill>
                  <a:srgbClr val="0F172A"/>
                </a:solidFill>
              </a:defRPr>
            </a:pPr>
            <a:r>
              <a:t>Frontend Web (Next.js 14)</a:t>
            </a:r>
          </a:p>
          <a:p>
            <a:pPr>
              <a:lnSpc>
                <a:spcPct val="150000"/>
              </a:lnSpc>
              <a:spcAft>
                <a:spcPts val="200"/>
              </a:spcAft>
              <a:defRPr sz="1050" b="1">
                <a:solidFill>
                  <a:srgbClr val="2563EB"/>
                </a:solidFill>
              </a:defRPr>
            </a:pPr>
            <a:r>
              <a:t>http://localhost:3000</a:t>
            </a:r>
          </a:p>
          <a:p>
            <a:pPr>
              <a:lnSpc>
                <a:spcPct val="150000"/>
              </a:lnSpc>
              <a:defRPr sz="950">
                <a:solidFill>
                  <a:srgbClr val="64748B"/>
                </a:solidFill>
              </a:defRPr>
            </a:pPr>
            <a:r>
              <a:t>Interface réactive avec drag &amp; drop d'oiseaux, prédictions Top-3 et Heatmap.</a:t>
            </a:r>
          </a:p>
        </p:txBody>
      </p:sp>
      <p:sp>
        <p:nvSpPr>
          <p:cNvPr id="20" name="Rounded Rectangle 19"/>
          <p:cNvSpPr/>
          <p:nvPr/>
        </p:nvSpPr>
        <p:spPr>
          <a:xfrm>
            <a:off x="7863840" y="292608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21" name="TextBox 20"/>
          <p:cNvSpPr txBox="1"/>
          <p:nvPr/>
        </p:nvSpPr>
        <p:spPr>
          <a:xfrm>
            <a:off x="8092440" y="3035808"/>
            <a:ext cx="3657600" cy="1053237"/>
          </a:xfrm>
          <a:prstGeom prst="rect">
            <a:avLst/>
          </a:prstGeom>
          <a:noFill/>
        </p:spPr>
        <p:txBody>
          <a:bodyPr wrap="square">
            <a:spAutoFit/>
          </a:bodyPr>
          <a:lstStyle/>
          <a:p>
            <a:pPr>
              <a:lnSpc>
                <a:spcPct val="150000"/>
              </a:lnSpc>
              <a:defRPr sz="1200" b="1">
                <a:solidFill>
                  <a:srgbClr val="0F172A"/>
                </a:solidFill>
              </a:defRPr>
            </a:pPr>
            <a:r>
              <a:t>Backend API (FastAPI Docs)</a:t>
            </a:r>
          </a:p>
          <a:p>
            <a:pPr>
              <a:lnSpc>
                <a:spcPct val="150000"/>
              </a:lnSpc>
              <a:spcAft>
                <a:spcPts val="200"/>
              </a:spcAft>
              <a:defRPr sz="1050" b="1">
                <a:solidFill>
                  <a:srgbClr val="2563EB"/>
                </a:solidFill>
              </a:defRPr>
            </a:pPr>
            <a:r>
              <a:t>http://localhost:8000/docs</a:t>
            </a:r>
          </a:p>
          <a:p>
            <a:pPr>
              <a:lnSpc>
                <a:spcPct val="150000"/>
              </a:lnSpc>
              <a:defRPr sz="950">
                <a:solidFill>
                  <a:srgbClr val="64748B"/>
                </a:solidFill>
              </a:defRPr>
            </a:pPr>
            <a:r>
              <a:t>Documentation Swagger interactive des endpoints /predict et /attention.</a:t>
            </a:r>
          </a:p>
        </p:txBody>
      </p:sp>
      <p:sp>
        <p:nvSpPr>
          <p:cNvPr id="22" name="Rounded Rectangle 21"/>
          <p:cNvSpPr/>
          <p:nvPr/>
        </p:nvSpPr>
        <p:spPr>
          <a:xfrm>
            <a:off x="7863840" y="4572000"/>
            <a:ext cx="402336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p>
        </p:txBody>
      </p:sp>
      <p:sp>
        <p:nvSpPr>
          <p:cNvPr id="23" name="TextBox 22"/>
          <p:cNvSpPr txBox="1"/>
          <p:nvPr/>
        </p:nvSpPr>
        <p:spPr>
          <a:xfrm>
            <a:off x="8092440" y="4681728"/>
            <a:ext cx="3657600" cy="833946"/>
          </a:xfrm>
          <a:prstGeom prst="rect">
            <a:avLst/>
          </a:prstGeom>
          <a:noFill/>
        </p:spPr>
        <p:txBody>
          <a:bodyPr wrap="square">
            <a:spAutoFit/>
          </a:bodyPr>
          <a:lstStyle/>
          <a:p>
            <a:pPr>
              <a:lnSpc>
                <a:spcPct val="150000"/>
              </a:lnSpc>
              <a:defRPr sz="1200" b="1">
                <a:solidFill>
                  <a:srgbClr val="0F172A"/>
                </a:solidFill>
              </a:defRPr>
            </a:pPr>
            <a:r>
              <a:t>Suivi MLflow UI</a:t>
            </a:r>
          </a:p>
          <a:p>
            <a:pPr>
              <a:lnSpc>
                <a:spcPct val="150000"/>
              </a:lnSpc>
              <a:spcAft>
                <a:spcPts val="200"/>
              </a:spcAft>
              <a:defRPr sz="1050" b="1">
                <a:solidFill>
                  <a:srgbClr val="2563EB"/>
                </a:solidFill>
              </a:defRPr>
            </a:pPr>
            <a:r>
              <a:t>http://localhost:5000</a:t>
            </a:r>
          </a:p>
          <a:p>
            <a:pPr>
              <a:lnSpc>
                <a:spcPct val="150000"/>
              </a:lnSpc>
              <a:defRPr sz="950">
                <a:solidFill>
                  <a:srgbClr val="64748B"/>
                </a:solidFill>
              </a:defRPr>
            </a:pPr>
            <a:r>
              <a:t>Visualisation des métriques des 12 runs et des modèles packagés.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4980</Words>
  <Application>Microsoft Office PowerPoint</Application>
  <PresentationFormat>Grand écran</PresentationFormat>
  <Paragraphs>410</Paragraphs>
  <Slides>22</Slides>
  <Notes>22</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22</vt:i4>
      </vt:variant>
    </vt:vector>
  </HeadingPairs>
  <TitlesOfParts>
    <vt:vector size="25"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ABDOUL-RAOUF SONHOUIN</cp:lastModifiedBy>
  <cp:revision>2</cp:revision>
  <dcterms:created xsi:type="dcterms:W3CDTF">2013-01-27T09:14:16Z</dcterms:created>
  <dcterms:modified xsi:type="dcterms:W3CDTF">2026-08-26T12:19:09Z</dcterms:modified>
  <cp:category/>
</cp:coreProperties>
</file>